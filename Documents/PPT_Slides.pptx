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7" r:id="rId3"/>
    <p:sldId id="258" r:id="rId4"/>
    <p:sldId id="259" r:id="rId5"/>
    <p:sldId id="260" r:id="rId6"/>
    <p:sldId id="274" r:id="rId7"/>
    <p:sldId id="261" r:id="rId8"/>
    <p:sldId id="286" r:id="rId9"/>
    <p:sldId id="284" r:id="rId11"/>
    <p:sldId id="287" r:id="rId12"/>
    <p:sldId id="262" r:id="rId13"/>
    <p:sldId id="275" r:id="rId14"/>
    <p:sldId id="263" r:id="rId15"/>
    <p:sldId id="264" r:id="rId16"/>
    <p:sldId id="265" r:id="rId17"/>
    <p:sldId id="276" r:id="rId18"/>
    <p:sldId id="266" r:id="rId19"/>
    <p:sldId id="267" r:id="rId20"/>
    <p:sldId id="277" r:id="rId21"/>
    <p:sldId id="278" r:id="rId22"/>
    <p:sldId id="279" r:id="rId23"/>
    <p:sldId id="280" r:id="rId24"/>
    <p:sldId id="268" r:id="rId25"/>
    <p:sldId id="269" r:id="rId26"/>
    <p:sldId id="281" r:id="rId27"/>
    <p:sldId id="285" r:id="rId28"/>
    <p:sldId id="270" r:id="rId29"/>
    <p:sldId id="271" r:id="rId30"/>
    <p:sldId id="282" r:id="rId31"/>
    <p:sldId id="272" r:id="rId32"/>
    <p:sldId id="273" r:id="rId33"/>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660"/>
  </p:normalViewPr>
  <p:slideViewPr>
    <p:cSldViewPr showGuides="1">
      <p:cViewPr varScale="1">
        <p:scale>
          <a:sx n="74" d="100"/>
          <a:sy n="74" d="100"/>
        </p:scale>
        <p:origin x="878"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9392356" cy="25806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12277295" y="0"/>
            <a:ext cx="9392356" cy="25806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9294283" y="642938"/>
            <a:ext cx="3086100" cy="1735931"/>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2167467" y="2475309"/>
            <a:ext cx="17339733" cy="2025253"/>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4885432"/>
            <a:ext cx="9392356" cy="25806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12277295" y="4885432"/>
            <a:ext cx="9392356" cy="258068"/>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90E2F6F-C300-48B8-AB12-E45B87785B46}" type="slidenum">
              <a:rPr lang="en-IN" smtClean="0"/>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1" i="0">
                <a:solidFill>
                  <a:schemeClr val="tx1"/>
                </a:solidFill>
                <a:latin typeface="Times New Roman" panose="02020603050405020304"/>
                <a:cs typeface="Times New Roman" panose="02020603050405020304"/>
              </a:defRPr>
            </a:lvl1pPr>
          </a:lstStyle>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750" b="0" i="0">
                <a:solidFill>
                  <a:schemeClr val="tx1"/>
                </a:solidFill>
                <a:latin typeface="Times New Roman" panose="02020603050405020304"/>
                <a:cs typeface="Times New Roman" panose="02020603050405020304"/>
              </a:defRPr>
            </a:lvl1pPr>
          </a:lstStyle>
          <a:p/>
        </p:txBody>
      </p:sp>
      <p:sp>
        <p:nvSpPr>
          <p:cNvPr id="4" name="Holder 4"/>
          <p:cNvSpPr>
            <a:spLocks noGrp="1"/>
          </p:cNvSpPr>
          <p:nvPr>
            <p:ph type="ftr" sz="quarter" idx="5"/>
          </p:nvPr>
        </p:nvSpPr>
        <p:spPr/>
        <p:txBody>
          <a:bodyPr lIns="0" tIns="0" rIns="0" bIns="0"/>
          <a:lstStyle>
            <a:lvl1pPr>
              <a:defRPr sz="1200" b="0" i="0">
                <a:solidFill>
                  <a:srgbClr val="888888"/>
                </a:solidFill>
                <a:latin typeface="Times New Roman" panose="02020603050405020304"/>
                <a:cs typeface="Times New Roman" panose="02020603050405020304"/>
              </a:defRPr>
            </a:lvl1pPr>
          </a:lstStyle>
          <a:p>
            <a:pPr marL="12700">
              <a:lnSpc>
                <a:spcPts val="1410"/>
              </a:lnSpc>
            </a:pPr>
            <a:r>
              <a:rPr dirty="0"/>
              <a:t>Batch</a:t>
            </a:r>
            <a:r>
              <a:rPr spc="-55" dirty="0"/>
              <a:t> </a:t>
            </a:r>
            <a:r>
              <a:rPr spc="-25" dirty="0"/>
              <a:t>No.</a:t>
            </a:r>
            <a:endParaRPr spc="-25" dirty="0"/>
          </a:p>
        </p:txBody>
      </p:sp>
      <p:sp>
        <p:nvSpPr>
          <p:cNvPr id="5" name="Holder 5"/>
          <p:cNvSpPr>
            <a:spLocks noGrp="1"/>
          </p:cNvSpPr>
          <p:nvPr>
            <p:ph type="dt" sz="half" idx="6"/>
          </p:nvPr>
        </p:nvSpPr>
        <p:spPr/>
        <p:txBody>
          <a:bodyPr lIns="0" tIns="0" rIns="0" bIns="0"/>
          <a:lstStyle>
            <a:lvl1pPr>
              <a:defRPr sz="1200" b="0" i="0">
                <a:solidFill>
                  <a:srgbClr val="888888"/>
                </a:solidFill>
                <a:latin typeface="Times New Roman" panose="02020603050405020304"/>
                <a:cs typeface="Times New Roman" panose="02020603050405020304"/>
              </a:defRPr>
            </a:lvl1pPr>
          </a:lstStyle>
          <a:p>
            <a:pPr marL="12700">
              <a:lnSpc>
                <a:spcPts val="1410"/>
              </a:lnSpc>
            </a:pPr>
            <a:r>
              <a:rPr spc="-10" dirty="0"/>
              <a:t>19-12-</a:t>
            </a:r>
            <a:r>
              <a:rPr spc="-20" dirty="0"/>
              <a:t>2024</a:t>
            </a:r>
            <a:endParaRPr spc="-20" dirty="0"/>
          </a:p>
        </p:txBody>
      </p:sp>
      <p:sp>
        <p:nvSpPr>
          <p:cNvPr id="6" name="Holder 6"/>
          <p:cNvSpPr>
            <a:spLocks noGrp="1"/>
          </p:cNvSpPr>
          <p:nvPr>
            <p:ph type="sldNum" sz="quarter" idx="7"/>
          </p:nvPr>
        </p:nvSpPr>
        <p:spPr/>
        <p:txBody>
          <a:bodyPr lIns="0" tIns="0" rIns="0" bIns="0"/>
          <a:lstStyle>
            <a:lvl1pPr>
              <a:defRPr sz="1200" b="0" i="0">
                <a:solidFill>
                  <a:srgbClr val="888888"/>
                </a:solidFill>
                <a:latin typeface="Times New Roman" panose="02020603050405020304"/>
                <a:cs typeface="Times New Roman" panose="02020603050405020304"/>
              </a:defRPr>
            </a:lvl1pPr>
          </a:lstStyle>
          <a:p>
            <a:pPr marL="12700">
              <a:lnSpc>
                <a:spcPts val="1410"/>
              </a:lnSpc>
            </a:pPr>
            <a:fld id="{81D60167-4931-47E6-BA6A-407CBD079E47}" type="slidenum">
              <a:rPr spc="-25" dirty="0"/>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panose="02020603050405020304"/>
                <a:cs typeface="Times New Roman" panose="02020603050405020304"/>
              </a:defRPr>
            </a:lvl1pPr>
          </a:lstStyle>
          <a:p/>
        </p:txBody>
      </p:sp>
      <p:sp>
        <p:nvSpPr>
          <p:cNvPr id="3" name="Holder 3"/>
          <p:cNvSpPr>
            <a:spLocks noGrp="1"/>
          </p:cNvSpPr>
          <p:nvPr>
            <p:ph type="body" idx="1"/>
          </p:nvPr>
        </p:nvSpPr>
        <p:spPr/>
        <p:txBody>
          <a:bodyPr lIns="0" tIns="0" rIns="0" bIns="0"/>
          <a:lstStyle>
            <a:lvl1pPr>
              <a:defRPr sz="2750" b="0" i="0">
                <a:solidFill>
                  <a:schemeClr val="tx1"/>
                </a:solidFill>
                <a:latin typeface="Times New Roman" panose="02020603050405020304"/>
                <a:cs typeface="Times New Roman" panose="02020603050405020304"/>
              </a:defRPr>
            </a:lvl1pPr>
          </a:lstStyle>
          <a:p/>
        </p:txBody>
      </p:sp>
      <p:sp>
        <p:nvSpPr>
          <p:cNvPr id="4" name="Holder 4"/>
          <p:cNvSpPr>
            <a:spLocks noGrp="1"/>
          </p:cNvSpPr>
          <p:nvPr>
            <p:ph type="ftr" sz="quarter" idx="5"/>
          </p:nvPr>
        </p:nvSpPr>
        <p:spPr/>
        <p:txBody>
          <a:bodyPr lIns="0" tIns="0" rIns="0" bIns="0"/>
          <a:lstStyle>
            <a:lvl1pPr>
              <a:defRPr sz="1200" b="0" i="0">
                <a:solidFill>
                  <a:srgbClr val="888888"/>
                </a:solidFill>
                <a:latin typeface="Times New Roman" panose="02020603050405020304"/>
                <a:cs typeface="Times New Roman" panose="02020603050405020304"/>
              </a:defRPr>
            </a:lvl1pPr>
          </a:lstStyle>
          <a:p>
            <a:pPr marL="12700">
              <a:lnSpc>
                <a:spcPts val="1410"/>
              </a:lnSpc>
            </a:pPr>
            <a:r>
              <a:rPr dirty="0"/>
              <a:t>Batch</a:t>
            </a:r>
            <a:r>
              <a:rPr spc="-55" dirty="0"/>
              <a:t> </a:t>
            </a:r>
            <a:r>
              <a:rPr spc="-25" dirty="0"/>
              <a:t>No.</a:t>
            </a:r>
            <a:endParaRPr spc="-25" dirty="0"/>
          </a:p>
        </p:txBody>
      </p:sp>
      <p:sp>
        <p:nvSpPr>
          <p:cNvPr id="5" name="Holder 5"/>
          <p:cNvSpPr>
            <a:spLocks noGrp="1"/>
          </p:cNvSpPr>
          <p:nvPr>
            <p:ph type="dt" sz="half" idx="6"/>
          </p:nvPr>
        </p:nvSpPr>
        <p:spPr/>
        <p:txBody>
          <a:bodyPr lIns="0" tIns="0" rIns="0" bIns="0"/>
          <a:lstStyle>
            <a:lvl1pPr>
              <a:defRPr sz="1200" b="0" i="0">
                <a:solidFill>
                  <a:srgbClr val="888888"/>
                </a:solidFill>
                <a:latin typeface="Times New Roman" panose="02020603050405020304"/>
                <a:cs typeface="Times New Roman" panose="02020603050405020304"/>
              </a:defRPr>
            </a:lvl1pPr>
          </a:lstStyle>
          <a:p>
            <a:pPr marL="12700">
              <a:lnSpc>
                <a:spcPts val="1410"/>
              </a:lnSpc>
            </a:pPr>
            <a:r>
              <a:rPr spc="-10" dirty="0"/>
              <a:t>19-12-</a:t>
            </a:r>
            <a:r>
              <a:rPr spc="-20" dirty="0"/>
              <a:t>2024</a:t>
            </a:r>
            <a:endParaRPr spc="-20" dirty="0"/>
          </a:p>
        </p:txBody>
      </p:sp>
      <p:sp>
        <p:nvSpPr>
          <p:cNvPr id="6" name="Holder 6"/>
          <p:cNvSpPr>
            <a:spLocks noGrp="1"/>
          </p:cNvSpPr>
          <p:nvPr>
            <p:ph type="sldNum" sz="quarter" idx="7"/>
          </p:nvPr>
        </p:nvSpPr>
        <p:spPr/>
        <p:txBody>
          <a:bodyPr lIns="0" tIns="0" rIns="0" bIns="0"/>
          <a:lstStyle>
            <a:lvl1pPr>
              <a:defRPr sz="1200" b="0" i="0">
                <a:solidFill>
                  <a:srgbClr val="888888"/>
                </a:solidFill>
                <a:latin typeface="Times New Roman" panose="02020603050405020304"/>
                <a:cs typeface="Times New Roman" panose="02020603050405020304"/>
              </a:defRPr>
            </a:lvl1pPr>
          </a:lstStyle>
          <a:p>
            <a:pPr marL="12700">
              <a:lnSpc>
                <a:spcPts val="1410"/>
              </a:lnSpc>
            </a:pPr>
            <a:fld id="{81D60167-4931-47E6-BA6A-407CBD079E47}" type="slidenum">
              <a:rPr spc="-25" dirty="0"/>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panose="02020603050405020304"/>
                <a:cs typeface="Times New Roman" panose="02020603050405020304"/>
              </a:defRPr>
            </a:lvl1pPr>
          </a:lstStyle>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defRPr sz="1200" b="0" i="0">
                <a:solidFill>
                  <a:srgbClr val="888888"/>
                </a:solidFill>
                <a:latin typeface="Times New Roman" panose="02020603050405020304"/>
                <a:cs typeface="Times New Roman" panose="02020603050405020304"/>
              </a:defRPr>
            </a:lvl1pPr>
          </a:lstStyle>
          <a:p>
            <a:pPr marL="12700">
              <a:lnSpc>
                <a:spcPts val="1410"/>
              </a:lnSpc>
            </a:pPr>
            <a:r>
              <a:rPr dirty="0"/>
              <a:t>Batch</a:t>
            </a:r>
            <a:r>
              <a:rPr spc="-55" dirty="0"/>
              <a:t> </a:t>
            </a:r>
            <a:r>
              <a:rPr spc="-25" dirty="0"/>
              <a:t>No.</a:t>
            </a:r>
            <a:endParaRPr spc="-25" dirty="0"/>
          </a:p>
        </p:txBody>
      </p:sp>
      <p:sp>
        <p:nvSpPr>
          <p:cNvPr id="6" name="Holder 6"/>
          <p:cNvSpPr>
            <a:spLocks noGrp="1"/>
          </p:cNvSpPr>
          <p:nvPr>
            <p:ph type="dt" sz="half" idx="6"/>
          </p:nvPr>
        </p:nvSpPr>
        <p:spPr/>
        <p:txBody>
          <a:bodyPr lIns="0" tIns="0" rIns="0" bIns="0"/>
          <a:lstStyle>
            <a:lvl1pPr>
              <a:defRPr sz="1200" b="0" i="0">
                <a:solidFill>
                  <a:srgbClr val="888888"/>
                </a:solidFill>
                <a:latin typeface="Times New Roman" panose="02020603050405020304"/>
                <a:cs typeface="Times New Roman" panose="02020603050405020304"/>
              </a:defRPr>
            </a:lvl1pPr>
          </a:lstStyle>
          <a:p>
            <a:pPr marL="12700">
              <a:lnSpc>
                <a:spcPts val="1410"/>
              </a:lnSpc>
            </a:pPr>
            <a:r>
              <a:rPr spc="-10" dirty="0"/>
              <a:t>19-12-</a:t>
            </a:r>
            <a:r>
              <a:rPr spc="-20" dirty="0"/>
              <a:t>2024</a:t>
            </a:r>
            <a:endParaRPr spc="-20" dirty="0"/>
          </a:p>
        </p:txBody>
      </p:sp>
      <p:sp>
        <p:nvSpPr>
          <p:cNvPr id="7" name="Holder 7"/>
          <p:cNvSpPr>
            <a:spLocks noGrp="1"/>
          </p:cNvSpPr>
          <p:nvPr>
            <p:ph type="sldNum" sz="quarter" idx="7"/>
          </p:nvPr>
        </p:nvSpPr>
        <p:spPr/>
        <p:txBody>
          <a:bodyPr lIns="0" tIns="0" rIns="0" bIns="0"/>
          <a:lstStyle>
            <a:lvl1pPr>
              <a:defRPr sz="1200" b="0" i="0">
                <a:solidFill>
                  <a:srgbClr val="888888"/>
                </a:solidFill>
                <a:latin typeface="Times New Roman" panose="02020603050405020304"/>
                <a:cs typeface="Times New Roman" panose="02020603050405020304"/>
              </a:defRPr>
            </a:lvl1pPr>
          </a:lstStyle>
          <a:p>
            <a:pPr marL="12700">
              <a:lnSpc>
                <a:spcPts val="1410"/>
              </a:lnSpc>
            </a:pPr>
            <a:fld id="{81D60167-4931-47E6-BA6A-407CBD079E47}" type="slidenum">
              <a:rPr spc="-25" dirty="0"/>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panose="02020603050405020304"/>
                <a:cs typeface="Times New Roman" panose="02020603050405020304"/>
              </a:defRPr>
            </a:lvl1pPr>
          </a:lstStyle>
          <a:p/>
        </p:txBody>
      </p:sp>
      <p:sp>
        <p:nvSpPr>
          <p:cNvPr id="3" name="Holder 3"/>
          <p:cNvSpPr>
            <a:spLocks noGrp="1"/>
          </p:cNvSpPr>
          <p:nvPr>
            <p:ph type="ftr" sz="quarter" idx="5"/>
          </p:nvPr>
        </p:nvSpPr>
        <p:spPr/>
        <p:txBody>
          <a:bodyPr lIns="0" tIns="0" rIns="0" bIns="0"/>
          <a:lstStyle>
            <a:lvl1pPr>
              <a:defRPr sz="1200" b="0" i="0">
                <a:solidFill>
                  <a:srgbClr val="888888"/>
                </a:solidFill>
                <a:latin typeface="Times New Roman" panose="02020603050405020304"/>
                <a:cs typeface="Times New Roman" panose="02020603050405020304"/>
              </a:defRPr>
            </a:lvl1pPr>
          </a:lstStyle>
          <a:p>
            <a:pPr marL="12700">
              <a:lnSpc>
                <a:spcPts val="1410"/>
              </a:lnSpc>
            </a:pPr>
            <a:r>
              <a:rPr dirty="0"/>
              <a:t>Batch</a:t>
            </a:r>
            <a:r>
              <a:rPr spc="-55" dirty="0"/>
              <a:t> </a:t>
            </a:r>
            <a:r>
              <a:rPr spc="-25" dirty="0"/>
              <a:t>No.</a:t>
            </a:r>
            <a:endParaRPr spc="-25" dirty="0"/>
          </a:p>
        </p:txBody>
      </p:sp>
      <p:sp>
        <p:nvSpPr>
          <p:cNvPr id="4" name="Holder 4"/>
          <p:cNvSpPr>
            <a:spLocks noGrp="1"/>
          </p:cNvSpPr>
          <p:nvPr>
            <p:ph type="dt" sz="half" idx="6"/>
          </p:nvPr>
        </p:nvSpPr>
        <p:spPr/>
        <p:txBody>
          <a:bodyPr lIns="0" tIns="0" rIns="0" bIns="0"/>
          <a:lstStyle>
            <a:lvl1pPr>
              <a:defRPr sz="1200" b="0" i="0">
                <a:solidFill>
                  <a:srgbClr val="888888"/>
                </a:solidFill>
                <a:latin typeface="Times New Roman" panose="02020603050405020304"/>
                <a:cs typeface="Times New Roman" panose="02020603050405020304"/>
              </a:defRPr>
            </a:lvl1pPr>
          </a:lstStyle>
          <a:p>
            <a:pPr marL="12700">
              <a:lnSpc>
                <a:spcPts val="1410"/>
              </a:lnSpc>
            </a:pPr>
            <a:r>
              <a:rPr spc="-10" dirty="0"/>
              <a:t>19-12-</a:t>
            </a:r>
            <a:r>
              <a:rPr spc="-20" dirty="0"/>
              <a:t>2024</a:t>
            </a:r>
            <a:endParaRPr spc="-20" dirty="0"/>
          </a:p>
        </p:txBody>
      </p:sp>
      <p:sp>
        <p:nvSpPr>
          <p:cNvPr id="5" name="Holder 5"/>
          <p:cNvSpPr>
            <a:spLocks noGrp="1"/>
          </p:cNvSpPr>
          <p:nvPr>
            <p:ph type="sldNum" sz="quarter" idx="7"/>
          </p:nvPr>
        </p:nvSpPr>
        <p:spPr/>
        <p:txBody>
          <a:bodyPr lIns="0" tIns="0" rIns="0" bIns="0"/>
          <a:lstStyle>
            <a:lvl1pPr>
              <a:defRPr sz="1200" b="0" i="0">
                <a:solidFill>
                  <a:srgbClr val="888888"/>
                </a:solidFill>
                <a:latin typeface="Times New Roman" panose="02020603050405020304"/>
                <a:cs typeface="Times New Roman" panose="02020603050405020304"/>
              </a:defRPr>
            </a:lvl1pPr>
          </a:lstStyle>
          <a:p>
            <a:pPr marL="12700">
              <a:lnSpc>
                <a:spcPts val="1410"/>
              </a:lnSpc>
            </a:pPr>
            <a:fld id="{81D60167-4931-47E6-BA6A-407CBD079E47}" type="slidenum">
              <a:rPr spc="-25" dirty="0"/>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888888"/>
                </a:solidFill>
                <a:latin typeface="Times New Roman" panose="02020603050405020304"/>
                <a:cs typeface="Times New Roman" panose="02020603050405020304"/>
              </a:defRPr>
            </a:lvl1pPr>
          </a:lstStyle>
          <a:p>
            <a:pPr marL="12700">
              <a:lnSpc>
                <a:spcPts val="1410"/>
              </a:lnSpc>
            </a:pPr>
            <a:r>
              <a:rPr dirty="0"/>
              <a:t>Batch</a:t>
            </a:r>
            <a:r>
              <a:rPr spc="-55" dirty="0"/>
              <a:t> </a:t>
            </a:r>
            <a:r>
              <a:rPr spc="-25" dirty="0"/>
              <a:t>No.</a:t>
            </a:r>
            <a:endParaRPr spc="-25" dirty="0"/>
          </a:p>
        </p:txBody>
      </p:sp>
      <p:sp>
        <p:nvSpPr>
          <p:cNvPr id="3" name="Holder 3"/>
          <p:cNvSpPr>
            <a:spLocks noGrp="1"/>
          </p:cNvSpPr>
          <p:nvPr>
            <p:ph type="dt" sz="half" idx="6"/>
          </p:nvPr>
        </p:nvSpPr>
        <p:spPr/>
        <p:txBody>
          <a:bodyPr lIns="0" tIns="0" rIns="0" bIns="0"/>
          <a:lstStyle>
            <a:lvl1pPr>
              <a:defRPr sz="1200" b="0" i="0">
                <a:solidFill>
                  <a:srgbClr val="888888"/>
                </a:solidFill>
                <a:latin typeface="Times New Roman" panose="02020603050405020304"/>
                <a:cs typeface="Times New Roman" panose="02020603050405020304"/>
              </a:defRPr>
            </a:lvl1pPr>
          </a:lstStyle>
          <a:p>
            <a:pPr marL="12700">
              <a:lnSpc>
                <a:spcPts val="1410"/>
              </a:lnSpc>
            </a:pPr>
            <a:r>
              <a:rPr spc="-10" dirty="0"/>
              <a:t>19-12-</a:t>
            </a:r>
            <a:r>
              <a:rPr spc="-20" dirty="0"/>
              <a:t>2024</a:t>
            </a:r>
            <a:endParaRPr spc="-20" dirty="0"/>
          </a:p>
        </p:txBody>
      </p:sp>
      <p:sp>
        <p:nvSpPr>
          <p:cNvPr id="4" name="Holder 4"/>
          <p:cNvSpPr>
            <a:spLocks noGrp="1"/>
          </p:cNvSpPr>
          <p:nvPr>
            <p:ph type="sldNum" sz="quarter" idx="7"/>
          </p:nvPr>
        </p:nvSpPr>
        <p:spPr/>
        <p:txBody>
          <a:bodyPr lIns="0" tIns="0" rIns="0" bIns="0"/>
          <a:lstStyle>
            <a:lvl1pPr>
              <a:defRPr sz="1200" b="0" i="0">
                <a:solidFill>
                  <a:srgbClr val="888888"/>
                </a:solidFill>
                <a:latin typeface="Times New Roman" panose="02020603050405020304"/>
                <a:cs typeface="Times New Roman" panose="02020603050405020304"/>
              </a:defRPr>
            </a:lvl1pPr>
          </a:lstStyle>
          <a:p>
            <a:pPr marL="12700">
              <a:lnSpc>
                <a:spcPts val="1410"/>
              </a:lnSpc>
            </a:pPr>
            <a:fld id="{81D60167-4931-47E6-BA6A-407CBD079E47}" type="slidenum">
              <a:rPr spc="-25" dirty="0"/>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image" Target="../media/image1.jpeg"/><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6" cstate="print"/>
          <a:stretch>
            <a:fillRect/>
          </a:stretch>
        </p:blipFill>
        <p:spPr>
          <a:xfrm>
            <a:off x="57150" y="38100"/>
            <a:ext cx="3667124" cy="504825"/>
          </a:xfrm>
          <a:prstGeom prst="rect">
            <a:avLst/>
          </a:prstGeom>
        </p:spPr>
      </p:pic>
      <p:sp>
        <p:nvSpPr>
          <p:cNvPr id="2" name="Holder 2"/>
          <p:cNvSpPr>
            <a:spLocks noGrp="1"/>
          </p:cNvSpPr>
          <p:nvPr>
            <p:ph type="title"/>
          </p:nvPr>
        </p:nvSpPr>
        <p:spPr>
          <a:xfrm>
            <a:off x="1045463" y="283463"/>
            <a:ext cx="10101072" cy="1200005"/>
          </a:xfrm>
          <a:prstGeom prst="rect">
            <a:avLst/>
          </a:prstGeom>
        </p:spPr>
        <p:txBody>
          <a:bodyPr wrap="square" lIns="0" tIns="0" rIns="0" bIns="0">
            <a:spAutoFit/>
          </a:bodyPr>
          <a:lstStyle>
            <a:lvl1pPr>
              <a:defRPr sz="4400" b="1" i="0">
                <a:solidFill>
                  <a:schemeClr val="tx1"/>
                </a:solidFill>
                <a:latin typeface="Times New Roman" panose="02020603050405020304"/>
                <a:cs typeface="Times New Roman" panose="02020603050405020304"/>
              </a:defRPr>
            </a:lvl1pPr>
          </a:lstStyle>
          <a:p/>
        </p:txBody>
      </p:sp>
      <p:sp>
        <p:nvSpPr>
          <p:cNvPr id="3" name="Holder 3"/>
          <p:cNvSpPr>
            <a:spLocks noGrp="1"/>
          </p:cNvSpPr>
          <p:nvPr>
            <p:ph type="body" idx="1"/>
          </p:nvPr>
        </p:nvSpPr>
        <p:spPr>
          <a:xfrm>
            <a:off x="917575" y="1730872"/>
            <a:ext cx="8149590" cy="3088004"/>
          </a:xfrm>
          <a:prstGeom prst="rect">
            <a:avLst/>
          </a:prstGeom>
        </p:spPr>
        <p:txBody>
          <a:bodyPr wrap="square" lIns="0" tIns="0" rIns="0" bIns="0">
            <a:spAutoFit/>
          </a:bodyPr>
          <a:lstStyle>
            <a:lvl1pPr>
              <a:defRPr sz="2750" b="0" i="0">
                <a:solidFill>
                  <a:schemeClr val="tx1"/>
                </a:solidFill>
                <a:latin typeface="Times New Roman" panose="02020603050405020304"/>
                <a:cs typeface="Times New Roman" panose="02020603050405020304"/>
              </a:defRPr>
            </a:lvl1pPr>
          </a:lstStyle>
          <a:p/>
        </p:txBody>
      </p:sp>
      <p:sp>
        <p:nvSpPr>
          <p:cNvPr id="4" name="Holder 4"/>
          <p:cNvSpPr>
            <a:spLocks noGrp="1"/>
          </p:cNvSpPr>
          <p:nvPr>
            <p:ph type="ftr" sz="quarter" idx="5"/>
          </p:nvPr>
        </p:nvSpPr>
        <p:spPr>
          <a:xfrm>
            <a:off x="5505148" y="6451049"/>
            <a:ext cx="644525" cy="194309"/>
          </a:xfrm>
          <a:prstGeom prst="rect">
            <a:avLst/>
          </a:prstGeom>
        </p:spPr>
        <p:txBody>
          <a:bodyPr wrap="square" lIns="0" tIns="0" rIns="0" bIns="0">
            <a:spAutoFit/>
          </a:bodyPr>
          <a:lstStyle>
            <a:lvl1pPr>
              <a:defRPr sz="1200" b="0" i="0">
                <a:solidFill>
                  <a:srgbClr val="888888"/>
                </a:solidFill>
                <a:latin typeface="Times New Roman" panose="02020603050405020304"/>
                <a:cs typeface="Times New Roman" panose="02020603050405020304"/>
              </a:defRPr>
            </a:lvl1pPr>
          </a:lstStyle>
          <a:p>
            <a:pPr marL="12700">
              <a:lnSpc>
                <a:spcPts val="1410"/>
              </a:lnSpc>
            </a:pPr>
            <a:r>
              <a:rPr dirty="0"/>
              <a:t>Batch</a:t>
            </a:r>
            <a:r>
              <a:rPr spc="-55" dirty="0"/>
              <a:t> </a:t>
            </a:r>
            <a:r>
              <a:rPr spc="-25" dirty="0"/>
              <a:t>No.</a:t>
            </a:r>
            <a:endParaRPr spc="-25" dirty="0"/>
          </a:p>
        </p:txBody>
      </p:sp>
      <p:sp>
        <p:nvSpPr>
          <p:cNvPr id="5" name="Holder 5"/>
          <p:cNvSpPr>
            <a:spLocks noGrp="1"/>
          </p:cNvSpPr>
          <p:nvPr>
            <p:ph type="dt" sz="half" idx="6"/>
          </p:nvPr>
        </p:nvSpPr>
        <p:spPr>
          <a:xfrm>
            <a:off x="917575" y="6451049"/>
            <a:ext cx="737235" cy="194309"/>
          </a:xfrm>
          <a:prstGeom prst="rect">
            <a:avLst/>
          </a:prstGeom>
        </p:spPr>
        <p:txBody>
          <a:bodyPr wrap="square" lIns="0" tIns="0" rIns="0" bIns="0">
            <a:spAutoFit/>
          </a:bodyPr>
          <a:lstStyle>
            <a:lvl1pPr>
              <a:defRPr sz="1200" b="0" i="0">
                <a:solidFill>
                  <a:srgbClr val="888888"/>
                </a:solidFill>
                <a:latin typeface="Times New Roman" panose="02020603050405020304"/>
                <a:cs typeface="Times New Roman" panose="02020603050405020304"/>
              </a:defRPr>
            </a:lvl1pPr>
          </a:lstStyle>
          <a:p>
            <a:pPr marL="12700">
              <a:lnSpc>
                <a:spcPts val="1410"/>
              </a:lnSpc>
            </a:pPr>
            <a:r>
              <a:rPr spc="-10" dirty="0"/>
              <a:t>19-12-</a:t>
            </a:r>
            <a:r>
              <a:rPr spc="-20" dirty="0"/>
              <a:t>2024</a:t>
            </a:r>
            <a:endParaRPr spc="-20" dirty="0"/>
          </a:p>
        </p:txBody>
      </p:sp>
      <p:sp>
        <p:nvSpPr>
          <p:cNvPr id="6" name="Holder 6"/>
          <p:cNvSpPr>
            <a:spLocks noGrp="1"/>
          </p:cNvSpPr>
          <p:nvPr>
            <p:ph type="sldNum" sz="quarter" idx="7"/>
          </p:nvPr>
        </p:nvSpPr>
        <p:spPr>
          <a:xfrm>
            <a:off x="11104626" y="6451049"/>
            <a:ext cx="215900" cy="194309"/>
          </a:xfrm>
          <a:prstGeom prst="rect">
            <a:avLst/>
          </a:prstGeom>
        </p:spPr>
        <p:txBody>
          <a:bodyPr wrap="square" lIns="0" tIns="0" rIns="0" bIns="0">
            <a:spAutoFit/>
          </a:bodyPr>
          <a:lstStyle>
            <a:lvl1pPr>
              <a:defRPr sz="1200" b="0" i="0">
                <a:solidFill>
                  <a:srgbClr val="888888"/>
                </a:solidFill>
                <a:latin typeface="Times New Roman" panose="02020603050405020304"/>
                <a:cs typeface="Times New Roman" panose="02020603050405020304"/>
              </a:defRPr>
            </a:lvl1pPr>
          </a:lstStyle>
          <a:p>
            <a:pPr marL="12700">
              <a:lnSpc>
                <a:spcPts val="1410"/>
              </a:lnSpc>
            </a:pPr>
            <a:fld id="{81D60167-4931-47E6-BA6A-407CBD079E47}" type="slidenum">
              <a:rPr spc="-25" dirty="0"/>
            </a:fld>
            <a:endParaRPr spc="-25"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link.springer.com/article/10.1007/s11263-015-0816-y" TargetMode="External"/><Relationship Id="rId1" Type="http://schemas.openxmlformats.org/officeDocument/2006/relationships/hyperlink" Target="https://www.kaggle.com/datasets/paultimothymooney/chest-xray-pneumonia" TargetMode="External"/></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2.xml"/><Relationship Id="rId4" Type="http://schemas.openxmlformats.org/officeDocument/2006/relationships/hyperlink" Target="https://link.springer.co&#13;&#10;m/article/10.1007/s112&#13;&#10;63-015-0816-y" TargetMode="External"/><Relationship Id="rId3" Type="http://schemas.openxmlformats.org/officeDocument/2006/relationships/hyperlink" Target="https://paultimothymoo&#13;&#10;ney/chest-xray_x0002_pneumonia" TargetMode="External"/><Relationship Id="rId2" Type="http://schemas.openxmlformats.org/officeDocument/2006/relationships/hyperlink" Target="https://&#13;&#10;ieeexplore.ieee.org/&#13;&#10;document/10634159" TargetMode="Externa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link.springer.com/article/10.1007/s11263-015-0816-y" TargetMode="External"/><Relationship Id="rId1" Type="http://schemas.openxmlformats.org/officeDocument/2006/relationships/hyperlink" Target="https://www.kaggle.com/datasets/paultimothymooney/chest-xray-pneumonia" TargetMode="Externa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hyperlink" Target="https://link.springer.co&#13;&#10;m/article/10.1007/s112&#13;&#10;63-015-0816-y" TargetMode="External"/><Relationship Id="rId2" Type="http://schemas.openxmlformats.org/officeDocument/2006/relationships/hyperlink" Target="https://&#13;&#10;ieeexplore.ieee.org/&#13;&#10;document/10634159" TargetMode="External"/><Relationship Id="rId1" Type="http://schemas.openxmlformats.org/officeDocument/2006/relationships/tags" Target="../tags/tag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jpe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jpeg"/><Relationship Id="rId1" Type="http://schemas.openxmlformats.org/officeDocument/2006/relationships/image" Target="../media/image6.jpeg"/></Relationships>
</file>

<file path=ppt/slides/_rels/slide2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mailto:chandanapriyabadina@gail.com"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45463" y="283463"/>
            <a:ext cx="10101072" cy="754380"/>
          </a:xfrm>
          <a:prstGeom prst="rect">
            <a:avLst/>
          </a:prstGeom>
        </p:spPr>
        <p:txBody>
          <a:bodyPr vert="horz" wrap="square" lIns="0" tIns="478010" rIns="0" bIns="0" rtlCol="0">
            <a:spAutoFit/>
          </a:bodyPr>
          <a:lstStyle/>
          <a:p>
            <a:pPr marL="248285" algn="ctr">
              <a:lnSpc>
                <a:spcPct val="100000"/>
              </a:lnSpc>
              <a:spcBef>
                <a:spcPts val="510"/>
              </a:spcBef>
            </a:pPr>
            <a:r>
              <a:rPr sz="1800" dirty="0"/>
              <a:t>Department</a:t>
            </a:r>
            <a:r>
              <a:rPr sz="1800" spc="-20" dirty="0"/>
              <a:t> </a:t>
            </a:r>
            <a:r>
              <a:rPr sz="1800" dirty="0"/>
              <a:t>of</a:t>
            </a:r>
            <a:r>
              <a:rPr sz="1800" spc="-5" dirty="0"/>
              <a:t> </a:t>
            </a:r>
            <a:r>
              <a:rPr sz="1800" dirty="0"/>
              <a:t>Computer</a:t>
            </a:r>
            <a:r>
              <a:rPr sz="1800" spc="-60" dirty="0"/>
              <a:t> </a:t>
            </a:r>
            <a:r>
              <a:rPr sz="1800" dirty="0"/>
              <a:t>Science</a:t>
            </a:r>
            <a:r>
              <a:rPr sz="1800" spc="15" dirty="0"/>
              <a:t> </a:t>
            </a:r>
            <a:r>
              <a:rPr sz="1800" dirty="0"/>
              <a:t>and</a:t>
            </a:r>
            <a:r>
              <a:rPr sz="1800" spc="40" dirty="0"/>
              <a:t> </a:t>
            </a:r>
            <a:r>
              <a:rPr sz="1800" spc="-10" dirty="0"/>
              <a:t>Engineering</a:t>
            </a:r>
            <a:endParaRPr sz="2400"/>
          </a:p>
        </p:txBody>
      </p:sp>
      <p:sp>
        <p:nvSpPr>
          <p:cNvPr id="4" name="object 4"/>
          <p:cNvSpPr txBox="1"/>
          <p:nvPr/>
        </p:nvSpPr>
        <p:spPr>
          <a:xfrm>
            <a:off x="5704840" y="1946592"/>
            <a:ext cx="1503045" cy="266065"/>
          </a:xfrm>
          <a:prstGeom prst="rect">
            <a:avLst/>
          </a:prstGeom>
        </p:spPr>
        <p:txBody>
          <a:bodyPr vert="horz" wrap="square" lIns="0" tIns="15875" rIns="0" bIns="0" rtlCol="0">
            <a:spAutoFit/>
          </a:bodyPr>
          <a:lstStyle/>
          <a:p>
            <a:pPr marL="12700">
              <a:lnSpc>
                <a:spcPct val="100000"/>
              </a:lnSpc>
              <a:spcBef>
                <a:spcPts val="125"/>
              </a:spcBef>
            </a:pPr>
            <a:r>
              <a:rPr sz="1550" dirty="0">
                <a:latin typeface="Times New Roman" panose="02020603050405020304"/>
                <a:cs typeface="Times New Roman" panose="02020603050405020304"/>
              </a:rPr>
              <a:t>PRESENTED</a:t>
            </a:r>
            <a:r>
              <a:rPr sz="1550" spc="175" dirty="0">
                <a:latin typeface="Times New Roman" panose="02020603050405020304"/>
                <a:cs typeface="Times New Roman" panose="02020603050405020304"/>
              </a:rPr>
              <a:t> </a:t>
            </a:r>
            <a:r>
              <a:rPr sz="1550" spc="-25" dirty="0">
                <a:latin typeface="Times New Roman" panose="02020603050405020304"/>
                <a:cs typeface="Times New Roman" panose="02020603050405020304"/>
              </a:rPr>
              <a:t>BY</a:t>
            </a:r>
            <a:endParaRPr sz="1550">
              <a:latin typeface="Times New Roman" panose="02020603050405020304"/>
              <a:cs typeface="Times New Roman" panose="02020603050405020304"/>
            </a:endParaRPr>
          </a:p>
        </p:txBody>
      </p:sp>
      <p:sp>
        <p:nvSpPr>
          <p:cNvPr id="5" name="object 5"/>
          <p:cNvSpPr txBox="1"/>
          <p:nvPr/>
        </p:nvSpPr>
        <p:spPr>
          <a:xfrm>
            <a:off x="3714749" y="2186876"/>
            <a:ext cx="1990091" cy="983026"/>
          </a:xfrm>
          <a:prstGeom prst="rect">
            <a:avLst/>
          </a:prstGeom>
        </p:spPr>
        <p:txBody>
          <a:bodyPr vert="horz" wrap="square" lIns="0" tIns="12065" rIns="0" bIns="0" rtlCol="0">
            <a:spAutoFit/>
          </a:bodyPr>
          <a:lstStyle/>
          <a:p>
            <a:pPr marL="12700" marR="5080" algn="just">
              <a:lnSpc>
                <a:spcPct val="137000"/>
              </a:lnSpc>
              <a:spcBef>
                <a:spcPts val="95"/>
              </a:spcBef>
            </a:pPr>
            <a:r>
              <a:rPr lang="en-US" sz="1550" dirty="0" err="1">
                <a:latin typeface="Times New Roman" panose="02020603050405020304"/>
                <a:cs typeface="Times New Roman" panose="02020603050405020304"/>
              </a:rPr>
              <a:t>Badina</a:t>
            </a:r>
            <a:r>
              <a:rPr lang="en-US" sz="1550" dirty="0">
                <a:latin typeface="Times New Roman" panose="02020603050405020304"/>
                <a:cs typeface="Times New Roman" panose="02020603050405020304"/>
              </a:rPr>
              <a:t> Chandana Priya</a:t>
            </a:r>
            <a:endParaRPr lang="en-US" sz="1550" dirty="0">
              <a:latin typeface="Times New Roman" panose="02020603050405020304"/>
              <a:cs typeface="Times New Roman" panose="02020603050405020304"/>
            </a:endParaRPr>
          </a:p>
          <a:p>
            <a:pPr marL="12700" marR="5080" algn="just">
              <a:lnSpc>
                <a:spcPct val="137000"/>
              </a:lnSpc>
              <a:spcBef>
                <a:spcPts val="95"/>
              </a:spcBef>
            </a:pPr>
            <a:r>
              <a:rPr lang="en-US" sz="1550" dirty="0">
                <a:latin typeface="Times New Roman" panose="02020603050405020304"/>
                <a:cs typeface="Times New Roman" panose="02020603050405020304"/>
              </a:rPr>
              <a:t>Bandi Srilakshmi</a:t>
            </a:r>
            <a:endParaRPr lang="en-US" sz="1550" dirty="0">
              <a:latin typeface="Times New Roman" panose="02020603050405020304"/>
              <a:cs typeface="Times New Roman" panose="02020603050405020304"/>
            </a:endParaRPr>
          </a:p>
          <a:p>
            <a:pPr marL="12700" marR="5080" algn="just">
              <a:lnSpc>
                <a:spcPct val="137000"/>
              </a:lnSpc>
              <a:spcBef>
                <a:spcPts val="95"/>
              </a:spcBef>
            </a:pPr>
            <a:r>
              <a:rPr lang="en-US" sz="1550" dirty="0" err="1">
                <a:latin typeface="Times New Roman" panose="02020603050405020304"/>
                <a:cs typeface="Times New Roman" panose="02020603050405020304"/>
              </a:rPr>
              <a:t>Kolisetty</a:t>
            </a:r>
            <a:r>
              <a:rPr lang="en-US" sz="1550" dirty="0">
                <a:latin typeface="Times New Roman" panose="02020603050405020304"/>
                <a:cs typeface="Times New Roman" panose="02020603050405020304"/>
              </a:rPr>
              <a:t> Sri Varsha</a:t>
            </a:r>
            <a:endParaRPr sz="1550" dirty="0">
              <a:latin typeface="Times New Roman" panose="02020603050405020304"/>
              <a:cs typeface="Times New Roman" panose="02020603050405020304"/>
            </a:endParaRPr>
          </a:p>
        </p:txBody>
      </p:sp>
      <p:sp>
        <p:nvSpPr>
          <p:cNvPr id="6" name="object 6"/>
          <p:cNvSpPr txBox="1"/>
          <p:nvPr/>
        </p:nvSpPr>
        <p:spPr>
          <a:xfrm>
            <a:off x="7452359" y="2186876"/>
            <a:ext cx="1310641" cy="995785"/>
          </a:xfrm>
          <a:prstGeom prst="rect">
            <a:avLst/>
          </a:prstGeom>
        </p:spPr>
        <p:txBody>
          <a:bodyPr vert="horz" wrap="square" lIns="0" tIns="99695" rIns="0" bIns="0" rtlCol="0">
            <a:spAutoFit/>
          </a:bodyPr>
          <a:lstStyle/>
          <a:p>
            <a:pPr marL="12700">
              <a:lnSpc>
                <a:spcPct val="100000"/>
              </a:lnSpc>
              <a:spcBef>
                <a:spcPts val="785"/>
              </a:spcBef>
            </a:pPr>
            <a:r>
              <a:rPr sz="1550" dirty="0">
                <a:latin typeface="Times New Roman" panose="02020603050405020304"/>
                <a:cs typeface="Times New Roman" panose="02020603050405020304"/>
              </a:rPr>
              <a:t>(</a:t>
            </a:r>
            <a:r>
              <a:rPr lang="en-US" sz="1550" dirty="0">
                <a:latin typeface="Times New Roman" panose="02020603050405020304"/>
                <a:cs typeface="Times New Roman" panose="02020603050405020304"/>
              </a:rPr>
              <a:t>22471A0573)</a:t>
            </a:r>
            <a:endParaRPr sz="1550" dirty="0">
              <a:latin typeface="Times New Roman" panose="02020603050405020304"/>
              <a:cs typeface="Times New Roman" panose="02020603050405020304"/>
            </a:endParaRPr>
          </a:p>
          <a:p>
            <a:pPr marL="12700">
              <a:lnSpc>
                <a:spcPct val="100000"/>
              </a:lnSpc>
              <a:spcBef>
                <a:spcPts val="695"/>
              </a:spcBef>
            </a:pPr>
            <a:r>
              <a:rPr sz="1550" dirty="0">
                <a:latin typeface="Times New Roman" panose="02020603050405020304"/>
                <a:cs typeface="Times New Roman" panose="02020603050405020304"/>
              </a:rPr>
              <a:t>(</a:t>
            </a:r>
            <a:r>
              <a:rPr lang="en-US" sz="1550" spc="-20" dirty="0">
                <a:latin typeface="Times New Roman" panose="02020603050405020304"/>
                <a:cs typeface="Times New Roman" panose="02020603050405020304"/>
              </a:rPr>
              <a:t>22471A0574</a:t>
            </a:r>
            <a:r>
              <a:rPr sz="1550" spc="-20" dirty="0">
                <a:latin typeface="Times New Roman" panose="02020603050405020304"/>
                <a:cs typeface="Times New Roman" panose="02020603050405020304"/>
              </a:rPr>
              <a:t>)</a:t>
            </a:r>
            <a:endParaRPr sz="1550" dirty="0">
              <a:latin typeface="Times New Roman" panose="02020603050405020304"/>
              <a:cs typeface="Times New Roman" panose="02020603050405020304"/>
            </a:endParaRPr>
          </a:p>
          <a:p>
            <a:pPr marL="12700">
              <a:lnSpc>
                <a:spcPct val="100000"/>
              </a:lnSpc>
              <a:spcBef>
                <a:spcPts val="695"/>
              </a:spcBef>
            </a:pPr>
            <a:r>
              <a:rPr sz="1550" dirty="0">
                <a:latin typeface="Times New Roman" panose="02020603050405020304"/>
                <a:cs typeface="Times New Roman" panose="02020603050405020304"/>
              </a:rPr>
              <a:t>(</a:t>
            </a:r>
            <a:r>
              <a:rPr lang="en-US" sz="1550" dirty="0">
                <a:latin typeface="Times New Roman" panose="02020603050405020304"/>
                <a:cs typeface="Times New Roman" panose="02020603050405020304"/>
              </a:rPr>
              <a:t>22471A05A2</a:t>
            </a:r>
            <a:r>
              <a:rPr sz="1550" spc="-20" dirty="0">
                <a:latin typeface="Times New Roman" panose="02020603050405020304"/>
                <a:cs typeface="Times New Roman" panose="02020603050405020304"/>
              </a:rPr>
              <a:t>)</a:t>
            </a:r>
            <a:endParaRPr sz="1550" dirty="0">
              <a:latin typeface="Times New Roman" panose="02020603050405020304"/>
              <a:cs typeface="Times New Roman" panose="02020603050405020304"/>
            </a:endParaRPr>
          </a:p>
        </p:txBody>
      </p:sp>
      <p:sp>
        <p:nvSpPr>
          <p:cNvPr id="7" name="object 7"/>
          <p:cNvSpPr txBox="1"/>
          <p:nvPr/>
        </p:nvSpPr>
        <p:spPr>
          <a:xfrm>
            <a:off x="4064634" y="3599878"/>
            <a:ext cx="4304665" cy="2249805"/>
          </a:xfrm>
          <a:prstGeom prst="rect">
            <a:avLst/>
          </a:prstGeom>
        </p:spPr>
        <p:txBody>
          <a:bodyPr vert="horz" wrap="square" lIns="0" tIns="12700" rIns="0" bIns="0" rtlCol="0">
            <a:spAutoFit/>
          </a:bodyPr>
          <a:lstStyle/>
          <a:p>
            <a:pPr algn="ctr">
              <a:lnSpc>
                <a:spcPct val="100000"/>
              </a:lnSpc>
              <a:spcBef>
                <a:spcPts val="100"/>
              </a:spcBef>
            </a:pPr>
            <a:r>
              <a:rPr sz="1800" dirty="0">
                <a:solidFill>
                  <a:srgbClr val="006600"/>
                </a:solidFill>
                <a:latin typeface="Times New Roman" panose="02020603050405020304"/>
                <a:cs typeface="Times New Roman" panose="02020603050405020304"/>
              </a:rPr>
              <a:t>Under</a:t>
            </a:r>
            <a:r>
              <a:rPr sz="1800" spc="20" dirty="0">
                <a:solidFill>
                  <a:srgbClr val="006600"/>
                </a:solidFill>
                <a:latin typeface="Times New Roman" panose="02020603050405020304"/>
                <a:cs typeface="Times New Roman" panose="02020603050405020304"/>
              </a:rPr>
              <a:t> </a:t>
            </a:r>
            <a:r>
              <a:rPr sz="1800" dirty="0">
                <a:solidFill>
                  <a:srgbClr val="006600"/>
                </a:solidFill>
                <a:latin typeface="Times New Roman" panose="02020603050405020304"/>
                <a:cs typeface="Times New Roman" panose="02020603050405020304"/>
              </a:rPr>
              <a:t>the</a:t>
            </a:r>
            <a:r>
              <a:rPr sz="1800" spc="-30" dirty="0">
                <a:solidFill>
                  <a:srgbClr val="006600"/>
                </a:solidFill>
                <a:latin typeface="Times New Roman" panose="02020603050405020304"/>
                <a:cs typeface="Times New Roman" panose="02020603050405020304"/>
              </a:rPr>
              <a:t> </a:t>
            </a:r>
            <a:r>
              <a:rPr sz="1800" dirty="0">
                <a:solidFill>
                  <a:srgbClr val="006600"/>
                </a:solidFill>
                <a:latin typeface="Times New Roman" panose="02020603050405020304"/>
                <a:cs typeface="Times New Roman" panose="02020603050405020304"/>
              </a:rPr>
              <a:t>Guidance</a:t>
            </a:r>
            <a:r>
              <a:rPr sz="1800" spc="-25" dirty="0">
                <a:solidFill>
                  <a:srgbClr val="006600"/>
                </a:solidFill>
                <a:latin typeface="Times New Roman" panose="02020603050405020304"/>
                <a:cs typeface="Times New Roman" panose="02020603050405020304"/>
              </a:rPr>
              <a:t> of,</a:t>
            </a:r>
            <a:endParaRPr sz="1800" dirty="0">
              <a:latin typeface="Times New Roman" panose="02020603050405020304"/>
              <a:cs typeface="Times New Roman" panose="02020603050405020304"/>
            </a:endParaRPr>
          </a:p>
          <a:p>
            <a:pPr algn="ctr">
              <a:lnSpc>
                <a:spcPct val="100000"/>
              </a:lnSpc>
              <a:spcBef>
                <a:spcPts val="1770"/>
              </a:spcBef>
            </a:pPr>
            <a:r>
              <a:rPr lang="en-US" sz="1550" b="1" dirty="0" err="1">
                <a:latin typeface="Times New Roman" panose="02020603050405020304"/>
                <a:cs typeface="Times New Roman" panose="02020603050405020304"/>
              </a:rPr>
              <a:t>V.Karuna</a:t>
            </a:r>
            <a:r>
              <a:rPr lang="en-US" sz="1550" b="1" dirty="0">
                <a:latin typeface="Times New Roman" panose="02020603050405020304"/>
                <a:cs typeface="Times New Roman" panose="02020603050405020304"/>
              </a:rPr>
              <a:t> </a:t>
            </a:r>
            <a:r>
              <a:rPr lang="en-US" sz="1550" b="1" dirty="0" err="1">
                <a:latin typeface="Times New Roman" panose="02020603050405020304"/>
                <a:cs typeface="Times New Roman" panose="02020603050405020304"/>
              </a:rPr>
              <a:t>Kumar</a:t>
            </a:r>
            <a:r>
              <a:rPr lang="en-US" sz="1575" b="1" spc="-15" baseline="-16000" dirty="0" err="1">
                <a:latin typeface="Times New Roman" panose="02020603050405020304"/>
                <a:cs typeface="Times New Roman" panose="02020603050405020304"/>
              </a:rPr>
              <a:t>M.Tech</a:t>
            </a:r>
            <a:r>
              <a:rPr sz="1550" b="1" spc="-10" dirty="0">
                <a:latin typeface="Times New Roman" panose="02020603050405020304"/>
                <a:cs typeface="Times New Roman" panose="02020603050405020304"/>
              </a:rPr>
              <a:t>,</a:t>
            </a:r>
            <a:endParaRPr sz="1550" dirty="0">
              <a:latin typeface="Times New Roman" panose="02020603050405020304"/>
              <a:cs typeface="Times New Roman" panose="02020603050405020304"/>
            </a:endParaRPr>
          </a:p>
          <a:p>
            <a:pPr algn="ctr">
              <a:lnSpc>
                <a:spcPct val="100000"/>
              </a:lnSpc>
              <a:spcBef>
                <a:spcPts val="470"/>
              </a:spcBef>
            </a:pPr>
            <a:r>
              <a:rPr lang="en-US" sz="1550" spc="-10" dirty="0">
                <a:solidFill>
                  <a:srgbClr val="888888"/>
                </a:solidFill>
                <a:latin typeface="Times New Roman" panose="02020603050405020304"/>
                <a:cs typeface="Times New Roman" panose="02020603050405020304"/>
              </a:rPr>
              <a:t>Assistant Professor</a:t>
            </a:r>
            <a:r>
              <a:rPr sz="1550" spc="-10" dirty="0">
                <a:solidFill>
                  <a:srgbClr val="888888"/>
                </a:solidFill>
                <a:latin typeface="Times New Roman" panose="02020603050405020304"/>
                <a:cs typeface="Times New Roman" panose="02020603050405020304"/>
              </a:rPr>
              <a:t>,</a:t>
            </a:r>
            <a:endParaRPr sz="1550" dirty="0">
              <a:latin typeface="Times New Roman" panose="02020603050405020304"/>
              <a:cs typeface="Times New Roman" panose="02020603050405020304"/>
            </a:endParaRPr>
          </a:p>
          <a:p>
            <a:pPr algn="ctr">
              <a:lnSpc>
                <a:spcPct val="100000"/>
              </a:lnSpc>
              <a:spcBef>
                <a:spcPts val="995"/>
              </a:spcBef>
            </a:pPr>
            <a:r>
              <a:rPr sz="1550" dirty="0">
                <a:solidFill>
                  <a:srgbClr val="888888"/>
                </a:solidFill>
                <a:latin typeface="Times New Roman" panose="02020603050405020304"/>
                <a:cs typeface="Times New Roman" panose="02020603050405020304"/>
              </a:rPr>
              <a:t>Department</a:t>
            </a:r>
            <a:r>
              <a:rPr sz="1550" spc="90" dirty="0">
                <a:solidFill>
                  <a:srgbClr val="888888"/>
                </a:solidFill>
                <a:latin typeface="Times New Roman" panose="02020603050405020304"/>
                <a:cs typeface="Times New Roman" panose="02020603050405020304"/>
              </a:rPr>
              <a:t> </a:t>
            </a:r>
            <a:r>
              <a:rPr sz="1550" dirty="0">
                <a:solidFill>
                  <a:srgbClr val="888888"/>
                </a:solidFill>
                <a:latin typeface="Times New Roman" panose="02020603050405020304"/>
                <a:cs typeface="Times New Roman" panose="02020603050405020304"/>
              </a:rPr>
              <a:t>of</a:t>
            </a:r>
            <a:r>
              <a:rPr sz="1550" spc="180" dirty="0">
                <a:solidFill>
                  <a:srgbClr val="888888"/>
                </a:solidFill>
                <a:latin typeface="Times New Roman" panose="02020603050405020304"/>
                <a:cs typeface="Times New Roman" panose="02020603050405020304"/>
              </a:rPr>
              <a:t> </a:t>
            </a:r>
            <a:r>
              <a:rPr sz="1550" dirty="0">
                <a:solidFill>
                  <a:srgbClr val="888888"/>
                </a:solidFill>
                <a:latin typeface="Times New Roman" panose="02020603050405020304"/>
                <a:cs typeface="Times New Roman" panose="02020603050405020304"/>
              </a:rPr>
              <a:t>Computer</a:t>
            </a:r>
            <a:r>
              <a:rPr sz="1550" spc="80" dirty="0">
                <a:solidFill>
                  <a:srgbClr val="888888"/>
                </a:solidFill>
                <a:latin typeface="Times New Roman" panose="02020603050405020304"/>
                <a:cs typeface="Times New Roman" panose="02020603050405020304"/>
              </a:rPr>
              <a:t> </a:t>
            </a:r>
            <a:r>
              <a:rPr sz="1550" dirty="0">
                <a:solidFill>
                  <a:srgbClr val="888888"/>
                </a:solidFill>
                <a:latin typeface="Times New Roman" panose="02020603050405020304"/>
                <a:cs typeface="Times New Roman" panose="02020603050405020304"/>
              </a:rPr>
              <a:t>Science</a:t>
            </a:r>
            <a:r>
              <a:rPr sz="1550" spc="145" dirty="0">
                <a:solidFill>
                  <a:srgbClr val="888888"/>
                </a:solidFill>
                <a:latin typeface="Times New Roman" panose="02020603050405020304"/>
                <a:cs typeface="Times New Roman" panose="02020603050405020304"/>
              </a:rPr>
              <a:t> </a:t>
            </a:r>
            <a:r>
              <a:rPr sz="1550" dirty="0">
                <a:solidFill>
                  <a:srgbClr val="888888"/>
                </a:solidFill>
                <a:latin typeface="Times New Roman" panose="02020603050405020304"/>
                <a:cs typeface="Times New Roman" panose="02020603050405020304"/>
              </a:rPr>
              <a:t>and</a:t>
            </a:r>
            <a:r>
              <a:rPr sz="1550" spc="135" dirty="0">
                <a:solidFill>
                  <a:srgbClr val="888888"/>
                </a:solidFill>
                <a:latin typeface="Times New Roman" panose="02020603050405020304"/>
                <a:cs typeface="Times New Roman" panose="02020603050405020304"/>
              </a:rPr>
              <a:t> </a:t>
            </a:r>
            <a:r>
              <a:rPr sz="1550" spc="-10" dirty="0">
                <a:solidFill>
                  <a:srgbClr val="888888"/>
                </a:solidFill>
                <a:latin typeface="Times New Roman" panose="02020603050405020304"/>
                <a:cs typeface="Times New Roman" panose="02020603050405020304"/>
              </a:rPr>
              <a:t>Engineering,</a:t>
            </a:r>
            <a:endParaRPr sz="1550" dirty="0">
              <a:latin typeface="Times New Roman" panose="02020603050405020304"/>
              <a:cs typeface="Times New Roman" panose="02020603050405020304"/>
            </a:endParaRPr>
          </a:p>
          <a:p>
            <a:pPr marL="57785" marR="61595" algn="ctr">
              <a:lnSpc>
                <a:spcPct val="174000"/>
              </a:lnSpc>
              <a:spcBef>
                <a:spcPts val="70"/>
              </a:spcBef>
            </a:pPr>
            <a:r>
              <a:rPr sz="1550" dirty="0">
                <a:solidFill>
                  <a:srgbClr val="888888"/>
                </a:solidFill>
                <a:latin typeface="Times New Roman" panose="02020603050405020304"/>
                <a:cs typeface="Times New Roman" panose="02020603050405020304"/>
              </a:rPr>
              <a:t>Narasaraopeta</a:t>
            </a:r>
            <a:r>
              <a:rPr sz="1550" spc="200" dirty="0">
                <a:solidFill>
                  <a:srgbClr val="888888"/>
                </a:solidFill>
                <a:latin typeface="Times New Roman" panose="02020603050405020304"/>
                <a:cs typeface="Times New Roman" panose="02020603050405020304"/>
              </a:rPr>
              <a:t> </a:t>
            </a:r>
            <a:r>
              <a:rPr sz="1550" dirty="0">
                <a:solidFill>
                  <a:srgbClr val="888888"/>
                </a:solidFill>
                <a:latin typeface="Times New Roman" panose="02020603050405020304"/>
                <a:cs typeface="Times New Roman" panose="02020603050405020304"/>
              </a:rPr>
              <a:t>Engineering</a:t>
            </a:r>
            <a:r>
              <a:rPr sz="1550" spc="185" dirty="0">
                <a:solidFill>
                  <a:srgbClr val="888888"/>
                </a:solidFill>
                <a:latin typeface="Times New Roman" panose="02020603050405020304"/>
                <a:cs typeface="Times New Roman" panose="02020603050405020304"/>
              </a:rPr>
              <a:t> </a:t>
            </a:r>
            <a:r>
              <a:rPr sz="1550" dirty="0">
                <a:solidFill>
                  <a:srgbClr val="888888"/>
                </a:solidFill>
                <a:latin typeface="Times New Roman" panose="02020603050405020304"/>
                <a:cs typeface="Times New Roman" panose="02020603050405020304"/>
              </a:rPr>
              <a:t>College</a:t>
            </a:r>
            <a:r>
              <a:rPr sz="1550" spc="204" dirty="0">
                <a:solidFill>
                  <a:srgbClr val="888888"/>
                </a:solidFill>
                <a:latin typeface="Times New Roman" panose="02020603050405020304"/>
                <a:cs typeface="Times New Roman" panose="02020603050405020304"/>
              </a:rPr>
              <a:t> </a:t>
            </a:r>
            <a:r>
              <a:rPr sz="1550" spc="-10" dirty="0">
                <a:solidFill>
                  <a:srgbClr val="888888"/>
                </a:solidFill>
                <a:latin typeface="Times New Roman" panose="02020603050405020304"/>
                <a:cs typeface="Times New Roman" panose="02020603050405020304"/>
              </a:rPr>
              <a:t>(Autonomous), </a:t>
            </a:r>
            <a:r>
              <a:rPr sz="1550" dirty="0">
                <a:solidFill>
                  <a:srgbClr val="888888"/>
                </a:solidFill>
                <a:latin typeface="Times New Roman" panose="02020603050405020304"/>
                <a:cs typeface="Times New Roman" panose="02020603050405020304"/>
              </a:rPr>
              <a:t>Narasaraopet-</a:t>
            </a:r>
            <a:r>
              <a:rPr sz="1550" spc="150" dirty="0">
                <a:solidFill>
                  <a:srgbClr val="888888"/>
                </a:solidFill>
                <a:latin typeface="Times New Roman" panose="02020603050405020304"/>
                <a:cs typeface="Times New Roman" panose="02020603050405020304"/>
              </a:rPr>
              <a:t> </a:t>
            </a:r>
            <a:r>
              <a:rPr sz="1550" dirty="0">
                <a:solidFill>
                  <a:srgbClr val="888888"/>
                </a:solidFill>
                <a:latin typeface="Times New Roman" panose="02020603050405020304"/>
                <a:cs typeface="Times New Roman" panose="02020603050405020304"/>
              </a:rPr>
              <a:t>522</a:t>
            </a:r>
            <a:r>
              <a:rPr sz="1550" spc="150" dirty="0">
                <a:solidFill>
                  <a:srgbClr val="888888"/>
                </a:solidFill>
                <a:latin typeface="Times New Roman" panose="02020603050405020304"/>
                <a:cs typeface="Times New Roman" panose="02020603050405020304"/>
              </a:rPr>
              <a:t> </a:t>
            </a:r>
            <a:r>
              <a:rPr sz="1550" spc="-20" dirty="0">
                <a:solidFill>
                  <a:srgbClr val="888888"/>
                </a:solidFill>
                <a:latin typeface="Times New Roman" panose="02020603050405020304"/>
                <a:cs typeface="Times New Roman" panose="02020603050405020304"/>
              </a:rPr>
              <a:t>601.</a:t>
            </a:r>
            <a:endParaRPr sz="1550" dirty="0">
              <a:latin typeface="Times New Roman" panose="02020603050405020304"/>
              <a:cs typeface="Times New Roman" panose="02020603050405020304"/>
            </a:endParaRPr>
          </a:p>
        </p:txBody>
      </p:sp>
      <p:pic>
        <p:nvPicPr>
          <p:cNvPr id="8" name="object 8"/>
          <p:cNvPicPr/>
          <p:nvPr/>
        </p:nvPicPr>
        <p:blipFill>
          <a:blip r:embed="rId1" cstate="print"/>
          <a:stretch>
            <a:fillRect/>
          </a:stretch>
        </p:blipFill>
        <p:spPr>
          <a:xfrm>
            <a:off x="66675" y="131344"/>
            <a:ext cx="3648074" cy="505326"/>
          </a:xfrm>
          <a:prstGeom prst="rect">
            <a:avLst/>
          </a:prstGeom>
        </p:spPr>
      </p:pic>
      <p:sp>
        <p:nvSpPr>
          <p:cNvPr id="9" name="object 9"/>
          <p:cNvSpPr txBox="1">
            <a:spLocks noGrp="1"/>
          </p:cNvSpPr>
          <p:nvPr>
            <p:ph type="dt" sz="half" idx="6"/>
          </p:nvPr>
        </p:nvSpPr>
        <p:spPr>
          <a:xfrm>
            <a:off x="917575" y="6451049"/>
            <a:ext cx="737235" cy="180340"/>
          </a:xfrm>
          <a:prstGeom prst="rect">
            <a:avLst/>
          </a:prstGeom>
        </p:spPr>
        <p:txBody>
          <a:bodyPr vert="horz" wrap="square" lIns="0" tIns="0" rIns="0" bIns="0" rtlCol="0">
            <a:spAutoFit/>
          </a:bodyPr>
          <a:lstStyle/>
          <a:p>
            <a:pPr marL="12700">
              <a:lnSpc>
                <a:spcPts val="1410"/>
              </a:lnSpc>
            </a:pPr>
            <a:endParaRPr spc="-20" dirty="0"/>
          </a:p>
        </p:txBody>
      </p:sp>
      <p:sp>
        <p:nvSpPr>
          <p:cNvPr id="10" name="object 10"/>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panose="02020603050405020304"/>
                <a:cs typeface="Times New Roman" panose="02020603050405020304"/>
              </a:rPr>
              <a:t>Review</a:t>
            </a:r>
            <a:r>
              <a:rPr sz="1200" spc="-3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No.</a:t>
            </a:r>
            <a:endParaRPr sz="1200">
              <a:latin typeface="Times New Roman" panose="02020603050405020304"/>
              <a:cs typeface="Times New Roman" panose="02020603050405020304"/>
            </a:endParaRPr>
          </a:p>
        </p:txBody>
      </p:sp>
      <p:sp>
        <p:nvSpPr>
          <p:cNvPr id="11" name="object 11"/>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endParaRPr spc="-25" dirty="0"/>
          </a:p>
        </p:txBody>
      </p:sp>
      <p:sp>
        <p:nvSpPr>
          <p:cNvPr id="12" name="object 12"/>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panose="02020603050405020304"/>
                <a:cs typeface="Times New Roman" panose="02020603050405020304"/>
              </a:rPr>
              <a:t>Department</a:t>
            </a:r>
            <a:r>
              <a:rPr sz="1200" spc="-30" dirty="0">
                <a:solidFill>
                  <a:srgbClr val="888888"/>
                </a:solidFill>
                <a:latin typeface="Times New Roman" panose="02020603050405020304"/>
                <a:cs typeface="Times New Roman" panose="02020603050405020304"/>
              </a:rPr>
              <a:t> </a:t>
            </a:r>
            <a:r>
              <a:rPr sz="1200" dirty="0">
                <a:solidFill>
                  <a:srgbClr val="888888"/>
                </a:solidFill>
                <a:latin typeface="Times New Roman" panose="02020603050405020304"/>
                <a:cs typeface="Times New Roman" panose="02020603050405020304"/>
              </a:rPr>
              <a:t>of</a:t>
            </a:r>
            <a:r>
              <a:rPr sz="1200" spc="5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CSE</a:t>
            </a:r>
            <a:endParaRPr sz="1200">
              <a:latin typeface="Times New Roman" panose="02020603050405020304"/>
              <a:cs typeface="Times New Roman" panose="02020603050405020304"/>
            </a:endParaRPr>
          </a:p>
        </p:txBody>
      </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fld>
            <a:endParaRPr spc="-25" dirty="0"/>
          </a:p>
        </p:txBody>
      </p:sp>
      <p:sp>
        <p:nvSpPr>
          <p:cNvPr id="17" name="Text Box 16"/>
          <p:cNvSpPr txBox="1"/>
          <p:nvPr/>
        </p:nvSpPr>
        <p:spPr>
          <a:xfrm>
            <a:off x="2891790" y="1197610"/>
            <a:ext cx="6515735" cy="762000"/>
          </a:xfrm>
          <a:prstGeom prst="rect">
            <a:avLst/>
          </a:prstGeom>
          <a:noFill/>
        </p:spPr>
        <p:txBody>
          <a:bodyPr wrap="square" rtlCol="0">
            <a:noAutofit/>
          </a:bodyPr>
          <a:lstStyle/>
          <a:p>
            <a:pPr algn="ctr"/>
            <a:r>
              <a:rPr lang="en-US" altLang="en-US" b="1">
                <a:solidFill>
                  <a:srgbClr val="FF0000"/>
                </a:solidFill>
                <a:latin typeface="Times New Roman" panose="02020603050405020304" charset="0"/>
                <a:cs typeface="Times New Roman" panose="02020603050405020304" charset="0"/>
              </a:rPr>
              <a:t>Ultrasound-Based Breast Cancer Detection Using a Segmentation-Guided Deep Learning Framework</a:t>
            </a:r>
            <a:endParaRPr lang="en-US" altLang="en-US" b="1">
              <a:solidFill>
                <a:srgbClr val="FF0000"/>
              </a:solidFill>
              <a:latin typeface="Times New Roman" panose="02020603050405020304" charset="0"/>
              <a:cs typeface="Times New Roman" panose="02020603050405020304" charset="0"/>
            </a:endParaRPr>
          </a:p>
          <a:p>
            <a:pPr algn="ctr"/>
            <a:endParaRPr lang="en-US" altLang="en-US" b="1">
              <a:solidFill>
                <a:srgbClr val="FF0000"/>
              </a:solidFill>
              <a:latin typeface="Times New Roman" panose="02020603050405020304" charset="0"/>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48200" y="495007"/>
            <a:ext cx="2613025" cy="701040"/>
          </a:xfrm>
          <a:prstGeom prst="rect">
            <a:avLst/>
          </a:prstGeom>
        </p:spPr>
        <p:txBody>
          <a:bodyPr vert="horz" wrap="square" lIns="0" tIns="16510" rIns="0" bIns="0" rtlCol="0">
            <a:spAutoFit/>
          </a:bodyPr>
          <a:lstStyle/>
          <a:p>
            <a:pPr marL="12700">
              <a:lnSpc>
                <a:spcPct val="100000"/>
              </a:lnSpc>
              <a:spcBef>
                <a:spcPts val="130"/>
              </a:spcBef>
            </a:pPr>
            <a:r>
              <a:rPr spc="-10" dirty="0"/>
              <a:t>OUTLINE</a:t>
            </a:r>
            <a:endParaRPr spc="-10" dirty="0"/>
          </a:p>
        </p:txBody>
      </p:sp>
      <p:sp>
        <p:nvSpPr>
          <p:cNvPr id="4" name="object 4"/>
          <p:cNvSpPr txBox="1">
            <a:spLocks noGrp="1"/>
          </p:cNvSpPr>
          <p:nvPr>
            <p:ph type="dt" sz="half" idx="6"/>
          </p:nvPr>
        </p:nvSpPr>
        <p:spPr>
          <a:xfrm>
            <a:off x="917575" y="6451049"/>
            <a:ext cx="737235" cy="180340"/>
          </a:xfrm>
          <a:prstGeom prst="rect">
            <a:avLst/>
          </a:prstGeom>
        </p:spPr>
        <p:txBody>
          <a:bodyPr vert="horz" wrap="square" lIns="0" tIns="0" rIns="0" bIns="0" rtlCol="0">
            <a:spAutoFit/>
          </a:bodyPr>
          <a:lstStyle/>
          <a:p>
            <a:pPr marL="12700">
              <a:lnSpc>
                <a:spcPts val="1410"/>
              </a:lnSpc>
            </a:pPr>
            <a:endParaRPr spc="-2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panose="02020603050405020304"/>
                <a:cs typeface="Times New Roman" panose="02020603050405020304"/>
              </a:rPr>
              <a:t>Review</a:t>
            </a:r>
            <a:r>
              <a:rPr sz="1200" spc="-3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No.</a:t>
            </a:r>
            <a:endParaRPr sz="1200">
              <a:latin typeface="Times New Roman" panose="02020603050405020304"/>
              <a:cs typeface="Times New Roman" panose="02020603050405020304"/>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panose="02020603050405020304"/>
                <a:cs typeface="Times New Roman" panose="02020603050405020304"/>
              </a:rPr>
              <a:t>Department</a:t>
            </a:r>
            <a:r>
              <a:rPr sz="1200" spc="-30" dirty="0">
                <a:solidFill>
                  <a:srgbClr val="888888"/>
                </a:solidFill>
                <a:latin typeface="Times New Roman" panose="02020603050405020304"/>
                <a:cs typeface="Times New Roman" panose="02020603050405020304"/>
              </a:rPr>
              <a:t> </a:t>
            </a:r>
            <a:r>
              <a:rPr sz="1200" dirty="0">
                <a:solidFill>
                  <a:srgbClr val="888888"/>
                </a:solidFill>
                <a:latin typeface="Times New Roman" panose="02020603050405020304"/>
                <a:cs typeface="Times New Roman" panose="02020603050405020304"/>
              </a:rPr>
              <a:t>of</a:t>
            </a:r>
            <a:r>
              <a:rPr sz="1200" spc="5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CSE</a:t>
            </a:r>
            <a:endParaRPr sz="1200">
              <a:latin typeface="Times New Roman" panose="02020603050405020304"/>
              <a:cs typeface="Times New Roman" panose="02020603050405020304"/>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fld>
            <a:endParaRPr spc="-25" dirty="0"/>
          </a:p>
        </p:txBody>
      </p:sp>
      <p:sp>
        <p:nvSpPr>
          <p:cNvPr id="3" name="object 3"/>
          <p:cNvSpPr txBox="1"/>
          <p:nvPr/>
        </p:nvSpPr>
        <p:spPr>
          <a:xfrm>
            <a:off x="917575" y="1173924"/>
            <a:ext cx="3450590" cy="4508500"/>
          </a:xfrm>
          <a:prstGeom prst="rect">
            <a:avLst/>
          </a:prstGeom>
        </p:spPr>
        <p:txBody>
          <a:bodyPr vert="horz" wrap="square" lIns="0" tIns="62230" rIns="0" bIns="0" rtlCol="0">
            <a:spAutoFit/>
          </a:bodyPr>
          <a:lstStyle/>
          <a:p>
            <a:pPr marL="527050" indent="-514350">
              <a:lnSpc>
                <a:spcPct val="100000"/>
              </a:lnSpc>
              <a:spcBef>
                <a:spcPts val="490"/>
              </a:spcBef>
              <a:buAutoNum type="arabicPeriod"/>
              <a:tabLst>
                <a:tab pos="527050" algn="l"/>
              </a:tabLst>
            </a:pPr>
            <a:r>
              <a:rPr sz="1800" spc="-10" dirty="0">
                <a:latin typeface="Times New Roman" panose="02020603050405020304"/>
                <a:cs typeface="Times New Roman" panose="02020603050405020304"/>
              </a:rPr>
              <a:t>Abstract</a:t>
            </a:r>
            <a:endParaRPr sz="1800">
              <a:latin typeface="Times New Roman" panose="02020603050405020304"/>
              <a:cs typeface="Times New Roman" panose="02020603050405020304"/>
            </a:endParaRPr>
          </a:p>
          <a:p>
            <a:pPr marL="527050" indent="-514350">
              <a:lnSpc>
                <a:spcPct val="100000"/>
              </a:lnSpc>
              <a:spcBef>
                <a:spcPts val="390"/>
              </a:spcBef>
              <a:buAutoNum type="arabicPeriod"/>
              <a:tabLst>
                <a:tab pos="527050" algn="l"/>
              </a:tabLst>
            </a:pPr>
            <a:r>
              <a:rPr sz="1800" spc="-10" dirty="0">
                <a:latin typeface="Times New Roman" panose="02020603050405020304"/>
                <a:cs typeface="Times New Roman" panose="02020603050405020304"/>
              </a:rPr>
              <a:t>Introduction</a:t>
            </a:r>
            <a:endParaRPr sz="1800">
              <a:latin typeface="Times New Roman" panose="02020603050405020304"/>
              <a:cs typeface="Times New Roman" panose="02020603050405020304"/>
            </a:endParaRPr>
          </a:p>
          <a:p>
            <a:pPr marL="527050" indent="-514350">
              <a:lnSpc>
                <a:spcPct val="100000"/>
              </a:lnSpc>
              <a:spcBef>
                <a:spcPts val="320"/>
              </a:spcBef>
              <a:buAutoNum type="arabicPeriod"/>
              <a:tabLst>
                <a:tab pos="527050" algn="l"/>
              </a:tabLst>
            </a:pPr>
            <a:r>
              <a:rPr sz="1800" dirty="0">
                <a:latin typeface="Times New Roman" panose="02020603050405020304"/>
                <a:cs typeface="Times New Roman" panose="02020603050405020304"/>
              </a:rPr>
              <a:t>Literature</a:t>
            </a:r>
            <a:r>
              <a:rPr sz="1800" spc="-10" dirty="0">
                <a:latin typeface="Times New Roman" panose="02020603050405020304"/>
                <a:cs typeface="Times New Roman" panose="02020603050405020304"/>
              </a:rPr>
              <a:t> Survey</a:t>
            </a:r>
            <a:endParaRPr sz="1800">
              <a:latin typeface="Times New Roman" panose="02020603050405020304"/>
              <a:cs typeface="Times New Roman" panose="02020603050405020304"/>
            </a:endParaRPr>
          </a:p>
          <a:p>
            <a:pPr marL="527050" indent="-514350">
              <a:lnSpc>
                <a:spcPct val="100000"/>
              </a:lnSpc>
              <a:spcBef>
                <a:spcPts val="395"/>
              </a:spcBef>
              <a:buAutoNum type="arabicPeriod"/>
              <a:tabLst>
                <a:tab pos="527050" algn="l"/>
              </a:tabLst>
            </a:pPr>
            <a:r>
              <a:rPr sz="1800" dirty="0">
                <a:latin typeface="Times New Roman" panose="02020603050405020304"/>
                <a:cs typeface="Times New Roman" panose="02020603050405020304"/>
              </a:rPr>
              <a:t>Research</a:t>
            </a:r>
            <a:r>
              <a:rPr sz="1800" spc="-40" dirty="0">
                <a:latin typeface="Times New Roman" panose="02020603050405020304"/>
                <a:cs typeface="Times New Roman" panose="02020603050405020304"/>
              </a:rPr>
              <a:t> </a:t>
            </a:r>
            <a:r>
              <a:rPr sz="1800" spc="-20" dirty="0">
                <a:latin typeface="Times New Roman" panose="02020603050405020304"/>
                <a:cs typeface="Times New Roman" panose="02020603050405020304"/>
              </a:rPr>
              <a:t>Gaps</a:t>
            </a:r>
            <a:endParaRPr sz="1800">
              <a:latin typeface="Times New Roman" panose="02020603050405020304"/>
              <a:cs typeface="Times New Roman" panose="02020603050405020304"/>
            </a:endParaRPr>
          </a:p>
          <a:p>
            <a:pPr marL="527050" indent="-514350">
              <a:lnSpc>
                <a:spcPct val="100000"/>
              </a:lnSpc>
              <a:spcBef>
                <a:spcPts val="320"/>
              </a:spcBef>
              <a:buAutoNum type="arabicPeriod"/>
              <a:tabLst>
                <a:tab pos="527050" algn="l"/>
              </a:tabLst>
            </a:pPr>
            <a:r>
              <a:rPr sz="1800" dirty="0">
                <a:latin typeface="Times New Roman" panose="02020603050405020304"/>
                <a:cs typeface="Times New Roman" panose="02020603050405020304"/>
              </a:rPr>
              <a:t>Problem</a:t>
            </a:r>
            <a:r>
              <a:rPr sz="1800" spc="-50"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Statement</a:t>
            </a:r>
            <a:endParaRPr sz="1800">
              <a:latin typeface="Times New Roman" panose="02020603050405020304"/>
              <a:cs typeface="Times New Roman" panose="02020603050405020304"/>
            </a:endParaRPr>
          </a:p>
          <a:p>
            <a:pPr marL="527050" indent="-514350">
              <a:lnSpc>
                <a:spcPct val="100000"/>
              </a:lnSpc>
              <a:spcBef>
                <a:spcPts val="390"/>
              </a:spcBef>
              <a:buAutoNum type="arabicPeriod"/>
              <a:tabLst>
                <a:tab pos="527050" algn="l"/>
              </a:tabLst>
            </a:pPr>
            <a:r>
              <a:rPr sz="1800" spc="-10" dirty="0">
                <a:latin typeface="Times New Roman" panose="02020603050405020304"/>
                <a:cs typeface="Times New Roman" panose="02020603050405020304"/>
              </a:rPr>
              <a:t>Objectives</a:t>
            </a:r>
            <a:endParaRPr sz="1800">
              <a:latin typeface="Times New Roman" panose="02020603050405020304"/>
              <a:cs typeface="Times New Roman" panose="02020603050405020304"/>
            </a:endParaRPr>
          </a:p>
          <a:p>
            <a:pPr marL="527050" indent="-514350">
              <a:lnSpc>
                <a:spcPct val="100000"/>
              </a:lnSpc>
              <a:spcBef>
                <a:spcPts val="320"/>
              </a:spcBef>
              <a:buAutoNum type="arabicPeriod"/>
              <a:tabLst>
                <a:tab pos="527050" algn="l"/>
              </a:tabLst>
            </a:pPr>
            <a:r>
              <a:rPr sz="1800" dirty="0">
                <a:latin typeface="Times New Roman" panose="02020603050405020304"/>
                <a:cs typeface="Times New Roman" panose="02020603050405020304"/>
              </a:rPr>
              <a:t>Block</a:t>
            </a:r>
            <a:r>
              <a:rPr sz="1800" spc="-10" dirty="0">
                <a:latin typeface="Times New Roman" panose="02020603050405020304"/>
                <a:cs typeface="Times New Roman" panose="02020603050405020304"/>
              </a:rPr>
              <a:t> </a:t>
            </a:r>
            <a:r>
              <a:rPr sz="1800" dirty="0">
                <a:latin typeface="Times New Roman" panose="02020603050405020304"/>
                <a:cs typeface="Times New Roman" panose="02020603050405020304"/>
              </a:rPr>
              <a:t>Diagram</a:t>
            </a:r>
            <a:r>
              <a:rPr sz="1800" spc="-55" dirty="0">
                <a:latin typeface="Times New Roman" panose="02020603050405020304"/>
                <a:cs typeface="Times New Roman" panose="02020603050405020304"/>
              </a:rPr>
              <a:t> </a:t>
            </a:r>
            <a:r>
              <a:rPr sz="1800" dirty="0">
                <a:latin typeface="Times New Roman" panose="02020603050405020304"/>
                <a:cs typeface="Times New Roman" panose="02020603050405020304"/>
              </a:rPr>
              <a:t>/</a:t>
            </a:r>
            <a:r>
              <a:rPr sz="1800" spc="10" dirty="0">
                <a:latin typeface="Times New Roman" panose="02020603050405020304"/>
                <a:cs typeface="Times New Roman" panose="02020603050405020304"/>
              </a:rPr>
              <a:t> </a:t>
            </a:r>
            <a:r>
              <a:rPr sz="1800" dirty="0">
                <a:latin typeface="Times New Roman" panose="02020603050405020304"/>
                <a:cs typeface="Times New Roman" panose="02020603050405020304"/>
              </a:rPr>
              <a:t>Flow</a:t>
            </a:r>
            <a:r>
              <a:rPr sz="1800" spc="-30"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Diagram</a:t>
            </a:r>
            <a:endParaRPr sz="1800">
              <a:latin typeface="Times New Roman" panose="02020603050405020304"/>
              <a:cs typeface="Times New Roman" panose="02020603050405020304"/>
            </a:endParaRPr>
          </a:p>
          <a:p>
            <a:pPr marL="527050" indent="-514350">
              <a:lnSpc>
                <a:spcPct val="100000"/>
              </a:lnSpc>
              <a:spcBef>
                <a:spcPts val="390"/>
              </a:spcBef>
              <a:buAutoNum type="arabicPeriod"/>
              <a:tabLst>
                <a:tab pos="527050" algn="l"/>
              </a:tabLst>
            </a:pPr>
            <a:r>
              <a:rPr sz="1800" spc="-10" dirty="0">
                <a:latin typeface="Times New Roman" panose="02020603050405020304"/>
                <a:cs typeface="Times New Roman" panose="02020603050405020304"/>
              </a:rPr>
              <a:t>Methodology</a:t>
            </a:r>
            <a:endParaRPr sz="1800">
              <a:latin typeface="Times New Roman" panose="02020603050405020304"/>
              <a:cs typeface="Times New Roman" panose="02020603050405020304"/>
            </a:endParaRPr>
          </a:p>
          <a:p>
            <a:pPr marL="527050" indent="-514350">
              <a:lnSpc>
                <a:spcPct val="100000"/>
              </a:lnSpc>
              <a:spcBef>
                <a:spcPts val="320"/>
              </a:spcBef>
              <a:buAutoNum type="arabicPeriod"/>
              <a:tabLst>
                <a:tab pos="527050" algn="l"/>
              </a:tabLst>
            </a:pPr>
            <a:r>
              <a:rPr sz="1800" spc="-10" dirty="0">
                <a:latin typeface="Times New Roman" panose="02020603050405020304"/>
                <a:cs typeface="Times New Roman" panose="02020603050405020304"/>
              </a:rPr>
              <a:t>Implementation</a:t>
            </a:r>
            <a:endParaRPr sz="1800">
              <a:latin typeface="Times New Roman" panose="02020603050405020304"/>
              <a:cs typeface="Times New Roman" panose="02020603050405020304"/>
            </a:endParaRPr>
          </a:p>
          <a:p>
            <a:pPr marL="527050" indent="-514350">
              <a:lnSpc>
                <a:spcPct val="100000"/>
              </a:lnSpc>
              <a:spcBef>
                <a:spcPts val="395"/>
              </a:spcBef>
              <a:buAutoNum type="arabicPeriod"/>
              <a:tabLst>
                <a:tab pos="527050" algn="l"/>
              </a:tabLst>
            </a:pPr>
            <a:r>
              <a:rPr sz="1800" dirty="0">
                <a:latin typeface="Times New Roman" panose="02020603050405020304"/>
                <a:cs typeface="Times New Roman" panose="02020603050405020304"/>
              </a:rPr>
              <a:t>Results</a:t>
            </a:r>
            <a:r>
              <a:rPr sz="1800" spc="10" dirty="0">
                <a:latin typeface="Times New Roman" panose="02020603050405020304"/>
                <a:cs typeface="Times New Roman" panose="02020603050405020304"/>
              </a:rPr>
              <a:t> </a:t>
            </a:r>
            <a:r>
              <a:rPr sz="1800" spc="-20" dirty="0">
                <a:latin typeface="Times New Roman" panose="02020603050405020304"/>
                <a:cs typeface="Times New Roman" panose="02020603050405020304"/>
              </a:rPr>
              <a:t>and</a:t>
            </a:r>
            <a:r>
              <a:rPr sz="1800" spc="-90"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Analysis</a:t>
            </a:r>
            <a:endParaRPr sz="1800">
              <a:latin typeface="Times New Roman" panose="02020603050405020304"/>
              <a:cs typeface="Times New Roman" panose="02020603050405020304"/>
            </a:endParaRPr>
          </a:p>
          <a:p>
            <a:pPr marL="527050" indent="-514350">
              <a:lnSpc>
                <a:spcPct val="100000"/>
              </a:lnSpc>
              <a:spcBef>
                <a:spcPts val="315"/>
              </a:spcBef>
              <a:buAutoNum type="arabicPeriod"/>
              <a:tabLst>
                <a:tab pos="527050" algn="l"/>
              </a:tabLst>
            </a:pPr>
            <a:r>
              <a:rPr sz="1800" dirty="0">
                <a:latin typeface="Times New Roman" panose="02020603050405020304"/>
                <a:cs typeface="Times New Roman" panose="02020603050405020304"/>
              </a:rPr>
              <a:t>Conclusion</a:t>
            </a:r>
            <a:r>
              <a:rPr sz="1800" spc="-20" dirty="0">
                <a:latin typeface="Times New Roman" panose="02020603050405020304"/>
                <a:cs typeface="Times New Roman" panose="02020603050405020304"/>
              </a:rPr>
              <a:t> </a:t>
            </a:r>
            <a:r>
              <a:rPr sz="1800" dirty="0">
                <a:latin typeface="Times New Roman" panose="02020603050405020304"/>
                <a:cs typeface="Times New Roman" panose="02020603050405020304"/>
              </a:rPr>
              <a:t>&amp;</a:t>
            </a:r>
            <a:r>
              <a:rPr sz="1800" spc="-5" dirty="0">
                <a:latin typeface="Times New Roman" panose="02020603050405020304"/>
                <a:cs typeface="Times New Roman" panose="02020603050405020304"/>
              </a:rPr>
              <a:t> </a:t>
            </a:r>
            <a:r>
              <a:rPr sz="1800" dirty="0">
                <a:latin typeface="Times New Roman" panose="02020603050405020304"/>
                <a:cs typeface="Times New Roman" panose="02020603050405020304"/>
              </a:rPr>
              <a:t>Future </a:t>
            </a:r>
            <a:r>
              <a:rPr sz="1800" spc="-20" dirty="0">
                <a:latin typeface="Times New Roman" panose="02020603050405020304"/>
                <a:cs typeface="Times New Roman" panose="02020603050405020304"/>
              </a:rPr>
              <a:t>Scope</a:t>
            </a:r>
            <a:endParaRPr sz="1800">
              <a:latin typeface="Times New Roman" panose="02020603050405020304"/>
              <a:cs typeface="Times New Roman" panose="02020603050405020304"/>
            </a:endParaRPr>
          </a:p>
          <a:p>
            <a:pPr marL="527050" indent="-514350">
              <a:lnSpc>
                <a:spcPct val="100000"/>
              </a:lnSpc>
              <a:spcBef>
                <a:spcPts val="400"/>
              </a:spcBef>
              <a:buAutoNum type="arabicPeriod"/>
              <a:tabLst>
                <a:tab pos="527050" algn="l"/>
              </a:tabLst>
            </a:pPr>
            <a:r>
              <a:rPr sz="1800" spc="-10" dirty="0">
                <a:latin typeface="Times New Roman" panose="02020603050405020304"/>
                <a:cs typeface="Times New Roman" panose="02020603050405020304"/>
              </a:rPr>
              <a:t>References</a:t>
            </a:r>
            <a:endParaRPr sz="1800">
              <a:latin typeface="Times New Roman" panose="02020603050405020304"/>
              <a:cs typeface="Times New Roman" panose="02020603050405020304"/>
            </a:endParaRPr>
          </a:p>
          <a:p>
            <a:pPr marL="527050" indent="-514350">
              <a:lnSpc>
                <a:spcPct val="100000"/>
              </a:lnSpc>
              <a:spcBef>
                <a:spcPts val="315"/>
              </a:spcBef>
              <a:buAutoNum type="arabicPeriod"/>
              <a:tabLst>
                <a:tab pos="527050" algn="l"/>
              </a:tabLst>
            </a:pPr>
            <a:r>
              <a:rPr sz="1800" dirty="0">
                <a:latin typeface="Times New Roman" panose="02020603050405020304"/>
                <a:cs typeface="Times New Roman" panose="02020603050405020304"/>
              </a:rPr>
              <a:t>Question </a:t>
            </a:r>
            <a:r>
              <a:rPr sz="1800" spc="-20" dirty="0">
                <a:latin typeface="Times New Roman" panose="02020603050405020304"/>
                <a:cs typeface="Times New Roman" panose="02020603050405020304"/>
              </a:rPr>
              <a:t>and</a:t>
            </a:r>
            <a:r>
              <a:rPr sz="1800" spc="-75"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Answers</a:t>
            </a:r>
            <a:endParaRPr sz="1800">
              <a:latin typeface="Times New Roman" panose="02020603050405020304"/>
              <a:cs typeface="Times New Roman" panose="02020603050405020304"/>
            </a:endParaRPr>
          </a:p>
          <a:p>
            <a:pPr marL="527050" indent="-514350">
              <a:lnSpc>
                <a:spcPct val="100000"/>
              </a:lnSpc>
              <a:spcBef>
                <a:spcPts val="395"/>
              </a:spcBef>
              <a:buAutoNum type="arabicPeriod"/>
              <a:tabLst>
                <a:tab pos="527050" algn="l"/>
              </a:tabLst>
            </a:pPr>
            <a:r>
              <a:rPr sz="1800" spc="-10" dirty="0">
                <a:latin typeface="Times New Roman" panose="02020603050405020304"/>
                <a:cs typeface="Times New Roman" panose="02020603050405020304"/>
              </a:rPr>
              <a:t>Acknowledgements</a:t>
            </a:r>
            <a:endParaRPr sz="1800">
              <a:latin typeface="Times New Roman" panose="02020603050405020304"/>
              <a:cs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3703320">
              <a:lnSpc>
                <a:spcPct val="100000"/>
              </a:lnSpc>
              <a:spcBef>
                <a:spcPts val="130"/>
              </a:spcBef>
            </a:pPr>
            <a:r>
              <a:rPr spc="-10" dirty="0"/>
              <a:t>ABSTRACT</a:t>
            </a:r>
            <a:endParaRPr spc="-10" dirty="0"/>
          </a:p>
        </p:txBody>
      </p:sp>
      <p:sp>
        <p:nvSpPr>
          <p:cNvPr id="4" name="object 4"/>
          <p:cNvSpPr txBox="1">
            <a:spLocks noGrp="1"/>
          </p:cNvSpPr>
          <p:nvPr>
            <p:ph type="dt" sz="half" idx="6"/>
          </p:nvPr>
        </p:nvSpPr>
        <p:spPr>
          <a:xfrm>
            <a:off x="917575" y="6451049"/>
            <a:ext cx="737235" cy="180340"/>
          </a:xfrm>
          <a:prstGeom prst="rect">
            <a:avLst/>
          </a:prstGeom>
        </p:spPr>
        <p:txBody>
          <a:bodyPr vert="horz" wrap="square" lIns="0" tIns="0" rIns="0" bIns="0" rtlCol="0">
            <a:spAutoFit/>
          </a:bodyPr>
          <a:lstStyle/>
          <a:p>
            <a:pPr marL="12700">
              <a:lnSpc>
                <a:spcPts val="1410"/>
              </a:lnSpc>
            </a:pPr>
            <a:endParaRPr spc="-2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panose="02020603050405020304"/>
                <a:cs typeface="Times New Roman" panose="02020603050405020304"/>
              </a:rPr>
              <a:t>Review</a:t>
            </a:r>
            <a:r>
              <a:rPr sz="1200" spc="-3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No.</a:t>
            </a:r>
            <a:endParaRPr sz="1200">
              <a:latin typeface="Times New Roman" panose="02020603050405020304"/>
              <a:cs typeface="Times New Roman" panose="02020603050405020304"/>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panose="02020603050405020304"/>
                <a:cs typeface="Times New Roman" panose="02020603050405020304"/>
              </a:rPr>
              <a:t>Department</a:t>
            </a:r>
            <a:r>
              <a:rPr sz="1200" spc="-30" dirty="0">
                <a:solidFill>
                  <a:srgbClr val="888888"/>
                </a:solidFill>
                <a:latin typeface="Times New Roman" panose="02020603050405020304"/>
                <a:cs typeface="Times New Roman" panose="02020603050405020304"/>
              </a:rPr>
              <a:t> </a:t>
            </a:r>
            <a:r>
              <a:rPr sz="1200" dirty="0">
                <a:solidFill>
                  <a:srgbClr val="888888"/>
                </a:solidFill>
                <a:latin typeface="Times New Roman" panose="02020603050405020304"/>
                <a:cs typeface="Times New Roman" panose="02020603050405020304"/>
              </a:rPr>
              <a:t>of</a:t>
            </a:r>
            <a:r>
              <a:rPr sz="1200" spc="5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CSE</a:t>
            </a:r>
            <a:endParaRPr sz="1200">
              <a:latin typeface="Times New Roman" panose="02020603050405020304"/>
              <a:cs typeface="Times New Roman" panose="02020603050405020304"/>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fld>
            <a:endParaRPr spc="-25" dirty="0"/>
          </a:p>
        </p:txBody>
      </p:sp>
      <p:sp>
        <p:nvSpPr>
          <p:cNvPr id="3" name="object 3"/>
          <p:cNvSpPr txBox="1"/>
          <p:nvPr/>
        </p:nvSpPr>
        <p:spPr>
          <a:xfrm>
            <a:off x="917576" y="1483468"/>
            <a:ext cx="10214212" cy="4079322"/>
          </a:xfrm>
          <a:prstGeom prst="rect">
            <a:avLst/>
          </a:prstGeom>
        </p:spPr>
        <p:txBody>
          <a:bodyPr vert="horz" wrap="square" lIns="0" tIns="16510" rIns="0" bIns="0" rtlCol="0">
            <a:spAutoFit/>
          </a:bodyPr>
          <a:lstStyle/>
          <a:p>
            <a:pPr marL="12700" algn="just">
              <a:lnSpc>
                <a:spcPct val="100000"/>
              </a:lnSpc>
              <a:spcBef>
                <a:spcPts val="130"/>
              </a:spcBef>
              <a:tabLst>
                <a:tab pos="241300" algn="l"/>
              </a:tabLst>
            </a:pPr>
            <a:r>
              <a:rPr lang="en-US" sz="2400" dirty="0"/>
              <a:t>Breast cancer remains a major health concern for women, where timely and accurate diagnosis is crucial. Ultrasound imaging is widely used due to its safety and low cost but is limited by speckle noise, low contrast, and tumor variability. This study proposes a </a:t>
            </a:r>
            <a:r>
              <a:rPr lang="en-US" sz="2400" b="1" dirty="0"/>
              <a:t>segmentation-guided deep learning framework</a:t>
            </a:r>
            <a:r>
              <a:rPr lang="en-US" sz="2400" dirty="0"/>
              <a:t> using a </a:t>
            </a:r>
            <a:r>
              <a:rPr lang="en-US" sz="2400" b="1" dirty="0"/>
              <a:t>U-Net++ model</a:t>
            </a:r>
            <a:r>
              <a:rPr lang="en-US" sz="2400" dirty="0"/>
              <a:t> for precise lesion localization, achieving </a:t>
            </a:r>
            <a:r>
              <a:rPr lang="en-US" sz="2400" b="1" dirty="0"/>
              <a:t>99.07% accuracy</a:t>
            </a:r>
            <a:r>
              <a:rPr lang="en-US" sz="2400" dirty="0"/>
              <a:t> with strong Dice and IOU scores. The generated segmentation masks guide a </a:t>
            </a:r>
            <a:r>
              <a:rPr lang="en-US" sz="2400" b="1" dirty="0"/>
              <a:t>CNN classifier</a:t>
            </a:r>
            <a:r>
              <a:rPr lang="en-US" sz="2400" dirty="0"/>
              <a:t> to distinguish benign from malignant tumors, enhancing interpretability and clinical reliability. The two-stage system shows practical utility for breast cancer diagnosis, especially in resource-limited settings, with potential for integration into clinical workflows for improved robustness.</a:t>
            </a:r>
            <a:endParaRPr lang="en-IN" sz="2400" dirty="0">
              <a:latin typeface="Times New Roman" panose="02020603050405020304"/>
              <a:cs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989580">
              <a:lnSpc>
                <a:spcPct val="100000"/>
              </a:lnSpc>
              <a:spcBef>
                <a:spcPts val="130"/>
              </a:spcBef>
            </a:pPr>
            <a:r>
              <a:rPr spc="-10" dirty="0"/>
              <a:t>INTRODUCTION</a:t>
            </a:r>
            <a:endParaRPr spc="-10" dirty="0"/>
          </a:p>
        </p:txBody>
      </p:sp>
      <p:sp>
        <p:nvSpPr>
          <p:cNvPr id="4" name="object 4"/>
          <p:cNvSpPr txBox="1">
            <a:spLocks noGrp="1"/>
          </p:cNvSpPr>
          <p:nvPr>
            <p:ph type="dt" sz="half" idx="6"/>
          </p:nvPr>
        </p:nvSpPr>
        <p:spPr>
          <a:xfrm>
            <a:off x="917575" y="6451049"/>
            <a:ext cx="737235" cy="180340"/>
          </a:xfrm>
          <a:prstGeom prst="rect">
            <a:avLst/>
          </a:prstGeom>
        </p:spPr>
        <p:txBody>
          <a:bodyPr vert="horz" wrap="square" lIns="0" tIns="0" rIns="0" bIns="0" rtlCol="0">
            <a:spAutoFit/>
          </a:bodyPr>
          <a:lstStyle/>
          <a:p>
            <a:pPr marL="12700">
              <a:lnSpc>
                <a:spcPts val="1410"/>
              </a:lnSpc>
            </a:pPr>
            <a:endParaRPr spc="-2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panose="02020603050405020304"/>
                <a:cs typeface="Times New Roman" panose="02020603050405020304"/>
              </a:rPr>
              <a:t>Review</a:t>
            </a:r>
            <a:r>
              <a:rPr sz="1200" spc="-3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No.</a:t>
            </a:r>
            <a:endParaRPr sz="1200">
              <a:latin typeface="Times New Roman" panose="02020603050405020304"/>
              <a:cs typeface="Times New Roman" panose="02020603050405020304"/>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panose="02020603050405020304"/>
                <a:cs typeface="Times New Roman" panose="02020603050405020304"/>
              </a:rPr>
              <a:t>Department</a:t>
            </a:r>
            <a:r>
              <a:rPr sz="1200" spc="-30" dirty="0">
                <a:solidFill>
                  <a:srgbClr val="888888"/>
                </a:solidFill>
                <a:latin typeface="Times New Roman" panose="02020603050405020304"/>
                <a:cs typeface="Times New Roman" panose="02020603050405020304"/>
              </a:rPr>
              <a:t> </a:t>
            </a:r>
            <a:r>
              <a:rPr sz="1200" dirty="0">
                <a:solidFill>
                  <a:srgbClr val="888888"/>
                </a:solidFill>
                <a:latin typeface="Times New Roman" panose="02020603050405020304"/>
                <a:cs typeface="Times New Roman" panose="02020603050405020304"/>
              </a:rPr>
              <a:t>of</a:t>
            </a:r>
            <a:r>
              <a:rPr sz="1200" spc="5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CSE</a:t>
            </a:r>
            <a:endParaRPr sz="1200">
              <a:latin typeface="Times New Roman" panose="02020603050405020304"/>
              <a:cs typeface="Times New Roman" panose="02020603050405020304"/>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fld>
            <a:endParaRPr spc="-25" dirty="0"/>
          </a:p>
        </p:txBody>
      </p:sp>
      <p:sp>
        <p:nvSpPr>
          <p:cNvPr id="3" name="object 3"/>
          <p:cNvSpPr txBox="1"/>
          <p:nvPr/>
        </p:nvSpPr>
        <p:spPr>
          <a:xfrm>
            <a:off x="917574" y="1730872"/>
            <a:ext cx="10588625" cy="946413"/>
          </a:xfrm>
          <a:prstGeom prst="rect">
            <a:avLst/>
          </a:prstGeom>
        </p:spPr>
        <p:txBody>
          <a:bodyPr vert="horz" wrap="square" lIns="0" tIns="99060" rIns="0" bIns="0" rtlCol="0">
            <a:spAutoFit/>
          </a:bodyPr>
          <a:lstStyle/>
          <a:p>
            <a:br>
              <a:rPr lang="en-US" sz="2800" dirty="0"/>
            </a:br>
            <a:endParaRPr lang="en-US" sz="2750" dirty="0">
              <a:latin typeface="Times New Roman" panose="02020603050405020304"/>
              <a:cs typeface="Times New Roman" panose="02020603050405020304"/>
            </a:endParaRPr>
          </a:p>
        </p:txBody>
      </p:sp>
      <p:sp>
        <p:nvSpPr>
          <p:cNvPr id="9" name="TextBox 8"/>
          <p:cNvSpPr txBox="1"/>
          <p:nvPr/>
        </p:nvSpPr>
        <p:spPr>
          <a:xfrm>
            <a:off x="917574" y="1981200"/>
            <a:ext cx="10402952" cy="3323987"/>
          </a:xfrm>
          <a:prstGeom prst="rect">
            <a:avLst/>
          </a:prstGeom>
          <a:noFill/>
        </p:spPr>
        <p:txBody>
          <a:bodyPr wrap="square" rtlCol="0">
            <a:spAutoFit/>
          </a:bodyPr>
          <a:lstStyle/>
          <a:p>
            <a:pPr marL="285750" indent="-285750" algn="just">
              <a:buFont typeface="Arial" panose="020B0604020202020204" pitchFamily="34" charset="0"/>
              <a:buChar char="•"/>
            </a:pPr>
            <a:r>
              <a:rPr lang="en-US" sz="2400" dirty="0">
                <a:latin typeface="Times New Roman" panose="02020603050405020304" charset="0"/>
                <a:cs typeface="Times New Roman" panose="02020603050405020304" charset="0"/>
              </a:rPr>
              <a:t>Breast cancer is a major health concern requiring early and accurate detection.</a:t>
            </a:r>
            <a:endParaRPr lang="en-US" sz="2400" dirty="0">
              <a:latin typeface="Times New Roman" panose="02020603050405020304" charset="0"/>
              <a:cs typeface="Times New Roman" panose="02020603050405020304" charset="0"/>
            </a:endParaRPr>
          </a:p>
          <a:p>
            <a:pPr marL="285750" indent="-285750" algn="just">
              <a:buFont typeface="Arial" panose="020B0604020202020204" pitchFamily="34" charset="0"/>
              <a:buChar char="•"/>
            </a:pPr>
            <a:r>
              <a:rPr lang="en-US" sz="2400" dirty="0">
                <a:latin typeface="Times New Roman" panose="02020603050405020304" charset="0"/>
                <a:cs typeface="Times New Roman" panose="02020603050405020304" charset="0"/>
              </a:rPr>
              <a:t>Ultrasound imaging is preferred for being </a:t>
            </a:r>
            <a:r>
              <a:rPr lang="en-US" sz="2400" b="1" dirty="0">
                <a:latin typeface="Times New Roman" panose="02020603050405020304" charset="0"/>
                <a:cs typeface="Times New Roman" panose="02020603050405020304" charset="0"/>
              </a:rPr>
              <a:t>safe, affordable, and widely accessible</a:t>
            </a:r>
            <a:r>
              <a:rPr lang="en-US" sz="2400" dirty="0">
                <a:latin typeface="Times New Roman" panose="02020603050405020304" charset="0"/>
                <a:cs typeface="Times New Roman" panose="02020603050405020304" charset="0"/>
              </a:rPr>
              <a:t>.</a:t>
            </a:r>
            <a:endParaRPr lang="en-US" sz="2400" dirty="0">
              <a:latin typeface="Times New Roman" panose="02020603050405020304" charset="0"/>
              <a:cs typeface="Times New Roman" panose="02020603050405020304" charset="0"/>
            </a:endParaRPr>
          </a:p>
          <a:p>
            <a:pPr marL="285750" indent="-285750" algn="just">
              <a:buFont typeface="Arial" panose="020B0604020202020204" pitchFamily="34" charset="0"/>
              <a:buChar char="•"/>
            </a:pPr>
            <a:r>
              <a:rPr lang="en-US" sz="2400" dirty="0">
                <a:latin typeface="Times New Roman" panose="02020603050405020304" charset="0"/>
                <a:cs typeface="Times New Roman" panose="02020603050405020304" charset="0"/>
              </a:rPr>
              <a:t>Manual diagnosis is often inconsistent due to </a:t>
            </a:r>
            <a:r>
              <a:rPr lang="en-US" sz="2400" b="1" dirty="0">
                <a:latin typeface="Times New Roman" panose="02020603050405020304" charset="0"/>
                <a:cs typeface="Times New Roman" panose="02020603050405020304" charset="0"/>
              </a:rPr>
              <a:t>noise and low contrast</a:t>
            </a:r>
            <a:r>
              <a:rPr lang="en-US" sz="2400" dirty="0">
                <a:latin typeface="Times New Roman" panose="02020603050405020304" charset="0"/>
                <a:cs typeface="Times New Roman" panose="02020603050405020304" charset="0"/>
              </a:rPr>
              <a:t> in scans.</a:t>
            </a:r>
            <a:endParaRPr lang="en-US" sz="2400" dirty="0">
              <a:latin typeface="Times New Roman" panose="02020603050405020304" charset="0"/>
              <a:cs typeface="Times New Roman" panose="02020603050405020304" charset="0"/>
            </a:endParaRPr>
          </a:p>
          <a:p>
            <a:pPr marL="285750" indent="-285750" algn="just">
              <a:buFont typeface="Arial" panose="020B0604020202020204" pitchFamily="34" charset="0"/>
              <a:buChar char="•"/>
            </a:pPr>
            <a:r>
              <a:rPr lang="en-US" sz="2400" dirty="0">
                <a:latin typeface="Times New Roman" panose="02020603050405020304" charset="0"/>
                <a:cs typeface="Times New Roman" panose="02020603050405020304" charset="0"/>
              </a:rPr>
              <a:t>This project proposes a </a:t>
            </a:r>
            <a:r>
              <a:rPr lang="en-US" sz="2400" b="1" dirty="0">
                <a:latin typeface="Times New Roman" panose="02020603050405020304" charset="0"/>
                <a:cs typeface="Times New Roman" panose="02020603050405020304" charset="0"/>
              </a:rPr>
              <a:t>segmentation-guided deep learning framework</a:t>
            </a:r>
            <a:r>
              <a:rPr lang="en-US" sz="2400" dirty="0">
                <a:latin typeface="Times New Roman" panose="02020603050405020304" charset="0"/>
                <a:cs typeface="Times New Roman" panose="02020603050405020304" charset="0"/>
              </a:rPr>
              <a:t> to automate diagnosis.</a:t>
            </a:r>
            <a:endParaRPr lang="en-US" sz="2400" dirty="0">
              <a:latin typeface="Times New Roman" panose="02020603050405020304" charset="0"/>
              <a:cs typeface="Times New Roman" panose="02020603050405020304" charset="0"/>
            </a:endParaRPr>
          </a:p>
          <a:p>
            <a:pPr marL="285750" indent="-285750" algn="just">
              <a:buFont typeface="Arial" panose="020B0604020202020204" pitchFamily="34" charset="0"/>
              <a:buChar char="•"/>
            </a:pPr>
            <a:r>
              <a:rPr lang="en-US" sz="2400" dirty="0">
                <a:latin typeface="Times New Roman" panose="02020603050405020304" charset="0"/>
                <a:cs typeface="Times New Roman" panose="02020603050405020304" charset="0"/>
              </a:rPr>
              <a:t>The model uses </a:t>
            </a:r>
            <a:r>
              <a:rPr lang="en-US" sz="2400" b="1" dirty="0">
                <a:latin typeface="Times New Roman" panose="02020603050405020304" charset="0"/>
                <a:cs typeface="Times New Roman" panose="02020603050405020304" charset="0"/>
              </a:rPr>
              <a:t>U-Net++ for tumor segmentation</a:t>
            </a:r>
            <a:r>
              <a:rPr lang="en-US" sz="2400" dirty="0">
                <a:latin typeface="Times New Roman" panose="02020603050405020304" charset="0"/>
                <a:cs typeface="Times New Roman" panose="02020603050405020304" charset="0"/>
              </a:rPr>
              <a:t> and </a:t>
            </a:r>
            <a:r>
              <a:rPr lang="en-US" sz="2400" b="1" dirty="0">
                <a:latin typeface="Times New Roman" panose="02020603050405020304" charset="0"/>
                <a:cs typeface="Times New Roman" panose="02020603050405020304" charset="0"/>
              </a:rPr>
              <a:t>CNN for classification</a:t>
            </a:r>
            <a:r>
              <a:rPr lang="en-US" sz="2400" dirty="0">
                <a:latin typeface="Times New Roman" panose="02020603050405020304" charset="0"/>
                <a:cs typeface="Times New Roman" panose="02020603050405020304" charset="0"/>
              </a:rPr>
              <a:t>, achieving </a:t>
            </a:r>
            <a:r>
              <a:rPr lang="en-US" sz="2400" b="1" dirty="0">
                <a:latin typeface="Times New Roman" panose="02020603050405020304" charset="0"/>
                <a:cs typeface="Times New Roman" panose="02020603050405020304" charset="0"/>
              </a:rPr>
              <a:t>99.07% accuracy</a:t>
            </a:r>
            <a:r>
              <a:rPr lang="en-US" sz="2400" dirty="0">
                <a:latin typeface="Times New Roman" panose="02020603050405020304" charset="0"/>
                <a:cs typeface="Times New Roman" panose="02020603050405020304" charset="0"/>
              </a:rPr>
              <a:t> on the BUSI dataset.</a:t>
            </a:r>
            <a:endParaRPr lang="en-US" sz="2400" dirty="0">
              <a:latin typeface="Times New Roman" panose="02020603050405020304" charset="0"/>
              <a:cs typeface="Times New Roman" panose="02020603050405020304" charset="0"/>
            </a:endParaRPr>
          </a:p>
          <a:p>
            <a:pPr marL="285750" indent="-285750">
              <a:buFont typeface="Arial" panose="020B0604020202020204" pitchFamily="34" charset="0"/>
              <a:buChar char="•"/>
            </a:pP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6800" y="283463"/>
            <a:ext cx="12213335" cy="1619673"/>
          </a:xfrm>
          <a:prstGeom prst="rect">
            <a:avLst/>
          </a:prstGeom>
        </p:spPr>
        <p:txBody>
          <a:bodyPr vert="horz" wrap="square" lIns="0" tIns="262889" rIns="0" bIns="0" rtlCol="0">
            <a:spAutoFit/>
          </a:bodyPr>
          <a:lstStyle/>
          <a:p>
            <a:pPr marL="2989580">
              <a:spcBef>
                <a:spcPts val="130"/>
              </a:spcBef>
            </a:pPr>
            <a:r>
              <a:rPr lang="en-IN" dirty="0"/>
              <a:t>MOTIVATION &amp; RELEVANCE</a:t>
            </a:r>
            <a:br>
              <a:rPr lang="en-IN" dirty="0"/>
            </a:br>
            <a:endParaRPr spc="-10" dirty="0"/>
          </a:p>
        </p:txBody>
      </p:sp>
      <p:sp>
        <p:nvSpPr>
          <p:cNvPr id="4" name="object 4"/>
          <p:cNvSpPr txBox="1">
            <a:spLocks noGrp="1"/>
          </p:cNvSpPr>
          <p:nvPr>
            <p:ph type="dt" sz="half" idx="6"/>
          </p:nvPr>
        </p:nvSpPr>
        <p:spPr>
          <a:xfrm>
            <a:off x="917575" y="6451049"/>
            <a:ext cx="737235" cy="180340"/>
          </a:xfrm>
          <a:prstGeom prst="rect">
            <a:avLst/>
          </a:prstGeom>
        </p:spPr>
        <p:txBody>
          <a:bodyPr vert="horz" wrap="square" lIns="0" tIns="0" rIns="0" bIns="0" rtlCol="0">
            <a:spAutoFit/>
          </a:bodyPr>
          <a:lstStyle/>
          <a:p>
            <a:pPr marL="12700">
              <a:lnSpc>
                <a:spcPts val="1410"/>
              </a:lnSpc>
            </a:pPr>
            <a:endParaRPr spc="-2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panose="02020603050405020304"/>
                <a:cs typeface="Times New Roman" panose="02020603050405020304"/>
              </a:rPr>
              <a:t>Review</a:t>
            </a:r>
            <a:r>
              <a:rPr sz="1200" spc="-3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No.</a:t>
            </a:r>
            <a:endParaRPr sz="1200">
              <a:latin typeface="Times New Roman" panose="02020603050405020304"/>
              <a:cs typeface="Times New Roman" panose="02020603050405020304"/>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panose="02020603050405020304"/>
                <a:cs typeface="Times New Roman" panose="02020603050405020304"/>
              </a:rPr>
              <a:t>Department</a:t>
            </a:r>
            <a:r>
              <a:rPr sz="1200" spc="-30" dirty="0">
                <a:solidFill>
                  <a:srgbClr val="888888"/>
                </a:solidFill>
                <a:latin typeface="Times New Roman" panose="02020603050405020304"/>
                <a:cs typeface="Times New Roman" panose="02020603050405020304"/>
              </a:rPr>
              <a:t> </a:t>
            </a:r>
            <a:r>
              <a:rPr sz="1200" dirty="0">
                <a:solidFill>
                  <a:srgbClr val="888888"/>
                </a:solidFill>
                <a:latin typeface="Times New Roman" panose="02020603050405020304"/>
                <a:cs typeface="Times New Roman" panose="02020603050405020304"/>
              </a:rPr>
              <a:t>of</a:t>
            </a:r>
            <a:r>
              <a:rPr sz="1200" spc="5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CSE</a:t>
            </a:r>
            <a:endParaRPr sz="1200">
              <a:latin typeface="Times New Roman" panose="02020603050405020304"/>
              <a:cs typeface="Times New Roman" panose="02020603050405020304"/>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fld>
            <a:endParaRPr spc="-25" dirty="0"/>
          </a:p>
        </p:txBody>
      </p:sp>
      <p:sp>
        <p:nvSpPr>
          <p:cNvPr id="3" name="object 3"/>
          <p:cNvSpPr txBox="1"/>
          <p:nvPr/>
        </p:nvSpPr>
        <p:spPr>
          <a:xfrm>
            <a:off x="917574" y="1730872"/>
            <a:ext cx="10588625" cy="946413"/>
          </a:xfrm>
          <a:prstGeom prst="rect">
            <a:avLst/>
          </a:prstGeom>
        </p:spPr>
        <p:txBody>
          <a:bodyPr vert="horz" wrap="square" lIns="0" tIns="99060" rIns="0" bIns="0" rtlCol="0">
            <a:spAutoFit/>
          </a:bodyPr>
          <a:lstStyle/>
          <a:p>
            <a:br>
              <a:rPr lang="en-US" sz="2800" dirty="0"/>
            </a:br>
            <a:endParaRPr lang="en-US" sz="2750" dirty="0">
              <a:latin typeface="Times New Roman" panose="02020603050405020304"/>
              <a:cs typeface="Times New Roman" panose="02020603050405020304"/>
            </a:endParaRPr>
          </a:p>
        </p:txBody>
      </p:sp>
      <p:sp>
        <p:nvSpPr>
          <p:cNvPr id="9" name="TextBox 8"/>
          <p:cNvSpPr txBox="1"/>
          <p:nvPr/>
        </p:nvSpPr>
        <p:spPr>
          <a:xfrm>
            <a:off x="917574" y="1981200"/>
            <a:ext cx="10402952" cy="2954655"/>
          </a:xfrm>
          <a:prstGeom prst="rect">
            <a:avLst/>
          </a:prstGeom>
          <a:noFill/>
        </p:spPr>
        <p:txBody>
          <a:bodyPr wrap="square" rtlCol="0">
            <a:spAutoFit/>
          </a:bodyPr>
          <a:lstStyle/>
          <a:p>
            <a:pPr marL="285750" indent="-285750" algn="just">
              <a:buFont typeface="Arial" panose="020B0604020202020204" pitchFamily="34" charset="0"/>
              <a:buChar char="•"/>
            </a:pPr>
            <a:r>
              <a:rPr lang="en-US" sz="2400" dirty="0">
                <a:latin typeface="Times New Roman" panose="02020603050405020304" charset="0"/>
                <a:cs typeface="Times New Roman" panose="02020603050405020304" charset="0"/>
              </a:rPr>
              <a:t>Existing models struggle with precise lesion localization and interpretability.</a:t>
            </a:r>
            <a:endParaRPr lang="en-US" sz="2400" dirty="0">
              <a:latin typeface="Times New Roman" panose="02020603050405020304" charset="0"/>
              <a:cs typeface="Times New Roman" panose="02020603050405020304" charset="0"/>
            </a:endParaRPr>
          </a:p>
          <a:p>
            <a:pPr marL="285750" indent="-285750" algn="just">
              <a:buFont typeface="Arial" panose="020B0604020202020204" pitchFamily="34" charset="0"/>
              <a:buChar char="•"/>
            </a:pPr>
            <a:r>
              <a:rPr lang="en-US" sz="2400" dirty="0">
                <a:latin typeface="Times New Roman" panose="02020603050405020304" charset="0"/>
                <a:cs typeface="Times New Roman" panose="02020603050405020304" charset="0"/>
              </a:rPr>
              <a:t>The proposed system focuses on </a:t>
            </a:r>
            <a:r>
              <a:rPr lang="en-US" sz="2400" b="1" dirty="0">
                <a:latin typeface="Times New Roman" panose="02020603050405020304" charset="0"/>
                <a:cs typeface="Times New Roman" panose="02020603050405020304" charset="0"/>
              </a:rPr>
              <a:t>region-aware learning</a:t>
            </a:r>
            <a:r>
              <a:rPr lang="en-US" sz="2400" dirty="0">
                <a:latin typeface="Times New Roman" panose="02020603050405020304" charset="0"/>
                <a:cs typeface="Times New Roman" panose="02020603050405020304" charset="0"/>
              </a:rPr>
              <a:t>, mimicking how radiologists analyze scans.</a:t>
            </a:r>
            <a:endParaRPr lang="en-US" sz="2400" dirty="0">
              <a:latin typeface="Times New Roman" panose="02020603050405020304" charset="0"/>
              <a:cs typeface="Times New Roman" panose="02020603050405020304" charset="0"/>
            </a:endParaRPr>
          </a:p>
          <a:p>
            <a:pPr marL="285750" indent="-285750" algn="just">
              <a:buFont typeface="Arial" panose="020B0604020202020204" pitchFamily="34" charset="0"/>
              <a:buChar char="•"/>
            </a:pPr>
            <a:r>
              <a:rPr lang="en-US" sz="2400" dirty="0">
                <a:latin typeface="Times New Roman" panose="02020603050405020304" charset="0"/>
                <a:cs typeface="Times New Roman" panose="02020603050405020304" charset="0"/>
              </a:rPr>
              <a:t>Enhances </a:t>
            </a:r>
            <a:r>
              <a:rPr lang="en-US" sz="2400" b="1" dirty="0">
                <a:latin typeface="Times New Roman" panose="02020603050405020304" charset="0"/>
                <a:cs typeface="Times New Roman" panose="02020603050405020304" charset="0"/>
              </a:rPr>
              <a:t>diagnostic transparency and reliability</a:t>
            </a:r>
            <a:r>
              <a:rPr lang="en-US" sz="2400" dirty="0">
                <a:latin typeface="Times New Roman" panose="02020603050405020304" charset="0"/>
                <a:cs typeface="Times New Roman" panose="02020603050405020304" charset="0"/>
              </a:rPr>
              <a:t> in ultrasound-based detection.</a:t>
            </a:r>
            <a:endParaRPr lang="en-US" sz="2400" dirty="0">
              <a:latin typeface="Times New Roman" panose="02020603050405020304" charset="0"/>
              <a:cs typeface="Times New Roman" panose="02020603050405020304" charset="0"/>
            </a:endParaRPr>
          </a:p>
          <a:p>
            <a:pPr marL="285750" indent="-285750" algn="just">
              <a:buFont typeface="Arial" panose="020B0604020202020204" pitchFamily="34" charset="0"/>
              <a:buChar char="•"/>
            </a:pPr>
            <a:r>
              <a:rPr lang="en-US" sz="2400" dirty="0">
                <a:latin typeface="Times New Roman" panose="02020603050405020304" charset="0"/>
                <a:cs typeface="Times New Roman" panose="02020603050405020304" charset="0"/>
              </a:rPr>
              <a:t>Designed for </a:t>
            </a:r>
            <a:r>
              <a:rPr lang="en-US" sz="2400" b="1" dirty="0">
                <a:latin typeface="Times New Roman" panose="02020603050405020304" charset="0"/>
                <a:cs typeface="Times New Roman" panose="02020603050405020304" charset="0"/>
              </a:rPr>
              <a:t>resource-limited clinical environments</a:t>
            </a:r>
            <a:r>
              <a:rPr lang="en-US" sz="2400" dirty="0">
                <a:latin typeface="Times New Roman" panose="02020603050405020304" charset="0"/>
                <a:cs typeface="Times New Roman" panose="02020603050405020304" charset="0"/>
              </a:rPr>
              <a:t>, supporting early and accurate breast cancer screening.</a:t>
            </a:r>
            <a:endParaRPr lang="en-US" sz="2400" dirty="0">
              <a:latin typeface="Times New Roman" panose="02020603050405020304" charset="0"/>
              <a:cs typeface="Times New Roman" panose="02020603050405020304" charset="0"/>
            </a:endParaRPr>
          </a:p>
          <a:p>
            <a:pPr marL="285750" indent="-285750" algn="just">
              <a:buFont typeface="Arial" panose="020B0604020202020204" pitchFamily="34" charset="0"/>
              <a:buChar char="•"/>
            </a:pP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99865" y="283463"/>
            <a:ext cx="5544820" cy="632460"/>
          </a:xfrm>
          <a:prstGeom prst="rect">
            <a:avLst/>
          </a:prstGeom>
        </p:spPr>
        <p:txBody>
          <a:bodyPr vert="horz" wrap="square" lIns="0" tIns="16510" rIns="0" bIns="0" rtlCol="0">
            <a:spAutoFit/>
          </a:bodyPr>
          <a:lstStyle/>
          <a:p>
            <a:pPr marL="12700">
              <a:lnSpc>
                <a:spcPct val="100000"/>
              </a:lnSpc>
              <a:spcBef>
                <a:spcPts val="130"/>
              </a:spcBef>
            </a:pPr>
            <a:r>
              <a:rPr sz="3950" dirty="0"/>
              <a:t>LITERATURE</a:t>
            </a:r>
            <a:r>
              <a:rPr sz="3950" spc="-185" dirty="0"/>
              <a:t> </a:t>
            </a:r>
            <a:r>
              <a:rPr sz="3950" spc="-10" dirty="0"/>
              <a:t>SURVEY</a:t>
            </a:r>
            <a:endParaRPr sz="3950" dirty="0"/>
          </a:p>
        </p:txBody>
      </p:sp>
      <p:sp>
        <p:nvSpPr>
          <p:cNvPr id="4" name="object 4"/>
          <p:cNvSpPr txBox="1">
            <a:spLocks noGrp="1"/>
          </p:cNvSpPr>
          <p:nvPr>
            <p:ph type="dt" sz="half" idx="6"/>
          </p:nvPr>
        </p:nvSpPr>
        <p:spPr>
          <a:xfrm>
            <a:off x="917575" y="6451049"/>
            <a:ext cx="737235" cy="180340"/>
          </a:xfrm>
          <a:prstGeom prst="rect">
            <a:avLst/>
          </a:prstGeom>
        </p:spPr>
        <p:txBody>
          <a:bodyPr vert="horz" wrap="square" lIns="0" tIns="0" rIns="0" bIns="0" rtlCol="0">
            <a:spAutoFit/>
          </a:bodyPr>
          <a:lstStyle/>
          <a:p>
            <a:pPr marL="12700">
              <a:lnSpc>
                <a:spcPts val="1410"/>
              </a:lnSpc>
            </a:pPr>
            <a:endParaRPr spc="-2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panose="02020603050405020304"/>
                <a:cs typeface="Times New Roman" panose="02020603050405020304"/>
              </a:rPr>
              <a:t>Review</a:t>
            </a:r>
            <a:r>
              <a:rPr sz="1200" spc="-3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No.</a:t>
            </a:r>
            <a:endParaRPr sz="1200">
              <a:latin typeface="Times New Roman" panose="02020603050405020304"/>
              <a:cs typeface="Times New Roman" panose="02020603050405020304"/>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panose="02020603050405020304"/>
                <a:cs typeface="Times New Roman" panose="02020603050405020304"/>
              </a:rPr>
              <a:t>Department</a:t>
            </a:r>
            <a:r>
              <a:rPr sz="1200" spc="-30" dirty="0">
                <a:solidFill>
                  <a:srgbClr val="888888"/>
                </a:solidFill>
                <a:latin typeface="Times New Roman" panose="02020603050405020304"/>
                <a:cs typeface="Times New Roman" panose="02020603050405020304"/>
              </a:rPr>
              <a:t> </a:t>
            </a:r>
            <a:r>
              <a:rPr sz="1200" dirty="0">
                <a:solidFill>
                  <a:srgbClr val="888888"/>
                </a:solidFill>
                <a:latin typeface="Times New Roman" panose="02020603050405020304"/>
                <a:cs typeface="Times New Roman" panose="02020603050405020304"/>
              </a:rPr>
              <a:t>of</a:t>
            </a:r>
            <a:r>
              <a:rPr sz="1200" spc="5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CSE</a:t>
            </a:r>
            <a:endParaRPr sz="1200">
              <a:latin typeface="Times New Roman" panose="02020603050405020304"/>
              <a:cs typeface="Times New Roman" panose="02020603050405020304"/>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fld>
            <a:endParaRPr spc="-25" dirty="0"/>
          </a:p>
        </p:txBody>
      </p:sp>
      <p:graphicFrame>
        <p:nvGraphicFramePr>
          <p:cNvPr id="3" name="object 3"/>
          <p:cNvGraphicFramePr>
            <a:graphicFrameLocks noGrp="1"/>
          </p:cNvGraphicFramePr>
          <p:nvPr/>
        </p:nvGraphicFramePr>
        <p:xfrm>
          <a:off x="685800" y="1219200"/>
          <a:ext cx="10896601" cy="5063460"/>
        </p:xfrm>
        <a:graphic>
          <a:graphicData uri="http://schemas.openxmlformats.org/drawingml/2006/table">
            <a:tbl>
              <a:tblPr firstRow="1" bandRow="1">
                <a:tableStyleId>{2D5ABB26-0587-4C30-8999-92F81FD0307C}</a:tableStyleId>
              </a:tblPr>
              <a:tblGrid>
                <a:gridCol w="612470"/>
                <a:gridCol w="1956964"/>
                <a:gridCol w="1630909"/>
                <a:gridCol w="1682695"/>
                <a:gridCol w="1900065"/>
                <a:gridCol w="1556749"/>
                <a:gridCol w="1556749"/>
              </a:tblGrid>
              <a:tr h="498379">
                <a:tc>
                  <a:txBody>
                    <a:bodyPr/>
                    <a:lstStyle/>
                    <a:p>
                      <a:pPr marL="182880">
                        <a:lnSpc>
                          <a:spcPct val="100000"/>
                        </a:lnSpc>
                        <a:spcBef>
                          <a:spcPts val="325"/>
                        </a:spcBef>
                      </a:pPr>
                      <a:r>
                        <a:rPr lang="en-IN" sz="1550" b="1" spc="-25" dirty="0">
                          <a:latin typeface="Calibri" panose="020F0502020204030204"/>
                          <a:cs typeface="Calibri" panose="020F0502020204030204"/>
                        </a:rPr>
                        <a:t>No</a:t>
                      </a:r>
                      <a:endParaRPr lang="en-IN" sz="1550" dirty="0">
                        <a:latin typeface="Calibri" panose="020F0502020204030204"/>
                        <a:cs typeface="Calibri" panose="020F0502020204030204"/>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635" algn="ctr">
                        <a:lnSpc>
                          <a:spcPct val="100000"/>
                        </a:lnSpc>
                        <a:spcBef>
                          <a:spcPts val="325"/>
                        </a:spcBef>
                      </a:pPr>
                      <a:r>
                        <a:rPr sz="1550" b="1" spc="-10" dirty="0">
                          <a:latin typeface="Calibri" panose="020F0502020204030204"/>
                          <a:cs typeface="Calibri" panose="020F0502020204030204"/>
                        </a:rPr>
                        <a:t>Title</a:t>
                      </a:r>
                      <a:endParaRPr sz="1550">
                        <a:latin typeface="Calibri" panose="020F0502020204030204"/>
                        <a:cs typeface="Calibri" panose="020F0502020204030204"/>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514985">
                        <a:lnSpc>
                          <a:spcPct val="100000"/>
                        </a:lnSpc>
                        <a:spcBef>
                          <a:spcPts val="325"/>
                        </a:spcBef>
                      </a:pPr>
                      <a:r>
                        <a:rPr sz="1550" b="1" spc="-10" dirty="0">
                          <a:latin typeface="Calibri" panose="020F0502020204030204"/>
                          <a:cs typeface="Calibri" panose="020F0502020204030204"/>
                        </a:rPr>
                        <a:t>Author</a:t>
                      </a:r>
                      <a:endParaRPr sz="1550">
                        <a:latin typeface="Calibri" panose="020F0502020204030204"/>
                        <a:cs typeface="Calibri" panose="020F0502020204030204"/>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657225" marR="147955" indent="-494665">
                        <a:lnSpc>
                          <a:spcPct val="105000"/>
                        </a:lnSpc>
                        <a:spcBef>
                          <a:spcPts val="230"/>
                        </a:spcBef>
                      </a:pPr>
                      <a:r>
                        <a:rPr sz="1550" b="1" dirty="0">
                          <a:latin typeface="Calibri" panose="020F0502020204030204"/>
                          <a:cs typeface="Calibri" panose="020F0502020204030204"/>
                        </a:rPr>
                        <a:t>Journal</a:t>
                      </a:r>
                      <a:r>
                        <a:rPr sz="1550" b="1" spc="130" dirty="0">
                          <a:latin typeface="Calibri" panose="020F0502020204030204"/>
                          <a:cs typeface="Calibri" panose="020F0502020204030204"/>
                        </a:rPr>
                        <a:t> </a:t>
                      </a:r>
                      <a:r>
                        <a:rPr sz="1550" b="1" dirty="0">
                          <a:latin typeface="Calibri" panose="020F0502020204030204"/>
                          <a:cs typeface="Calibri" panose="020F0502020204030204"/>
                        </a:rPr>
                        <a:t>Name</a:t>
                      </a:r>
                      <a:r>
                        <a:rPr sz="1550" b="1" spc="90" dirty="0">
                          <a:latin typeface="Calibri" panose="020F0502020204030204"/>
                          <a:cs typeface="Calibri" panose="020F0502020204030204"/>
                        </a:rPr>
                        <a:t> </a:t>
                      </a:r>
                      <a:r>
                        <a:rPr sz="1550" b="1" spc="-50" dirty="0">
                          <a:latin typeface="Calibri" panose="020F0502020204030204"/>
                          <a:cs typeface="Calibri" panose="020F0502020204030204"/>
                        </a:rPr>
                        <a:t>&amp; </a:t>
                      </a:r>
                      <a:r>
                        <a:rPr sz="1550" b="1" spc="-20" dirty="0">
                          <a:latin typeface="Calibri" panose="020F0502020204030204"/>
                          <a:cs typeface="Calibri" panose="020F0502020204030204"/>
                        </a:rPr>
                        <a:t>Year</a:t>
                      </a:r>
                      <a:endParaRPr sz="1550">
                        <a:latin typeface="Calibri" panose="020F0502020204030204"/>
                        <a:cs typeface="Calibri" panose="020F0502020204030204"/>
                      </a:endParaRPr>
                    </a:p>
                  </a:txBody>
                  <a:tcPr marL="0" marR="0" marT="2920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588010" marR="367030" indent="-208915">
                        <a:lnSpc>
                          <a:spcPct val="105000"/>
                        </a:lnSpc>
                        <a:spcBef>
                          <a:spcPts val="230"/>
                        </a:spcBef>
                      </a:pPr>
                      <a:r>
                        <a:rPr sz="1550" b="1" spc="-10" dirty="0">
                          <a:latin typeface="Calibri" panose="020F0502020204030204"/>
                          <a:cs typeface="Calibri" panose="020F0502020204030204"/>
                        </a:rPr>
                        <a:t>Methodology Adapted</a:t>
                      </a:r>
                      <a:endParaRPr sz="1550">
                        <a:latin typeface="Calibri" panose="020F0502020204030204"/>
                        <a:cs typeface="Calibri" panose="020F0502020204030204"/>
                      </a:endParaRPr>
                    </a:p>
                  </a:txBody>
                  <a:tcPr marL="0" marR="0" marT="2920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254635">
                        <a:lnSpc>
                          <a:spcPct val="100000"/>
                        </a:lnSpc>
                        <a:spcBef>
                          <a:spcPts val="325"/>
                        </a:spcBef>
                      </a:pPr>
                      <a:r>
                        <a:rPr sz="1550" b="1" dirty="0">
                          <a:latin typeface="Calibri" panose="020F0502020204030204"/>
                          <a:cs typeface="Calibri" panose="020F0502020204030204"/>
                        </a:rPr>
                        <a:t>Key</a:t>
                      </a:r>
                      <a:r>
                        <a:rPr sz="1550" b="1" spc="45" dirty="0">
                          <a:latin typeface="Calibri" panose="020F0502020204030204"/>
                          <a:cs typeface="Calibri" panose="020F0502020204030204"/>
                        </a:rPr>
                        <a:t> </a:t>
                      </a:r>
                      <a:r>
                        <a:rPr sz="1550" b="1" spc="-10" dirty="0">
                          <a:latin typeface="Calibri" panose="020F0502020204030204"/>
                          <a:cs typeface="Calibri" panose="020F0502020204030204"/>
                        </a:rPr>
                        <a:t>Findings</a:t>
                      </a:r>
                      <a:endParaRPr sz="1550">
                        <a:latin typeface="Calibri" panose="020F0502020204030204"/>
                        <a:cs typeface="Calibri" panose="020F0502020204030204"/>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19050" algn="ctr">
                        <a:lnSpc>
                          <a:spcPct val="100000"/>
                        </a:lnSpc>
                        <a:spcBef>
                          <a:spcPts val="325"/>
                        </a:spcBef>
                      </a:pPr>
                      <a:r>
                        <a:rPr sz="1550" b="1" spc="-20" dirty="0">
                          <a:latin typeface="Calibri" panose="020F0502020204030204"/>
                          <a:cs typeface="Calibri" panose="020F0502020204030204"/>
                        </a:rPr>
                        <a:t>Gaps</a:t>
                      </a:r>
                      <a:endParaRPr sz="1550">
                        <a:latin typeface="Calibri" panose="020F0502020204030204"/>
                        <a:cs typeface="Calibri" panose="020F0502020204030204"/>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r>
              <a:tr h="1444473">
                <a:tc>
                  <a:txBody>
                    <a:bodyPr/>
                    <a:lstStyle/>
                    <a:p>
                      <a:pPr marL="92075">
                        <a:lnSpc>
                          <a:spcPct val="100000"/>
                        </a:lnSpc>
                        <a:spcBef>
                          <a:spcPts val="255"/>
                        </a:spcBef>
                      </a:pPr>
                      <a:r>
                        <a:rPr sz="1400" spc="-50" dirty="0">
                          <a:latin typeface="Calibri" panose="020F0502020204030204"/>
                          <a:cs typeface="Calibri" panose="020F0502020204030204"/>
                        </a:rPr>
                        <a:t>1</a:t>
                      </a:r>
                      <a:endParaRPr sz="1400">
                        <a:latin typeface="Calibri" panose="020F0502020204030204"/>
                        <a:cs typeface="Calibri" panose="020F0502020204030204"/>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just"/>
                      <a:r>
                        <a:rPr lang="en-US" sz="1400" dirty="0">
                          <a:solidFill>
                            <a:schemeClr val="tx1"/>
                          </a:solidFill>
                          <a:effectLst/>
                          <a:latin typeface="Times New Roman" panose="02020603050405020304" charset="0"/>
                          <a:ea typeface="+mn-ea"/>
                          <a:cs typeface="Times New Roman" panose="02020603050405020304" charset="0"/>
                        </a:rPr>
                        <a:t>Ultrasound Breast </a:t>
                      </a:r>
                      <a:endParaRPr lang="en-US" sz="1400" dirty="0">
                        <a:latin typeface="Times New Roman" panose="02020603050405020304" charset="0"/>
                        <a:cs typeface="Times New Roman" panose="02020603050405020304" charset="0"/>
                      </a:endParaRPr>
                    </a:p>
                    <a:p>
                      <a:pPr algn="just"/>
                      <a:r>
                        <a:rPr lang="en-US" sz="1400" dirty="0">
                          <a:solidFill>
                            <a:schemeClr val="tx1"/>
                          </a:solidFill>
                          <a:effectLst/>
                          <a:latin typeface="Times New Roman" panose="02020603050405020304" charset="0"/>
                          <a:ea typeface="+mn-ea"/>
                          <a:cs typeface="Times New Roman" panose="02020603050405020304" charset="0"/>
                        </a:rPr>
                        <a:t>Image Classification </a:t>
                      </a:r>
                      <a:endParaRPr lang="en-US" sz="1400" dirty="0">
                        <a:latin typeface="Times New Roman" panose="02020603050405020304" charset="0"/>
                        <a:cs typeface="Times New Roman" panose="02020603050405020304" charset="0"/>
                      </a:endParaRPr>
                    </a:p>
                    <a:p>
                      <a:pPr algn="just"/>
                      <a:r>
                        <a:rPr lang="en-US" sz="1400" dirty="0">
                          <a:solidFill>
                            <a:schemeClr val="tx1"/>
                          </a:solidFill>
                          <a:effectLst/>
                          <a:latin typeface="Times New Roman" panose="02020603050405020304" charset="0"/>
                          <a:ea typeface="+mn-ea"/>
                          <a:cs typeface="Times New Roman" panose="02020603050405020304" charset="0"/>
                        </a:rPr>
                        <a:t>Through Domain </a:t>
                      </a:r>
                      <a:endParaRPr lang="en-US" sz="1400" dirty="0">
                        <a:latin typeface="Times New Roman" panose="02020603050405020304" charset="0"/>
                        <a:cs typeface="Times New Roman" panose="02020603050405020304" charset="0"/>
                      </a:endParaRPr>
                    </a:p>
                    <a:p>
                      <a:pPr algn="just"/>
                      <a:r>
                        <a:rPr lang="en-US" sz="1400" dirty="0">
                          <a:solidFill>
                            <a:schemeClr val="tx1"/>
                          </a:solidFill>
                          <a:effectLst/>
                          <a:latin typeface="Times New Roman" panose="02020603050405020304" charset="0"/>
                          <a:ea typeface="+mn-ea"/>
                          <a:cs typeface="Times New Roman" panose="02020603050405020304" charset="0"/>
                        </a:rPr>
                        <a:t>Knowledge </a:t>
                      </a:r>
                      <a:endParaRPr lang="en-US" sz="1400" dirty="0">
                        <a:latin typeface="Times New Roman" panose="02020603050405020304" charset="0"/>
                        <a:cs typeface="Times New Roman" panose="02020603050405020304" charset="0"/>
                      </a:endParaRPr>
                    </a:p>
                    <a:p>
                      <a:pPr algn="just"/>
                      <a:r>
                        <a:rPr lang="en-US" sz="1400" dirty="0">
                          <a:solidFill>
                            <a:schemeClr val="tx1"/>
                          </a:solidFill>
                          <a:effectLst/>
                          <a:latin typeface="Times New Roman" panose="02020603050405020304" charset="0"/>
                          <a:ea typeface="+mn-ea"/>
                          <a:cs typeface="Times New Roman" panose="02020603050405020304" charset="0"/>
                        </a:rPr>
                        <a:t>Integration Into Deep </a:t>
                      </a:r>
                      <a:endParaRPr lang="en-US" sz="1400" dirty="0">
                        <a:latin typeface="Times New Roman" panose="02020603050405020304" charset="0"/>
                        <a:cs typeface="Times New Roman" panose="02020603050405020304" charset="0"/>
                      </a:endParaRPr>
                    </a:p>
                    <a:p>
                      <a:pPr algn="just"/>
                      <a:r>
                        <a:rPr lang="en-US" sz="1400" dirty="0">
                          <a:solidFill>
                            <a:schemeClr val="tx1"/>
                          </a:solidFill>
                          <a:effectLst/>
                          <a:latin typeface="Times New Roman" panose="02020603050405020304" charset="0"/>
                          <a:ea typeface="+mn-ea"/>
                          <a:cs typeface="Times New Roman" panose="02020603050405020304" charset="0"/>
                        </a:rPr>
                        <a:t>Neural Networks</a:t>
                      </a:r>
                      <a:endParaRPr sz="1400" dirty="0">
                        <a:latin typeface="Times New Roman" panose="02020603050405020304" charset="0"/>
                        <a:cs typeface="Times New Roman" panose="02020603050405020304" charset="0"/>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just">
                        <a:lnSpc>
                          <a:spcPct val="100000"/>
                        </a:lnSpc>
                      </a:pPr>
                      <a:r>
                        <a:rPr lang="fr-FR" sz="1400" dirty="0">
                          <a:latin typeface="Times New Roman" panose="02020603050405020304"/>
                          <a:cs typeface="Times New Roman" panose="02020603050405020304"/>
                        </a:rPr>
                        <a:t>Y. Zhang et al.,</a:t>
                      </a:r>
                      <a:endParaRPr lang="fr-FR" sz="1400" dirty="0">
                        <a:latin typeface="Times New Roman" panose="02020603050405020304"/>
                        <a:cs typeface="Times New Roman" panose="02020603050405020304"/>
                      </a:endParaRPr>
                    </a:p>
                    <a:p>
                      <a:pPr algn="just">
                        <a:lnSpc>
                          <a:spcPct val="100000"/>
                        </a:lnSpc>
                      </a:pPr>
                      <a:r>
                        <a:rPr lang="fr-FR" sz="1400" dirty="0">
                          <a:latin typeface="Times New Roman" panose="02020603050405020304"/>
                          <a:cs typeface="Times New Roman" panose="02020603050405020304"/>
                        </a:rPr>
                        <a:t>2021, IEEE</a:t>
                      </a:r>
                      <a:endParaRPr lang="fr-FR" sz="1400" dirty="0">
                        <a:latin typeface="Times New Roman" panose="02020603050405020304"/>
                        <a:cs typeface="Times New Roman" panose="02020603050405020304"/>
                      </a:endParaRPr>
                    </a:p>
                    <a:p>
                      <a:pPr algn="just">
                        <a:lnSpc>
                          <a:spcPct val="100000"/>
                        </a:lnSpc>
                      </a:pPr>
                      <a:r>
                        <a:rPr lang="fr-FR" sz="1400" dirty="0">
                          <a:latin typeface="Times New Roman" panose="02020603050405020304"/>
                          <a:cs typeface="Times New Roman" panose="02020603050405020304"/>
                        </a:rPr>
                        <a:t>Transactions on</a:t>
                      </a:r>
                      <a:endParaRPr lang="fr-FR" sz="1400" dirty="0">
                        <a:latin typeface="Times New Roman" panose="02020603050405020304"/>
                        <a:cs typeface="Times New Roman" panose="02020603050405020304"/>
                      </a:endParaRPr>
                    </a:p>
                    <a:p>
                      <a:pPr algn="just">
                        <a:lnSpc>
                          <a:spcPct val="100000"/>
                        </a:lnSpc>
                      </a:pPr>
                      <a:r>
                        <a:rPr lang="fr-FR" sz="1400" dirty="0">
                          <a:latin typeface="Times New Roman" panose="02020603050405020304"/>
                          <a:cs typeface="Times New Roman" panose="02020603050405020304"/>
                        </a:rPr>
                        <a:t>Image </a:t>
                      </a:r>
                      <a:r>
                        <a:rPr lang="fr-FR" sz="1400" dirty="0" err="1">
                          <a:latin typeface="Times New Roman" panose="02020603050405020304"/>
                          <a:cs typeface="Times New Roman" panose="02020603050405020304"/>
                        </a:rPr>
                        <a:t>Processing</a:t>
                      </a:r>
                      <a:endParaRPr sz="1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5250">
                        <a:lnSpc>
                          <a:spcPct val="100000"/>
                        </a:lnSpc>
                        <a:spcBef>
                          <a:spcPts val="255"/>
                        </a:spcBef>
                      </a:pPr>
                      <a:r>
                        <a:rPr lang="en-IN" sz="1400" dirty="0">
                          <a:latin typeface="+mn-lt"/>
                          <a:cs typeface="Calibri" panose="020F0502020204030204"/>
                          <a:hlinkClick r:id="rId1"/>
                        </a:rPr>
                        <a:t>https://</a:t>
                      </a:r>
                      <a:endParaRPr lang="en-IN" sz="1400" dirty="0">
                        <a:latin typeface="+mn-lt"/>
                        <a:cs typeface="Calibri" panose="020F0502020204030204"/>
                      </a:endParaRPr>
                    </a:p>
                    <a:p>
                      <a:pPr marL="95250">
                        <a:lnSpc>
                          <a:spcPct val="100000"/>
                        </a:lnSpc>
                        <a:spcBef>
                          <a:spcPts val="255"/>
                        </a:spcBef>
                      </a:pPr>
                      <a:r>
                        <a:rPr lang="en-IN" sz="1400" dirty="0">
                          <a:latin typeface="+mn-lt"/>
                          <a:cs typeface="Calibri" panose="020F0502020204030204"/>
                          <a:hlinkClick r:id="rId1"/>
                        </a:rPr>
                        <a:t>ieeexplore.ieee.org/</a:t>
                      </a:r>
                      <a:endParaRPr lang="en-IN" sz="1400" dirty="0">
                        <a:latin typeface="+mn-lt"/>
                        <a:cs typeface="Calibri" panose="020F0502020204030204"/>
                      </a:endParaRPr>
                    </a:p>
                    <a:p>
                      <a:pPr marL="95250">
                        <a:lnSpc>
                          <a:spcPct val="100000"/>
                        </a:lnSpc>
                        <a:spcBef>
                          <a:spcPts val="255"/>
                        </a:spcBef>
                      </a:pPr>
                      <a:r>
                        <a:rPr lang="en-IN" sz="1400" dirty="0">
                          <a:latin typeface="+mn-lt"/>
                          <a:cs typeface="Calibri" panose="020F0502020204030204"/>
                          <a:hlinkClick r:id="rId1"/>
                        </a:rPr>
                        <a:t>document/10634159</a:t>
                      </a:r>
                      <a:endParaRPr sz="1400" dirty="0">
                        <a:latin typeface="Calibri" panose="020F0502020204030204"/>
                        <a:cs typeface="Calibri" panose="020F0502020204030204"/>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0" marR="0" lvl="0" indent="0" algn="just" defTabSz="914400" eaLnBrk="1" fontAlgn="auto" latinLnBrk="0" hangingPunct="1">
                        <a:lnSpc>
                          <a:spcPct val="100000"/>
                        </a:lnSpc>
                        <a:spcBef>
                          <a:spcPts val="0"/>
                        </a:spcBef>
                        <a:spcAft>
                          <a:spcPts val="0"/>
                        </a:spcAft>
                        <a:buClrTx/>
                        <a:buSzTx/>
                        <a:buFontTx/>
                        <a:buNone/>
                        <a:defRPr/>
                      </a:pPr>
                      <a:r>
                        <a:rPr lang="en-US" sz="1400" dirty="0">
                          <a:latin typeface="Times New Roman" panose="02020603050405020304" charset="0"/>
                          <a:cs typeface="Times New Roman" panose="02020603050405020304" charset="0"/>
                        </a:rPr>
                        <a:t>U-Net extracts segmentation masks; resized inputs feed a dual-stream CNN with multiscale fusion for classification.</a:t>
                      </a:r>
                      <a:endParaRPr lang="en-US" sz="1400" dirty="0">
                        <a:latin typeface="Times New Roman" panose="02020603050405020304" charset="0"/>
                        <a:cs typeface="Times New Roman" panose="02020603050405020304" charset="0"/>
                      </a:endParaRPr>
                    </a:p>
                    <a:p>
                      <a:pPr marL="0" marR="0" lvl="0" indent="0" algn="just" defTabSz="914400" eaLnBrk="1" fontAlgn="auto" latinLnBrk="0" hangingPunct="1">
                        <a:lnSpc>
                          <a:spcPct val="100000"/>
                        </a:lnSpc>
                        <a:spcBef>
                          <a:spcPts val="0"/>
                        </a:spcBef>
                        <a:spcAft>
                          <a:spcPts val="0"/>
                        </a:spcAft>
                        <a:buClrTx/>
                        <a:buSzTx/>
                        <a:buFontTx/>
                        <a:buNone/>
                        <a:defRPr/>
                      </a:pPr>
                      <a:endParaRPr sz="1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just"/>
                      <a:r>
                        <a:rPr lang="en-US" sz="1400" dirty="0">
                          <a:latin typeface="Times New Roman" panose="02020603050405020304" charset="0"/>
                          <a:cs typeface="Times New Roman" panose="02020603050405020304" charset="0"/>
                        </a:rPr>
                        <a:t>Achieved 7.5% higher accuracy with better interpretability and region-focused learning.</a:t>
                      </a:r>
                      <a:endParaRPr lang="en-US" sz="1400" dirty="0">
                        <a:latin typeface="Times New Roman" panose="02020603050405020304" charset="0"/>
                        <a:cs typeface="Times New Roman" panose="02020603050405020304" charset="0"/>
                      </a:endParaRPr>
                    </a:p>
                    <a:p>
                      <a:pPr marL="0" marR="0" lvl="0" indent="0" algn="just" defTabSz="914400" eaLnBrk="1" fontAlgn="auto" latinLnBrk="0" hangingPunct="1">
                        <a:lnSpc>
                          <a:spcPct val="100000"/>
                        </a:lnSpc>
                        <a:spcBef>
                          <a:spcPts val="0"/>
                        </a:spcBef>
                        <a:spcAft>
                          <a:spcPts val="0"/>
                        </a:spcAft>
                        <a:buClrTx/>
                        <a:buSzTx/>
                        <a:buFontTx/>
                        <a:buNone/>
                        <a:defRPr/>
                      </a:pPr>
                      <a:endParaRPr sz="16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just"/>
                      <a:r>
                        <a:rPr lang="en-US" sz="1400" dirty="0">
                          <a:latin typeface="Times New Roman" panose="02020603050405020304" charset="0"/>
                          <a:cs typeface="Times New Roman" panose="02020603050405020304" charset="0"/>
                        </a:rPr>
                        <a:t>Performance limited by small data, poor generalization, and reliance on precise segmentation masks.</a:t>
                      </a:r>
                      <a:endParaRPr lang="en-US" sz="1400" dirty="0">
                        <a:latin typeface="Times New Roman" panose="02020603050405020304" charset="0"/>
                        <a:cs typeface="Times New Roman" panose="02020603050405020304" charset="0"/>
                      </a:endParaRPr>
                    </a:p>
                    <a:p>
                      <a:pPr>
                        <a:lnSpc>
                          <a:spcPct val="100000"/>
                        </a:lnSpc>
                      </a:pPr>
                      <a:endParaRPr sz="16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61245">
                <a:tc>
                  <a:txBody>
                    <a:bodyPr/>
                    <a:lstStyle/>
                    <a:p>
                      <a:pPr marL="92075">
                        <a:lnSpc>
                          <a:spcPct val="100000"/>
                        </a:lnSpc>
                        <a:spcBef>
                          <a:spcPts val="265"/>
                        </a:spcBef>
                      </a:pPr>
                      <a:r>
                        <a:rPr sz="1400" spc="-50" dirty="0">
                          <a:latin typeface="Calibri" panose="020F0502020204030204"/>
                          <a:cs typeface="Calibri" panose="020F0502020204030204"/>
                        </a:rPr>
                        <a:t>2</a:t>
                      </a:r>
                      <a:endParaRPr sz="1400">
                        <a:latin typeface="Calibri" panose="020F0502020204030204"/>
                        <a:cs typeface="Calibri" panose="020F0502020204030204"/>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0" marR="0" lvl="0" indent="0" algn="just" defTabSz="914400" eaLnBrk="1" fontAlgn="auto" latinLnBrk="0" hangingPunct="1">
                        <a:lnSpc>
                          <a:spcPct val="100000"/>
                        </a:lnSpc>
                        <a:spcBef>
                          <a:spcPts val="0"/>
                        </a:spcBef>
                        <a:spcAft>
                          <a:spcPts val="0"/>
                        </a:spcAft>
                        <a:buClrTx/>
                        <a:buSzTx/>
                        <a:buFontTx/>
                        <a:buNone/>
                        <a:defRPr/>
                      </a:pPr>
                      <a:r>
                        <a:rPr lang="en-US" sz="1400" dirty="0">
                          <a:latin typeface="Times New Roman" panose="02020603050405020304" charset="0"/>
                          <a:cs typeface="Times New Roman" panose="02020603050405020304" charset="0"/>
                        </a:rPr>
                        <a:t>Breast Cancer Detection Using Transfer Learning and Decision Fusion</a:t>
                      </a:r>
                      <a:endParaRPr lang="en-US" sz="1400" dirty="0">
                        <a:latin typeface="Times New Roman" panose="02020603050405020304" charset="0"/>
                        <a:cs typeface="Times New Roman" panose="02020603050405020304" charset="0"/>
                      </a:endParaRPr>
                    </a:p>
                    <a:p>
                      <a:pPr>
                        <a:lnSpc>
                          <a:spcPct val="100000"/>
                        </a:lnSpc>
                      </a:pPr>
                      <a:endParaRPr sz="16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r>
                        <a:rPr lang="da-DK" sz="1400" dirty="0">
                          <a:solidFill>
                            <a:schemeClr val="tx1"/>
                          </a:solidFill>
                          <a:effectLst/>
                          <a:latin typeface="Times New Roman" panose="02020603050405020304" charset="0"/>
                          <a:ea typeface="+mn-ea"/>
                          <a:cs typeface="Times New Roman" panose="02020603050405020304" charset="0"/>
                        </a:rPr>
                        <a:t>D. Abdelhafiz et al., </a:t>
                      </a:r>
                      <a:endParaRPr lang="da-DK" sz="1400" dirty="0">
                        <a:latin typeface="Times New Roman" panose="02020603050405020304" charset="0"/>
                        <a:cs typeface="Times New Roman" panose="02020603050405020304" charset="0"/>
                      </a:endParaRPr>
                    </a:p>
                    <a:p>
                      <a:r>
                        <a:rPr lang="da-DK" sz="1400" dirty="0">
                          <a:solidFill>
                            <a:schemeClr val="tx1"/>
                          </a:solidFill>
                          <a:effectLst/>
                          <a:latin typeface="Times New Roman" panose="02020603050405020304" charset="0"/>
                          <a:ea typeface="+mn-ea"/>
                          <a:cs typeface="Times New Roman" panose="02020603050405020304" charset="0"/>
                        </a:rPr>
                        <a:t>2020, Frontiers </a:t>
                      </a:r>
                      <a:endParaRPr sz="1400" dirty="0">
                        <a:latin typeface="Times New Roman" panose="02020603050405020304" charset="0"/>
                        <a:cs typeface="Times New Roman" panose="02020603050405020304" charset="0"/>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just"/>
                      <a:r>
                        <a:rPr lang="en-US" sz="1400" dirty="0">
                          <a:solidFill>
                            <a:schemeClr val="tx1"/>
                          </a:solidFill>
                          <a:effectLst/>
                          <a:latin typeface="Times New Roman" panose="02020603050405020304" charset="0"/>
                          <a:ea typeface="+mn-ea"/>
                          <a:cs typeface="Times New Roman" panose="02020603050405020304" charset="0"/>
                          <a:hlinkClick r:id="rId1"/>
                        </a:rPr>
                        <a:t>https://paultimothymooney/chest-xray-pneumonia</a:t>
                      </a:r>
                      <a:endParaRPr lang="en-US" sz="1400" dirty="0">
                        <a:latin typeface="Times New Roman" panose="02020603050405020304" charset="0"/>
                        <a:cs typeface="Times New Roman" panose="02020603050405020304" charset="0"/>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rowSpan="2">
                  <a:txBody>
                    <a:bodyPr/>
                    <a:lstStyle/>
                    <a:p>
                      <a:pPr algn="just">
                        <a:lnSpc>
                          <a:spcPct val="100000"/>
                        </a:lnSpc>
                      </a:pPr>
                      <a:r>
                        <a:rPr lang="en-US" sz="1400" dirty="0">
                          <a:latin typeface="Times New Roman" panose="02020603050405020304" charset="0"/>
                          <a:cs typeface="Times New Roman" panose="02020603050405020304" charset="0"/>
                        </a:rPr>
                        <a:t>Patch-wise augmented and normalized inputs are </a:t>
                      </a:r>
                      <a:r>
                        <a:rPr lang="en-US" sz="1400" dirty="0" err="1">
                          <a:latin typeface="Times New Roman" panose="02020603050405020304" charset="0"/>
                          <a:cs typeface="Times New Roman" panose="02020603050405020304" charset="0"/>
                        </a:rPr>
                        <a:t>processedtransfer</a:t>
                      </a:r>
                      <a:r>
                        <a:rPr lang="en-US" sz="1400" dirty="0">
                          <a:latin typeface="Times New Roman" panose="02020603050405020304" charset="0"/>
                          <a:cs typeface="Times New Roman" panose="02020603050405020304" charset="0"/>
                        </a:rPr>
                        <a:t> learning with adaptive fusion.</a:t>
                      </a:r>
                      <a:endParaRPr sz="1400" dirty="0">
                        <a:latin typeface="Times New Roman" panose="02020603050405020304" charset="0"/>
                        <a:cs typeface="Times New Roman" panose="02020603050405020304" charset="0"/>
                      </a:endParaRPr>
                    </a:p>
                    <a:p>
                      <a:pPr marL="0" marR="0" lvl="0" indent="0" algn="just" defTabSz="914400" eaLnBrk="1" fontAlgn="auto" latinLnBrk="0" hangingPunct="1">
                        <a:lnSpc>
                          <a:spcPct val="100000"/>
                        </a:lnSpc>
                        <a:spcBef>
                          <a:spcPts val="0"/>
                        </a:spcBef>
                        <a:spcAft>
                          <a:spcPts val="0"/>
                        </a:spcAft>
                        <a:buClrTx/>
                        <a:buSzTx/>
                        <a:buFontTx/>
                        <a:buNone/>
                        <a:defRPr/>
                      </a:pPr>
                      <a:r>
                        <a:rPr lang="en-US" sz="1400" dirty="0">
                          <a:latin typeface="Times New Roman" panose="02020603050405020304" charset="0"/>
                          <a:cs typeface="Times New Roman" panose="02020603050405020304" charset="0"/>
                        </a:rPr>
                        <a:t>Resized and normalized images are segmented using an encoder–decoder CNN with skip connections for biomedical precision.</a:t>
                      </a:r>
                      <a:endParaRPr lang="en-US" sz="1400" dirty="0">
                        <a:latin typeface="Times New Roman" panose="02020603050405020304" charset="0"/>
                        <a:cs typeface="Times New Roman" panose="02020603050405020304" charset="0"/>
                      </a:endParaRPr>
                    </a:p>
                    <a:p>
                      <a:pPr>
                        <a:lnSpc>
                          <a:spcPct val="100000"/>
                        </a:lnSpc>
                      </a:pPr>
                      <a:endParaRPr sz="1600" dirty="0">
                        <a:latin typeface="Times New Roman" panose="02020603050405020304"/>
                        <a:cs typeface="Times New Roman" panose="02020603050405020304"/>
                      </a:endParaRPr>
                    </a:p>
                  </a:txBody>
                  <a:tcPr marL="0" marR="0" marT="0" marB="0">
                    <a:lnL w="12700">
                      <a:solidFill>
                        <a:srgbClr val="000000"/>
                      </a:solidFill>
                      <a:prstDash val="solid"/>
                    </a:lnL>
                    <a:lnR w="12700" cap="flat" cmpd="sng" algn="ctr">
                      <a:solidFill>
                        <a:srgbClr val="000000"/>
                      </a:solidFill>
                      <a:prstDash val="solid"/>
                      <a:round/>
                      <a:headEnd type="none" w="med" len="med"/>
                      <a:tailEnd type="none" w="med" len="med"/>
                    </a:lnR>
                    <a:lnT w="12700">
                      <a:solidFill>
                        <a:srgbClr val="000000"/>
                      </a:solidFill>
                      <a:prstDash val="solid"/>
                    </a:lnT>
                    <a:lnB w="12700" cap="flat" cmpd="sng" algn="ctr">
                      <a:solidFill>
                        <a:srgbClr val="000000"/>
                      </a:solidFill>
                      <a:prstDash val="solid"/>
                      <a:round/>
                      <a:headEnd type="none" w="med" len="med"/>
                      <a:tailEnd type="none" w="med" len="med"/>
                    </a:lnB>
                  </a:tcPr>
                </a:tc>
                <a:tc>
                  <a:txBody>
                    <a:bodyPr/>
                    <a:lstStyle/>
                    <a:p>
                      <a:pPr marL="0" marR="0" lvl="0" indent="0" algn="just" defTabSz="914400" eaLnBrk="1" fontAlgn="auto" latinLnBrk="0" hangingPunct="1">
                        <a:lnSpc>
                          <a:spcPct val="100000"/>
                        </a:lnSpc>
                        <a:spcBef>
                          <a:spcPts val="0"/>
                        </a:spcBef>
                        <a:spcAft>
                          <a:spcPts val="0"/>
                        </a:spcAft>
                        <a:buClrTx/>
                        <a:buSzTx/>
                        <a:buFontTx/>
                        <a:buNone/>
                        <a:defRPr/>
                      </a:pPr>
                      <a:r>
                        <a:rPr lang="en-US" sz="1400" dirty="0">
                          <a:latin typeface="Times New Roman" panose="02020603050405020304" charset="0"/>
                          <a:cs typeface="Times New Roman" panose="02020603050405020304" charset="0"/>
                        </a:rPr>
                        <a:t>Achieved ~94% accuracy on limited data model fusion, strong generalization.</a:t>
                      </a:r>
                      <a:endParaRPr lang="en-US" sz="1400" dirty="0">
                        <a:latin typeface="Times New Roman" panose="02020603050405020304" charset="0"/>
                        <a:cs typeface="Times New Roman" panose="02020603050405020304" charset="0"/>
                      </a:endParaRPr>
                    </a:p>
                    <a:p>
                      <a:pPr>
                        <a:lnSpc>
                          <a:spcPct val="100000"/>
                        </a:lnSpc>
                      </a:pPr>
                      <a:endParaRPr sz="16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0" marR="0" lvl="0" indent="0" defTabSz="914400" eaLnBrk="1" fontAlgn="auto" latinLnBrk="0" hangingPunct="1">
                        <a:lnSpc>
                          <a:spcPct val="100000"/>
                        </a:lnSpc>
                        <a:spcBef>
                          <a:spcPts val="0"/>
                        </a:spcBef>
                        <a:spcAft>
                          <a:spcPts val="0"/>
                        </a:spcAft>
                        <a:buClrTx/>
                        <a:buSzTx/>
                        <a:buFontTx/>
                        <a:buNone/>
                        <a:defRPr/>
                      </a:pPr>
                      <a:r>
                        <a:rPr lang="en-US" sz="1400" dirty="0">
                          <a:latin typeface="Times New Roman" panose="02020603050405020304" charset="0"/>
                          <a:cs typeface="Times New Roman" panose="02020603050405020304" charset="0"/>
                        </a:rPr>
                        <a:t>Cross-device dataset variability and limiting broader applicability.</a:t>
                      </a:r>
                      <a:endParaRPr lang="en-US" sz="1400" dirty="0">
                        <a:latin typeface="Times New Roman" panose="02020603050405020304" charset="0"/>
                        <a:cs typeface="Times New Roman" panose="02020603050405020304" charset="0"/>
                      </a:endParaRPr>
                    </a:p>
                    <a:p>
                      <a:pPr>
                        <a:lnSpc>
                          <a:spcPct val="100000"/>
                        </a:lnSpc>
                      </a:pPr>
                      <a:endParaRPr sz="16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267598">
                <a:tc>
                  <a:txBody>
                    <a:bodyPr/>
                    <a:lstStyle/>
                    <a:p>
                      <a:pPr marL="92075">
                        <a:lnSpc>
                          <a:spcPct val="100000"/>
                        </a:lnSpc>
                        <a:spcBef>
                          <a:spcPts val="275"/>
                        </a:spcBef>
                      </a:pPr>
                      <a:r>
                        <a:rPr sz="1400" spc="-50" dirty="0">
                          <a:latin typeface="Calibri" panose="020F0502020204030204"/>
                          <a:cs typeface="Calibri" panose="020F0502020204030204"/>
                        </a:rPr>
                        <a:t>3</a:t>
                      </a:r>
                      <a:endParaRPr sz="1400">
                        <a:latin typeface="Calibri" panose="020F0502020204030204"/>
                        <a:cs typeface="Calibri" panose="020F0502020204030204"/>
                      </a:endParaRPr>
                    </a:p>
                  </a:txBody>
                  <a:tcPr marL="0" marR="0" marT="349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just">
                        <a:lnSpc>
                          <a:spcPct val="100000"/>
                        </a:lnSpc>
                      </a:pPr>
                      <a:r>
                        <a:rPr lang="en-US" sz="1400" dirty="0">
                          <a:latin typeface="Times New Roman" panose="02020603050405020304"/>
                          <a:cs typeface="Times New Roman" panose="02020603050405020304"/>
                        </a:rPr>
                        <a:t>U-Net: Convolutional Networks for Biomedical Image Segmentation</a:t>
                      </a:r>
                      <a:endParaRPr sz="1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r>
                        <a:rPr lang="de-DE" sz="1400" dirty="0">
                          <a:latin typeface="Times New Roman" panose="02020603050405020304"/>
                          <a:cs typeface="Times New Roman" panose="02020603050405020304"/>
                        </a:rPr>
                        <a:t>O. Ronneberger, P. Fischer, T. Brox</a:t>
                      </a:r>
                      <a:endParaRPr sz="1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just">
                        <a:lnSpc>
                          <a:spcPct val="100000"/>
                        </a:lnSpc>
                      </a:pPr>
                      <a:r>
                        <a:rPr lang="en-IN" sz="1400" dirty="0">
                          <a:latin typeface="Times New Roman" panose="02020603050405020304"/>
                          <a:cs typeface="Times New Roman" panose="02020603050405020304"/>
                          <a:hlinkClick r:id="rId2"/>
                        </a:rPr>
                        <a:t>https://link.springer.com/article/10.1007/s11263-015-0816-y</a:t>
                      </a:r>
                      <a:endParaRPr sz="1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vMerge="1">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0" marR="0" lvl="0" indent="0" algn="just" defTabSz="914400" eaLnBrk="1" fontAlgn="auto" latinLnBrk="0" hangingPunct="1">
                        <a:lnSpc>
                          <a:spcPct val="100000"/>
                        </a:lnSpc>
                        <a:spcBef>
                          <a:spcPts val="0"/>
                        </a:spcBef>
                        <a:spcAft>
                          <a:spcPts val="0"/>
                        </a:spcAft>
                        <a:buClrTx/>
                        <a:buSzTx/>
                        <a:buFontTx/>
                        <a:buNone/>
                        <a:defRPr/>
                      </a:pPr>
                      <a:r>
                        <a:rPr lang="en-US" sz="1400" dirty="0">
                          <a:latin typeface="Times New Roman" panose="02020603050405020304" charset="0"/>
                          <a:cs typeface="Times New Roman" panose="02020603050405020304" charset="0"/>
                        </a:rPr>
                        <a:t>Achieved state-of-the-art medical image segmentation with effective preservation of fine spatial details.</a:t>
                      </a:r>
                      <a:endParaRPr lang="en-US" sz="1400" dirty="0">
                        <a:latin typeface="Times New Roman" panose="02020603050405020304" charset="0"/>
                        <a:cs typeface="Times New Roman" panose="02020603050405020304" charset="0"/>
                      </a:endParaRPr>
                    </a:p>
                    <a:p>
                      <a:pPr>
                        <a:lnSpc>
                          <a:spcPct val="100000"/>
                        </a:lnSpc>
                      </a:pPr>
                      <a:endParaRPr sz="16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0" marR="0" lvl="0" indent="0" algn="just" defTabSz="914400" eaLnBrk="1" fontAlgn="auto" latinLnBrk="0" hangingPunct="1">
                        <a:lnSpc>
                          <a:spcPct val="100000"/>
                        </a:lnSpc>
                        <a:spcBef>
                          <a:spcPts val="0"/>
                        </a:spcBef>
                        <a:spcAft>
                          <a:spcPts val="0"/>
                        </a:spcAft>
                        <a:buClrTx/>
                        <a:buSzTx/>
                        <a:buFontTx/>
                        <a:buNone/>
                        <a:defRPr/>
                      </a:pPr>
                      <a:r>
                        <a:rPr lang="en-IN" sz="1400" dirty="0">
                          <a:latin typeface="Times New Roman" panose="02020603050405020304" charset="0"/>
                          <a:cs typeface="Times New Roman" panose="02020603050405020304" charset="0"/>
                        </a:rPr>
                        <a:t>No classification or adaptation.</a:t>
                      </a:r>
                      <a:endParaRPr lang="en-IN" sz="1400" dirty="0">
                        <a:latin typeface="Times New Roman" panose="02020603050405020304" charset="0"/>
                        <a:cs typeface="Times New Roman" panose="02020603050405020304" charset="0"/>
                      </a:endParaRPr>
                    </a:p>
                    <a:p>
                      <a:pPr>
                        <a:lnSpc>
                          <a:spcPct val="100000"/>
                        </a:lnSpc>
                      </a:pPr>
                      <a:endParaRPr sz="16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646718">
                <a:tc gridSpan="3">
                  <a:txBody>
                    <a:bodyPr/>
                    <a:lstStyle/>
                    <a:p>
                      <a:pPr marL="92075">
                        <a:lnSpc>
                          <a:spcPct val="100000"/>
                        </a:lnSpc>
                        <a:spcBef>
                          <a:spcPts val="285"/>
                        </a:spcBef>
                      </a:pPr>
                      <a:endParaRPr sz="1400" dirty="0">
                        <a:latin typeface="Calibri" panose="020F0502020204030204"/>
                        <a:cs typeface="Calibri" panose="020F0502020204030204"/>
                      </a:endParaRPr>
                    </a:p>
                  </a:txBody>
                  <a:tcPr marL="0" marR="0" marT="36195" marB="0">
                    <a:lnL w="12700">
                      <a:noFill/>
                      <a:prstDash val="solid"/>
                    </a:lnL>
                    <a:lnR w="12700" cap="flat" cmpd="sng" algn="ctr">
                      <a:noFill/>
                      <a:prstDash val="solid"/>
                      <a:round/>
                      <a:headEnd type="none" w="med" len="med"/>
                      <a:tailEnd type="none" w="med" len="med"/>
                    </a:lnR>
                    <a:lnT w="12700">
                      <a:solidFill>
                        <a:srgbClr val="000000"/>
                      </a:solidFill>
                      <a:prstDash val="solid"/>
                    </a:lnT>
                    <a:lnB w="12700" cap="flat" cmpd="sng" algn="ctr">
                      <a:noFill/>
                      <a:prstDash val="solid"/>
                      <a:round/>
                      <a:headEnd type="none" w="med" len="med"/>
                      <a:tailEnd type="none" w="med" len="med"/>
                    </a:lnB>
                  </a:tcPr>
                </a:tc>
                <a:tc hMerge="1">
                  <a:tcPr marL="0" marR="0" marT="0" marB="0">
                    <a:lnL w="12700">
                      <a:solidFill>
                        <a:srgbClr val="000000"/>
                      </a:solidFill>
                      <a:prstDash val="solid"/>
                    </a:lnL>
                    <a:lnR w="12700" cap="flat" cmpd="sng" algn="ctr">
                      <a:noFill/>
                      <a:prstDash val="solid"/>
                      <a:round/>
                      <a:headEnd type="none" w="med" len="med"/>
                      <a:tailEnd type="none" w="med" len="med"/>
                    </a:lnR>
                    <a:lnT w="12700">
                      <a:solidFill>
                        <a:srgbClr val="000000"/>
                      </a:solidFill>
                      <a:prstDash val="solid"/>
                    </a:lnT>
                    <a:lnB w="12700" cap="flat" cmpd="sng" algn="ctr">
                      <a:solidFill>
                        <a:srgbClr val="000000"/>
                      </a:solidFill>
                      <a:prstDash val="solid"/>
                      <a:round/>
                      <a:headEnd type="none" w="med" len="med"/>
                      <a:tailEnd type="none" w="med" len="med"/>
                    </a:lnB>
                  </a:tcPr>
                </a:tc>
                <a:tc hMerge="1">
                  <a:tcPr marL="0" marR="0" marT="0" marB="0">
                    <a:lnL w="12700">
                      <a:solidFill>
                        <a:srgbClr val="000000"/>
                      </a:solidFill>
                      <a:prstDash val="solid"/>
                    </a:lnL>
                    <a:lnR w="12700" cap="flat" cmpd="sng" algn="ctr">
                      <a:noFill/>
                      <a:prstDash val="solid"/>
                      <a:round/>
                      <a:headEnd type="none" w="med" len="med"/>
                      <a:tailEnd type="none" w="med" len="med"/>
                    </a:lnR>
                    <a:lnT w="12700">
                      <a:solidFill>
                        <a:srgbClr val="000000"/>
                      </a:solidFill>
                      <a:prstDash val="solid"/>
                    </a:lnT>
                    <a:lnB w="12700" cap="flat" cmpd="sng" algn="ctr">
                      <a:solidFill>
                        <a:srgbClr val="000000"/>
                      </a:solidFill>
                      <a:prstDash val="solid"/>
                      <a:round/>
                      <a:headEnd type="none" w="med" len="med"/>
                      <a:tailEnd type="none" w="med" len="med"/>
                    </a:lnB>
                  </a:tcPr>
                </a:tc>
                <a:tc>
                  <a:txBody>
                    <a:bodyPr/>
                    <a:lstStyle/>
                    <a:p>
                      <a:pPr>
                        <a:lnSpc>
                          <a:spcPct val="100000"/>
                        </a:lnSpc>
                      </a:pPr>
                      <a:endParaRPr sz="1600" dirty="0">
                        <a:latin typeface="Times New Roman" panose="02020603050405020304"/>
                        <a:cs typeface="Times New Roman" panose="02020603050405020304"/>
                      </a:endParaRPr>
                    </a:p>
                  </a:txBody>
                  <a:tcPr marL="0" marR="0" marT="0" marB="0">
                    <a:lnL w="12700">
                      <a:noFill/>
                      <a:prstDash val="solid"/>
                    </a:lnL>
                    <a:lnR w="12700">
                      <a:noFill/>
                      <a:prstDash val="solid"/>
                    </a:lnR>
                    <a:lnT w="12700">
                      <a:solidFill>
                        <a:srgbClr val="000000"/>
                      </a:solidFill>
                      <a:prstDash val="solid"/>
                    </a:lnT>
                    <a:lnB w="12700" cap="flat" cmpd="sng" algn="ctr">
                      <a:noFill/>
                      <a:prstDash val="solid"/>
                      <a:round/>
                      <a:headEnd type="none" w="med" len="med"/>
                      <a:tailEnd type="none" w="med" len="med"/>
                    </a:lnB>
                  </a:tcPr>
                </a:tc>
                <a:tc gridSpan="3">
                  <a:txBody>
                    <a:bodyPr/>
                    <a:lstStyle/>
                    <a:p>
                      <a:pPr>
                        <a:lnSpc>
                          <a:spcPct val="100000"/>
                        </a:lnSpc>
                      </a:pPr>
                      <a:endParaRPr sz="1600" dirty="0">
                        <a:latin typeface="Times New Roman" panose="02020603050405020304"/>
                        <a:cs typeface="Times New Roman" panose="02020603050405020304"/>
                      </a:endParaRPr>
                    </a:p>
                  </a:txBody>
                  <a:tcPr marL="0" marR="0" marT="0" marB="0">
                    <a:lnL w="12700">
                      <a:noFill/>
                      <a:prstDash val="solid"/>
                    </a:lnL>
                    <a:lnR w="12700" cap="flat" cmpd="sng" algn="ctr">
                      <a:noFill/>
                      <a:prstDash val="solid"/>
                      <a:round/>
                      <a:headEnd type="none" w="med" len="med"/>
                      <a:tailEnd type="none" w="med" len="med"/>
                    </a:lnR>
                    <a:lnT w="12700">
                      <a:solidFill>
                        <a:srgbClr val="000000"/>
                      </a:solidFill>
                      <a:prstDash val="solid"/>
                    </a:lnT>
                    <a:lnB w="12700" cap="flat" cmpd="sng" algn="ctr">
                      <a:noFill/>
                      <a:prstDash val="solid"/>
                      <a:round/>
                      <a:headEnd type="none" w="med" len="med"/>
                      <a:tailEnd type="none" w="med" len="med"/>
                    </a:lnB>
                  </a:tcPr>
                </a:tc>
                <a:tc hMerge="1">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00120" y="511810"/>
            <a:ext cx="5544820" cy="403860"/>
          </a:xfrm>
          <a:prstGeom prst="rect">
            <a:avLst/>
          </a:prstGeom>
        </p:spPr>
        <p:txBody>
          <a:bodyPr vert="horz" wrap="square" lIns="0" tIns="16510" rIns="0" bIns="0" rtlCol="0">
            <a:noAutofit/>
          </a:bodyPr>
          <a:lstStyle/>
          <a:p>
            <a:pPr marL="12700">
              <a:lnSpc>
                <a:spcPct val="100000"/>
              </a:lnSpc>
              <a:spcBef>
                <a:spcPts val="130"/>
              </a:spcBef>
            </a:pPr>
            <a:r>
              <a:rPr sz="3950" dirty="0"/>
              <a:t>LITERATURE</a:t>
            </a:r>
            <a:r>
              <a:rPr sz="3950" spc="-185" dirty="0"/>
              <a:t> </a:t>
            </a:r>
            <a:r>
              <a:rPr sz="3950" spc="-10" dirty="0"/>
              <a:t>SURVEY</a:t>
            </a:r>
            <a:endParaRPr sz="395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panose="02020603050405020304"/>
                <a:cs typeface="Times New Roman" panose="02020603050405020304"/>
              </a:rPr>
              <a:t>Review</a:t>
            </a:r>
            <a:r>
              <a:rPr sz="1200" spc="-3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No.</a:t>
            </a:r>
            <a:endParaRPr sz="1200">
              <a:latin typeface="Times New Roman" panose="02020603050405020304"/>
              <a:cs typeface="Times New Roman" panose="02020603050405020304"/>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panose="02020603050405020304"/>
                <a:cs typeface="Times New Roman" panose="02020603050405020304"/>
              </a:rPr>
              <a:t>Department</a:t>
            </a:r>
            <a:r>
              <a:rPr sz="1200" spc="-30" dirty="0">
                <a:solidFill>
                  <a:srgbClr val="888888"/>
                </a:solidFill>
                <a:latin typeface="Times New Roman" panose="02020603050405020304"/>
                <a:cs typeface="Times New Roman" panose="02020603050405020304"/>
              </a:rPr>
              <a:t> </a:t>
            </a:r>
            <a:r>
              <a:rPr sz="1200" dirty="0">
                <a:solidFill>
                  <a:srgbClr val="888888"/>
                </a:solidFill>
                <a:latin typeface="Times New Roman" panose="02020603050405020304"/>
                <a:cs typeface="Times New Roman" panose="02020603050405020304"/>
              </a:rPr>
              <a:t>of</a:t>
            </a:r>
            <a:r>
              <a:rPr sz="1200" spc="5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CSE</a:t>
            </a:r>
            <a:endParaRPr sz="1200">
              <a:latin typeface="Times New Roman" panose="02020603050405020304"/>
              <a:cs typeface="Times New Roman" panose="02020603050405020304"/>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fld>
            <a:endParaRPr spc="-25" dirty="0"/>
          </a:p>
        </p:txBody>
      </p:sp>
      <p:graphicFrame>
        <p:nvGraphicFramePr>
          <p:cNvPr id="3" name="object 3"/>
          <p:cNvGraphicFramePr>
            <a:graphicFrameLocks noGrp="1"/>
          </p:cNvGraphicFramePr>
          <p:nvPr>
            <p:custDataLst>
              <p:tags r:id="rId1"/>
            </p:custDataLst>
          </p:nvPr>
        </p:nvGraphicFramePr>
        <p:xfrm>
          <a:off x="689610" y="1092200"/>
          <a:ext cx="10822940" cy="5100955"/>
        </p:xfrm>
        <a:graphic>
          <a:graphicData uri="http://schemas.openxmlformats.org/drawingml/2006/table">
            <a:tbl>
              <a:tblPr firstRow="1" bandRow="1">
                <a:tableStyleId>{2D5ABB26-0587-4C30-8999-92F81FD0307C}</a:tableStyleId>
              </a:tblPr>
              <a:tblGrid>
                <a:gridCol w="615950"/>
                <a:gridCol w="1936115"/>
                <a:gridCol w="1619885"/>
                <a:gridCol w="1671320"/>
                <a:gridCol w="1887220"/>
                <a:gridCol w="1546225"/>
                <a:gridCol w="1546225"/>
              </a:tblGrid>
              <a:tr h="736600">
                <a:tc>
                  <a:txBody>
                    <a:bodyPr/>
                    <a:lstStyle/>
                    <a:p>
                      <a:pPr marL="182880">
                        <a:lnSpc>
                          <a:spcPct val="100000"/>
                        </a:lnSpc>
                        <a:spcBef>
                          <a:spcPts val="325"/>
                        </a:spcBef>
                      </a:pPr>
                      <a:r>
                        <a:rPr lang="en-IN" sz="1550" b="1" spc="-25" dirty="0">
                          <a:latin typeface="Calibri" panose="020F0502020204030204"/>
                          <a:cs typeface="Calibri" panose="020F0502020204030204"/>
                        </a:rPr>
                        <a:t>No</a:t>
                      </a:r>
                      <a:endParaRPr sz="1550" dirty="0">
                        <a:latin typeface="Calibri" panose="020F0502020204030204"/>
                        <a:cs typeface="Calibri" panose="020F0502020204030204"/>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635" algn="ctr">
                        <a:lnSpc>
                          <a:spcPct val="100000"/>
                        </a:lnSpc>
                        <a:spcBef>
                          <a:spcPts val="325"/>
                        </a:spcBef>
                      </a:pPr>
                      <a:r>
                        <a:rPr sz="1550" b="1" spc="-10" dirty="0">
                          <a:latin typeface="Calibri" panose="020F0502020204030204"/>
                          <a:cs typeface="Calibri" panose="020F0502020204030204"/>
                        </a:rPr>
                        <a:t>Title</a:t>
                      </a:r>
                      <a:endParaRPr sz="1550" dirty="0">
                        <a:latin typeface="Calibri" panose="020F0502020204030204"/>
                        <a:cs typeface="Calibri" panose="020F0502020204030204"/>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514985">
                        <a:lnSpc>
                          <a:spcPct val="100000"/>
                        </a:lnSpc>
                        <a:spcBef>
                          <a:spcPts val="325"/>
                        </a:spcBef>
                      </a:pPr>
                      <a:r>
                        <a:rPr sz="1550" b="1" spc="-10" dirty="0">
                          <a:latin typeface="Calibri" panose="020F0502020204030204"/>
                          <a:cs typeface="Calibri" panose="020F0502020204030204"/>
                        </a:rPr>
                        <a:t>Author</a:t>
                      </a:r>
                      <a:endParaRPr sz="1550" dirty="0">
                        <a:latin typeface="Calibri" panose="020F0502020204030204"/>
                        <a:cs typeface="Calibri" panose="020F0502020204030204"/>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657225" marR="147955" indent="-494665">
                        <a:lnSpc>
                          <a:spcPct val="105000"/>
                        </a:lnSpc>
                        <a:spcBef>
                          <a:spcPts val="230"/>
                        </a:spcBef>
                      </a:pPr>
                      <a:r>
                        <a:rPr sz="1550" b="1" dirty="0">
                          <a:latin typeface="Calibri" panose="020F0502020204030204"/>
                          <a:cs typeface="Calibri" panose="020F0502020204030204"/>
                        </a:rPr>
                        <a:t>Journal</a:t>
                      </a:r>
                      <a:r>
                        <a:rPr sz="1550" b="1" spc="130" dirty="0">
                          <a:latin typeface="Calibri" panose="020F0502020204030204"/>
                          <a:cs typeface="Calibri" panose="020F0502020204030204"/>
                        </a:rPr>
                        <a:t> </a:t>
                      </a:r>
                      <a:r>
                        <a:rPr sz="1550" b="1" dirty="0">
                          <a:latin typeface="Calibri" panose="020F0502020204030204"/>
                          <a:cs typeface="Calibri" panose="020F0502020204030204"/>
                        </a:rPr>
                        <a:t>Name</a:t>
                      </a:r>
                      <a:r>
                        <a:rPr sz="1550" b="1" spc="90" dirty="0">
                          <a:latin typeface="Calibri" panose="020F0502020204030204"/>
                          <a:cs typeface="Calibri" panose="020F0502020204030204"/>
                        </a:rPr>
                        <a:t> </a:t>
                      </a:r>
                      <a:r>
                        <a:rPr sz="1550" b="1" spc="-50" dirty="0">
                          <a:latin typeface="Calibri" panose="020F0502020204030204"/>
                          <a:cs typeface="Calibri" panose="020F0502020204030204"/>
                        </a:rPr>
                        <a:t>&amp; </a:t>
                      </a:r>
                      <a:r>
                        <a:rPr sz="1550" b="1" spc="-20" dirty="0">
                          <a:latin typeface="Calibri" panose="020F0502020204030204"/>
                          <a:cs typeface="Calibri" panose="020F0502020204030204"/>
                        </a:rPr>
                        <a:t>Year</a:t>
                      </a:r>
                      <a:endParaRPr sz="1550" dirty="0">
                        <a:latin typeface="Calibri" panose="020F0502020204030204"/>
                        <a:cs typeface="Calibri" panose="020F0502020204030204"/>
                      </a:endParaRPr>
                    </a:p>
                  </a:txBody>
                  <a:tcPr marL="0" marR="0" marT="2920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588010" marR="367030" indent="-208915">
                        <a:lnSpc>
                          <a:spcPct val="105000"/>
                        </a:lnSpc>
                        <a:spcBef>
                          <a:spcPts val="230"/>
                        </a:spcBef>
                      </a:pPr>
                      <a:r>
                        <a:rPr sz="1550" b="1" spc="-10" dirty="0">
                          <a:latin typeface="Calibri" panose="020F0502020204030204"/>
                          <a:cs typeface="Calibri" panose="020F0502020204030204"/>
                        </a:rPr>
                        <a:t>Methodology Adapted</a:t>
                      </a:r>
                      <a:endParaRPr sz="1550" dirty="0">
                        <a:latin typeface="Calibri" panose="020F0502020204030204"/>
                        <a:cs typeface="Calibri" panose="020F0502020204030204"/>
                      </a:endParaRPr>
                    </a:p>
                  </a:txBody>
                  <a:tcPr marL="0" marR="0" marT="2920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254635">
                        <a:lnSpc>
                          <a:spcPct val="100000"/>
                        </a:lnSpc>
                        <a:spcBef>
                          <a:spcPts val="325"/>
                        </a:spcBef>
                      </a:pPr>
                      <a:r>
                        <a:rPr sz="1550" b="1" dirty="0">
                          <a:latin typeface="Calibri" panose="020F0502020204030204"/>
                          <a:cs typeface="Calibri" panose="020F0502020204030204"/>
                        </a:rPr>
                        <a:t>Key</a:t>
                      </a:r>
                      <a:r>
                        <a:rPr sz="1550" b="1" spc="45" dirty="0">
                          <a:latin typeface="Calibri" panose="020F0502020204030204"/>
                          <a:cs typeface="Calibri" panose="020F0502020204030204"/>
                        </a:rPr>
                        <a:t> </a:t>
                      </a:r>
                      <a:r>
                        <a:rPr sz="1550" b="1" spc="-10" dirty="0">
                          <a:latin typeface="Calibri" panose="020F0502020204030204"/>
                          <a:cs typeface="Calibri" panose="020F0502020204030204"/>
                        </a:rPr>
                        <a:t>Findings</a:t>
                      </a:r>
                      <a:endParaRPr sz="1550" dirty="0">
                        <a:latin typeface="Calibri" panose="020F0502020204030204"/>
                        <a:cs typeface="Calibri" panose="020F0502020204030204"/>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19050" algn="ctr">
                        <a:lnSpc>
                          <a:spcPct val="100000"/>
                        </a:lnSpc>
                        <a:spcBef>
                          <a:spcPts val="325"/>
                        </a:spcBef>
                      </a:pPr>
                      <a:r>
                        <a:rPr sz="1550" b="1" spc="-20" dirty="0">
                          <a:latin typeface="Calibri" panose="020F0502020204030204"/>
                          <a:cs typeface="Calibri" panose="020F0502020204030204"/>
                        </a:rPr>
                        <a:t>Gaps</a:t>
                      </a:r>
                      <a:endParaRPr sz="1550">
                        <a:latin typeface="Calibri" panose="020F0502020204030204"/>
                        <a:cs typeface="Calibri" panose="020F0502020204030204"/>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r>
              <a:tr h="1590675">
                <a:tc>
                  <a:txBody>
                    <a:bodyPr/>
                    <a:lstStyle/>
                    <a:p>
                      <a:pPr marL="92075">
                        <a:lnSpc>
                          <a:spcPct val="100000"/>
                        </a:lnSpc>
                        <a:spcBef>
                          <a:spcPts val="255"/>
                        </a:spcBef>
                      </a:pPr>
                      <a:r>
                        <a:rPr sz="1400" spc="-50" dirty="0">
                          <a:latin typeface="Calibri" panose="020F0502020204030204"/>
                          <a:cs typeface="Calibri" panose="020F0502020204030204"/>
                        </a:rPr>
                        <a:t>1</a:t>
                      </a:r>
                      <a:endParaRPr sz="1400" dirty="0">
                        <a:latin typeface="Calibri" panose="020F0502020204030204"/>
                        <a:cs typeface="Calibri" panose="020F0502020204030204"/>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gn="just">
                        <a:lnSpc>
                          <a:spcPct val="100000"/>
                        </a:lnSpc>
                        <a:spcBef>
                          <a:spcPts val="255"/>
                        </a:spcBef>
                      </a:pPr>
                      <a:r>
                        <a:rPr lang="en-US" altLang="en-US" sz="1400" dirty="0">
                          <a:latin typeface="Times New Roman" panose="02020603050405020304" charset="0"/>
                          <a:cs typeface="Times New Roman" panose="02020603050405020304" charset="0"/>
                        </a:rPr>
                        <a:t>Ultrasound Breast</a:t>
                      </a:r>
                      <a:endParaRPr lang="en-US" altLang="en-US" sz="1400" dirty="0">
                        <a:latin typeface="Times New Roman" panose="02020603050405020304" charset="0"/>
                        <a:cs typeface="Times New Roman" panose="02020603050405020304" charset="0"/>
                      </a:endParaRPr>
                    </a:p>
                    <a:p>
                      <a:pPr marL="92075" algn="just">
                        <a:lnSpc>
                          <a:spcPct val="100000"/>
                        </a:lnSpc>
                        <a:spcBef>
                          <a:spcPts val="255"/>
                        </a:spcBef>
                      </a:pPr>
                      <a:r>
                        <a:rPr lang="en-US" altLang="en-US" sz="1400" dirty="0">
                          <a:latin typeface="Times New Roman" panose="02020603050405020304" charset="0"/>
                          <a:cs typeface="Times New Roman" panose="02020603050405020304" charset="0"/>
                        </a:rPr>
                        <a:t>Image Classification</a:t>
                      </a:r>
                      <a:endParaRPr lang="en-US" altLang="en-US" sz="1400" dirty="0">
                        <a:latin typeface="Times New Roman" panose="02020603050405020304" charset="0"/>
                        <a:cs typeface="Times New Roman" panose="02020603050405020304" charset="0"/>
                      </a:endParaRPr>
                    </a:p>
                    <a:p>
                      <a:pPr marL="92075" algn="just">
                        <a:lnSpc>
                          <a:spcPct val="100000"/>
                        </a:lnSpc>
                        <a:spcBef>
                          <a:spcPts val="255"/>
                        </a:spcBef>
                      </a:pPr>
                      <a:r>
                        <a:rPr lang="en-US" altLang="en-US" sz="1400" dirty="0">
                          <a:latin typeface="Times New Roman" panose="02020603050405020304" charset="0"/>
                          <a:cs typeface="Times New Roman" panose="02020603050405020304" charset="0"/>
                        </a:rPr>
                        <a:t>Through Domain</a:t>
                      </a:r>
                      <a:endParaRPr lang="en-US" altLang="en-US" sz="1400" dirty="0">
                        <a:latin typeface="Times New Roman" panose="02020603050405020304" charset="0"/>
                        <a:cs typeface="Times New Roman" panose="02020603050405020304" charset="0"/>
                      </a:endParaRPr>
                    </a:p>
                    <a:p>
                      <a:pPr marL="92075" algn="just">
                        <a:lnSpc>
                          <a:spcPct val="100000"/>
                        </a:lnSpc>
                        <a:spcBef>
                          <a:spcPts val="255"/>
                        </a:spcBef>
                      </a:pPr>
                      <a:r>
                        <a:rPr lang="en-US" altLang="en-US" sz="1400" dirty="0">
                          <a:latin typeface="Times New Roman" panose="02020603050405020304" charset="0"/>
                          <a:cs typeface="Times New Roman" panose="02020603050405020304" charset="0"/>
                        </a:rPr>
                        <a:t>Knowledge</a:t>
                      </a:r>
                      <a:endParaRPr lang="en-US" altLang="en-US" sz="1400" dirty="0">
                        <a:latin typeface="Times New Roman" panose="02020603050405020304" charset="0"/>
                        <a:cs typeface="Times New Roman" panose="02020603050405020304" charset="0"/>
                      </a:endParaRPr>
                    </a:p>
                    <a:p>
                      <a:pPr marL="92075" algn="just">
                        <a:lnSpc>
                          <a:spcPct val="100000"/>
                        </a:lnSpc>
                        <a:spcBef>
                          <a:spcPts val="255"/>
                        </a:spcBef>
                      </a:pPr>
                      <a:r>
                        <a:rPr lang="en-US" altLang="en-US" sz="1400" dirty="0">
                          <a:latin typeface="Times New Roman" panose="02020603050405020304" charset="0"/>
                          <a:cs typeface="Times New Roman" panose="02020603050405020304" charset="0"/>
                        </a:rPr>
                        <a:t>Integration Into Deep</a:t>
                      </a:r>
                      <a:endParaRPr lang="en-US" altLang="en-US" sz="1400" dirty="0">
                        <a:latin typeface="Times New Roman" panose="02020603050405020304" charset="0"/>
                        <a:cs typeface="Times New Roman" panose="02020603050405020304" charset="0"/>
                      </a:endParaRPr>
                    </a:p>
                    <a:p>
                      <a:pPr marL="92075" algn="just">
                        <a:lnSpc>
                          <a:spcPct val="100000"/>
                        </a:lnSpc>
                        <a:spcBef>
                          <a:spcPts val="255"/>
                        </a:spcBef>
                      </a:pPr>
                      <a:r>
                        <a:rPr lang="en-US" altLang="en-US" sz="1400" dirty="0">
                          <a:latin typeface="Times New Roman" panose="02020603050405020304" charset="0"/>
                          <a:cs typeface="Times New Roman" panose="02020603050405020304" charset="0"/>
                        </a:rPr>
                        <a:t>Neural Networks</a:t>
                      </a:r>
                      <a:endParaRPr lang="en-US" altLang="en-US" sz="1400" dirty="0">
                        <a:latin typeface="Times New Roman" panose="02020603050405020304" charset="0"/>
                        <a:cs typeface="Times New Roman" panose="02020603050405020304" charset="0"/>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1280" lvl="0" algn="just">
                        <a:lnSpc>
                          <a:spcPct val="100000"/>
                        </a:lnSpc>
                      </a:pPr>
                      <a:r>
                        <a:rPr lang="en-US" altLang="en-US" sz="1400" dirty="0">
                          <a:latin typeface="Times New Roman" panose="02020603050405020304"/>
                          <a:cs typeface="Times New Roman" panose="02020603050405020304"/>
                        </a:rPr>
                        <a:t>Y. Zhang et al.,</a:t>
                      </a:r>
                      <a:endParaRPr lang="en-US" altLang="en-US" sz="1400" dirty="0">
                        <a:latin typeface="Times New Roman" panose="02020603050405020304"/>
                        <a:cs typeface="Times New Roman" panose="02020603050405020304"/>
                      </a:endParaRPr>
                    </a:p>
                    <a:p>
                      <a:pPr marL="81280" lvl="0" algn="just">
                        <a:lnSpc>
                          <a:spcPct val="100000"/>
                        </a:lnSpc>
                      </a:pPr>
                      <a:r>
                        <a:rPr lang="en-US" altLang="en-US" sz="1400" dirty="0">
                          <a:latin typeface="Times New Roman" panose="02020603050405020304"/>
                          <a:cs typeface="Times New Roman" panose="02020603050405020304"/>
                        </a:rPr>
                        <a:t>2024, IEEE</a:t>
                      </a:r>
                      <a:endParaRPr lang="en-US" altLang="en-US" sz="1400" dirty="0">
                        <a:latin typeface="Times New Roman" panose="02020603050405020304"/>
                        <a:cs typeface="Times New Roman" panose="02020603050405020304"/>
                      </a:endParaRPr>
                    </a:p>
                    <a:p>
                      <a:pPr marL="81280" lvl="0" algn="just">
                        <a:lnSpc>
                          <a:spcPct val="100000"/>
                        </a:lnSpc>
                      </a:pPr>
                      <a:r>
                        <a:rPr lang="en-US" altLang="en-US" sz="1400" dirty="0">
                          <a:latin typeface="Times New Roman" panose="02020603050405020304"/>
                          <a:cs typeface="Times New Roman" panose="02020603050405020304"/>
                        </a:rPr>
                        <a:t>Transactions on</a:t>
                      </a:r>
                      <a:endParaRPr lang="en-US" altLang="en-US" sz="1400" dirty="0">
                        <a:latin typeface="Times New Roman" panose="02020603050405020304"/>
                        <a:cs typeface="Times New Roman" panose="02020603050405020304"/>
                      </a:endParaRPr>
                    </a:p>
                    <a:p>
                      <a:pPr marL="81280" lvl="0" algn="just">
                        <a:lnSpc>
                          <a:spcPct val="100000"/>
                        </a:lnSpc>
                      </a:pPr>
                      <a:r>
                        <a:rPr lang="en-US" altLang="en-US" sz="1400" dirty="0">
                          <a:latin typeface="Times New Roman" panose="02020603050405020304"/>
                          <a:cs typeface="Times New Roman" panose="02020603050405020304"/>
                        </a:rPr>
                        <a:t>Image Processing</a:t>
                      </a:r>
                      <a:endParaRPr lang="en-US" altLang="en-US" sz="1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5250" algn="l">
                        <a:lnSpc>
                          <a:spcPct val="100000"/>
                        </a:lnSpc>
                        <a:spcBef>
                          <a:spcPts val="255"/>
                        </a:spcBef>
                      </a:pPr>
                      <a:r>
                        <a:rPr lang="en-US" altLang="en-US" sz="1400" dirty="0">
                          <a:latin typeface="Calibri" panose="020F0502020204030204"/>
                          <a:cs typeface="Calibri" panose="020F0502020204030204"/>
                          <a:hlinkClick r:id="rId2" tooltip="" action="ppaction://hlinkfile"/>
                        </a:rPr>
                        <a:t>https://  ieeexplore.ieee.org/ document/10634159</a:t>
                      </a:r>
                      <a:endParaRPr lang="en-US" altLang="en-US" sz="1400" dirty="0">
                        <a:latin typeface="Calibri" panose="020F0502020204030204"/>
                        <a:cs typeface="Calibri" panose="020F0502020204030204"/>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6835" indent="0">
                        <a:lnSpc>
                          <a:spcPct val="100000"/>
                        </a:lnSpc>
                      </a:pPr>
                      <a:r>
                        <a:rPr lang="en-US" altLang="en-US" sz="1400" dirty="0">
                          <a:latin typeface="Times New Roman" panose="02020603050405020304"/>
                          <a:cs typeface="Times New Roman" panose="02020603050405020304"/>
                        </a:rPr>
                        <a:t>U-Net extracts</a:t>
                      </a:r>
                      <a:endParaRPr lang="en-US" altLang="en-US" sz="1400" dirty="0">
                        <a:latin typeface="Times New Roman" panose="02020603050405020304"/>
                        <a:cs typeface="Times New Roman" panose="02020603050405020304"/>
                      </a:endParaRPr>
                    </a:p>
                    <a:p>
                      <a:pPr marL="76835" indent="0">
                        <a:lnSpc>
                          <a:spcPct val="100000"/>
                        </a:lnSpc>
                      </a:pPr>
                      <a:r>
                        <a:rPr lang="en-US" altLang="en-US" sz="1400" dirty="0">
                          <a:latin typeface="Times New Roman" panose="02020603050405020304"/>
                          <a:cs typeface="Times New Roman" panose="02020603050405020304"/>
                        </a:rPr>
                        <a:t>segmentation masks;</a:t>
                      </a:r>
                      <a:endParaRPr lang="en-US" altLang="en-US" sz="1400" dirty="0">
                        <a:latin typeface="Times New Roman" panose="02020603050405020304"/>
                        <a:cs typeface="Times New Roman" panose="02020603050405020304"/>
                      </a:endParaRPr>
                    </a:p>
                    <a:p>
                      <a:pPr marL="76835" indent="0">
                        <a:lnSpc>
                          <a:spcPct val="100000"/>
                        </a:lnSpc>
                      </a:pPr>
                      <a:r>
                        <a:rPr lang="en-US" altLang="en-US" sz="1400" dirty="0">
                          <a:latin typeface="Times New Roman" panose="02020603050405020304"/>
                          <a:cs typeface="Times New Roman" panose="02020603050405020304"/>
                        </a:rPr>
                        <a:t>resized inputs feed a dual_x0002_stream CNN with</a:t>
                      </a:r>
                      <a:endParaRPr lang="en-US" altLang="en-US" sz="1400" dirty="0">
                        <a:latin typeface="Times New Roman" panose="02020603050405020304"/>
                        <a:cs typeface="Times New Roman" panose="02020603050405020304"/>
                      </a:endParaRPr>
                    </a:p>
                    <a:p>
                      <a:pPr marL="76835" indent="0">
                        <a:lnSpc>
                          <a:spcPct val="100000"/>
                        </a:lnSpc>
                      </a:pPr>
                      <a:r>
                        <a:rPr lang="en-US" altLang="en-US" sz="1400" dirty="0">
                          <a:latin typeface="Times New Roman" panose="02020603050405020304"/>
                          <a:cs typeface="Times New Roman" panose="02020603050405020304"/>
                        </a:rPr>
                        <a:t>multiscale fusion for</a:t>
                      </a:r>
                      <a:endParaRPr lang="en-US" altLang="en-US" sz="1400" dirty="0">
                        <a:latin typeface="Times New Roman" panose="02020603050405020304"/>
                        <a:cs typeface="Times New Roman" panose="02020603050405020304"/>
                      </a:endParaRPr>
                    </a:p>
                    <a:p>
                      <a:pPr marL="76835" indent="0">
                        <a:lnSpc>
                          <a:spcPct val="100000"/>
                        </a:lnSpc>
                      </a:pPr>
                      <a:r>
                        <a:rPr lang="en-US" altLang="en-US" sz="1400" dirty="0">
                          <a:latin typeface="Times New Roman" panose="02020603050405020304"/>
                          <a:cs typeface="Times New Roman" panose="02020603050405020304"/>
                        </a:rPr>
                        <a:t>classification.</a:t>
                      </a:r>
                      <a:endParaRPr lang="en-US" altLang="en-US" sz="1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02235" indent="-10160">
                        <a:lnSpc>
                          <a:spcPct val="100000"/>
                        </a:lnSpc>
                      </a:pPr>
                      <a:r>
                        <a:rPr lang="en-US" altLang="en-US" sz="1400" dirty="0">
                          <a:latin typeface="Times New Roman" panose="02020603050405020304"/>
                          <a:cs typeface="Times New Roman" panose="02020603050405020304"/>
                        </a:rPr>
                        <a:t>Achieved 7.5%</a:t>
                      </a:r>
                      <a:endParaRPr lang="en-US" altLang="en-US" sz="1400" dirty="0">
                        <a:latin typeface="Times New Roman" panose="02020603050405020304"/>
                        <a:cs typeface="Times New Roman" panose="02020603050405020304"/>
                      </a:endParaRPr>
                    </a:p>
                    <a:p>
                      <a:pPr marL="102235" indent="-10160">
                        <a:lnSpc>
                          <a:spcPct val="100000"/>
                        </a:lnSpc>
                      </a:pPr>
                      <a:r>
                        <a:rPr lang="en-US" altLang="en-US" sz="1400" dirty="0">
                          <a:latin typeface="Times New Roman" panose="02020603050405020304"/>
                          <a:cs typeface="Times New Roman" panose="02020603050405020304"/>
                        </a:rPr>
                        <a:t>higher accuracy with better interpretability</a:t>
                      </a:r>
                      <a:endParaRPr lang="en-US" altLang="en-US" sz="1400" dirty="0">
                        <a:latin typeface="Times New Roman" panose="02020603050405020304"/>
                        <a:cs typeface="Times New Roman" panose="02020603050405020304"/>
                      </a:endParaRPr>
                    </a:p>
                    <a:p>
                      <a:pPr marL="102235" indent="-10160">
                        <a:lnSpc>
                          <a:spcPct val="100000"/>
                        </a:lnSpc>
                      </a:pPr>
                      <a:r>
                        <a:rPr lang="en-US" altLang="en-US" sz="1400" dirty="0">
                          <a:latin typeface="Times New Roman" panose="02020603050405020304"/>
                          <a:cs typeface="Times New Roman" panose="02020603050405020304"/>
                        </a:rPr>
                        <a:t>and region-focused</a:t>
                      </a:r>
                      <a:endParaRPr lang="en-US" altLang="en-US" sz="1400" dirty="0">
                        <a:latin typeface="Times New Roman" panose="02020603050405020304"/>
                        <a:cs typeface="Times New Roman" panose="02020603050405020304"/>
                      </a:endParaRPr>
                    </a:p>
                    <a:p>
                      <a:pPr marL="102235" indent="-10160">
                        <a:lnSpc>
                          <a:spcPct val="100000"/>
                        </a:lnSpc>
                      </a:pPr>
                      <a:r>
                        <a:rPr lang="en-US" altLang="en-US" sz="1400" dirty="0">
                          <a:latin typeface="Times New Roman" panose="02020603050405020304"/>
                          <a:cs typeface="Times New Roman" panose="02020603050405020304"/>
                        </a:rPr>
                        <a:t>learning.</a:t>
                      </a:r>
                      <a:endParaRPr lang="en-US" altLang="en-US" sz="1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4295" indent="8255">
                        <a:lnSpc>
                          <a:spcPct val="100000"/>
                        </a:lnSpc>
                      </a:pPr>
                      <a:r>
                        <a:rPr lang="en-US" altLang="en-US" sz="1400" dirty="0">
                          <a:latin typeface="Times New Roman" panose="02020603050405020304"/>
                          <a:cs typeface="Times New Roman" panose="02020603050405020304"/>
                        </a:rPr>
                        <a:t>Performance limits</a:t>
                      </a:r>
                      <a:endParaRPr lang="en-US" altLang="en-US" sz="1400" dirty="0">
                        <a:latin typeface="Times New Roman" panose="02020603050405020304"/>
                        <a:cs typeface="Times New Roman" panose="02020603050405020304"/>
                      </a:endParaRPr>
                    </a:p>
                    <a:p>
                      <a:pPr marL="74295" indent="8255">
                        <a:lnSpc>
                          <a:spcPct val="100000"/>
                        </a:lnSpc>
                      </a:pPr>
                      <a:r>
                        <a:rPr lang="en-US" altLang="en-US" sz="1400" dirty="0">
                          <a:latin typeface="Times New Roman" panose="02020603050405020304"/>
                          <a:cs typeface="Times New Roman" panose="02020603050405020304"/>
                        </a:rPr>
                        <a:t>by small data, poor</a:t>
                      </a:r>
                      <a:endParaRPr lang="en-US" altLang="en-US" sz="1400" dirty="0">
                        <a:latin typeface="Times New Roman" panose="02020603050405020304"/>
                        <a:cs typeface="Times New Roman" panose="02020603050405020304"/>
                      </a:endParaRPr>
                    </a:p>
                    <a:p>
                      <a:pPr marL="74295" indent="8255">
                        <a:lnSpc>
                          <a:spcPct val="100000"/>
                        </a:lnSpc>
                      </a:pPr>
                      <a:r>
                        <a:rPr lang="en-US" altLang="en-US" sz="1400" dirty="0">
                          <a:latin typeface="Times New Roman" panose="02020603050405020304"/>
                          <a:cs typeface="Times New Roman" panose="02020603050405020304"/>
                        </a:rPr>
                        <a:t>generalization, and</a:t>
                      </a:r>
                      <a:endParaRPr lang="en-US" altLang="en-US" sz="1400" dirty="0">
                        <a:latin typeface="Times New Roman" panose="02020603050405020304"/>
                        <a:cs typeface="Times New Roman" panose="02020603050405020304"/>
                      </a:endParaRPr>
                    </a:p>
                    <a:p>
                      <a:pPr marL="74295" indent="8255">
                        <a:lnSpc>
                          <a:spcPct val="100000"/>
                        </a:lnSpc>
                      </a:pPr>
                      <a:r>
                        <a:rPr lang="en-US" altLang="en-US" sz="1400" dirty="0">
                          <a:latin typeface="Times New Roman" panose="02020603050405020304"/>
                          <a:cs typeface="Times New Roman" panose="02020603050405020304"/>
                        </a:rPr>
                        <a:t>reliance on precise</a:t>
                      </a:r>
                      <a:endParaRPr lang="en-US" altLang="en-US" sz="1400" dirty="0">
                        <a:latin typeface="Times New Roman" panose="02020603050405020304"/>
                        <a:cs typeface="Times New Roman" panose="02020603050405020304"/>
                      </a:endParaRPr>
                    </a:p>
                    <a:p>
                      <a:pPr marL="74295" indent="8255">
                        <a:lnSpc>
                          <a:spcPct val="100000"/>
                        </a:lnSpc>
                      </a:pPr>
                      <a:r>
                        <a:rPr lang="en-US" altLang="en-US" sz="1400" dirty="0">
                          <a:latin typeface="Times New Roman" panose="02020603050405020304"/>
                          <a:cs typeface="Times New Roman" panose="02020603050405020304"/>
                        </a:rPr>
                        <a:t>segmentation mask..</a:t>
                      </a:r>
                      <a:endParaRPr lang="en-US" altLang="en-US" sz="1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280160">
                <a:tc>
                  <a:txBody>
                    <a:bodyPr/>
                    <a:lstStyle/>
                    <a:p>
                      <a:pPr marL="92075">
                        <a:lnSpc>
                          <a:spcPct val="100000"/>
                        </a:lnSpc>
                        <a:spcBef>
                          <a:spcPts val="265"/>
                        </a:spcBef>
                      </a:pPr>
                      <a:r>
                        <a:rPr sz="1400" spc="-50" dirty="0">
                          <a:latin typeface="Calibri" panose="020F0502020204030204"/>
                          <a:cs typeface="Calibri" panose="020F0502020204030204"/>
                        </a:rPr>
                        <a:t>2</a:t>
                      </a:r>
                      <a:endParaRPr sz="1400">
                        <a:latin typeface="Calibri" panose="020F0502020204030204"/>
                        <a:cs typeface="Calibri" panose="020F0502020204030204"/>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135" indent="20320" algn="just">
                        <a:lnSpc>
                          <a:spcPct val="100000"/>
                        </a:lnSpc>
                      </a:pPr>
                      <a:r>
                        <a:rPr lang="en-US" altLang="en-US" sz="1400" dirty="0">
                          <a:latin typeface="Times New Roman" panose="02020603050405020304"/>
                          <a:cs typeface="Times New Roman" panose="02020603050405020304"/>
                        </a:rPr>
                        <a:t>Breast Cancer Detection</a:t>
                      </a:r>
                      <a:endParaRPr lang="en-US" altLang="en-US" sz="1400" dirty="0">
                        <a:latin typeface="Times New Roman" panose="02020603050405020304"/>
                        <a:cs typeface="Times New Roman" panose="02020603050405020304"/>
                      </a:endParaRPr>
                    </a:p>
                    <a:p>
                      <a:pPr marL="64135" indent="20320" algn="just">
                        <a:lnSpc>
                          <a:spcPct val="100000"/>
                        </a:lnSpc>
                      </a:pPr>
                      <a:r>
                        <a:rPr lang="en-US" altLang="en-US" sz="1400" dirty="0">
                          <a:latin typeface="Times New Roman" panose="02020603050405020304"/>
                          <a:cs typeface="Times New Roman" panose="02020603050405020304"/>
                        </a:rPr>
                        <a:t>Using Transfer Learning</a:t>
                      </a:r>
                      <a:endParaRPr lang="en-US" altLang="en-US" sz="1400" dirty="0">
                        <a:latin typeface="Times New Roman" panose="02020603050405020304"/>
                        <a:cs typeface="Times New Roman" panose="02020603050405020304"/>
                      </a:endParaRPr>
                    </a:p>
                    <a:p>
                      <a:pPr marL="64135" indent="20320" algn="just">
                        <a:lnSpc>
                          <a:spcPct val="100000"/>
                        </a:lnSpc>
                      </a:pPr>
                      <a:r>
                        <a:rPr lang="en-US" altLang="en-US" sz="1400" dirty="0">
                          <a:latin typeface="Times New Roman" panose="02020603050405020304"/>
                          <a:cs typeface="Times New Roman" panose="02020603050405020304"/>
                        </a:rPr>
                        <a:t>and Decision Fusion</a:t>
                      </a:r>
                      <a:endParaRPr lang="en-US" altLang="en-US" sz="1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960" defTabSz="1392555">
                        <a:lnSpc>
                          <a:spcPct val="100000"/>
                        </a:lnSpc>
                        <a:tabLst/>
                      </a:pPr>
                      <a:r>
                        <a:rPr lang="en-US" altLang="en-US" sz="1400" dirty="0">
                          <a:latin typeface="Times New Roman" panose="02020603050405020304"/>
                          <a:cs typeface="Times New Roman" panose="02020603050405020304"/>
                        </a:rPr>
                        <a:t>D. Abdelhafiz et al., Frontiers</a:t>
                      </a:r>
                      <a:endParaRPr lang="en-US" altLang="en-US" sz="1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9535" indent="-20320">
                        <a:lnSpc>
                          <a:spcPct val="100000"/>
                        </a:lnSpc>
                      </a:pPr>
                      <a:r>
                        <a:rPr lang="en-US" altLang="en-US" sz="1400" dirty="0">
                          <a:latin typeface="Times New Roman" panose="02020603050405020304"/>
                          <a:cs typeface="Times New Roman" panose="02020603050405020304"/>
                          <a:hlinkClick r:id="rId3" tooltip="" action="ppaction://hlinkfile"/>
                        </a:rPr>
                        <a:t>https://paultimothymoo ney/chest-xray_x0002_pneumonia</a:t>
                      </a:r>
                      <a:endParaRPr lang="en-US" altLang="en-US" sz="1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6995" indent="-10160" algn="l">
                        <a:lnSpc>
                          <a:spcPct val="100000"/>
                        </a:lnSpc>
                      </a:pPr>
                      <a:r>
                        <a:rPr lang="en-US" altLang="en-US" sz="1400" dirty="0">
                          <a:latin typeface="Times New Roman" panose="02020603050405020304"/>
                          <a:cs typeface="Times New Roman" panose="02020603050405020304"/>
                        </a:rPr>
                        <a:t>Patch-wise augmented</a:t>
                      </a:r>
                      <a:endParaRPr lang="en-US" altLang="en-US" sz="1400" dirty="0">
                        <a:latin typeface="Times New Roman" panose="02020603050405020304"/>
                        <a:cs typeface="Times New Roman" panose="02020603050405020304"/>
                      </a:endParaRPr>
                    </a:p>
                    <a:p>
                      <a:pPr marL="86995" indent="-10160" algn="l">
                        <a:lnSpc>
                          <a:spcPct val="100000"/>
                        </a:lnSpc>
                      </a:pPr>
                      <a:r>
                        <a:rPr lang="en-US" altLang="en-US" sz="1400" dirty="0">
                          <a:latin typeface="Times New Roman" panose="02020603050405020304"/>
                          <a:cs typeface="Times New Roman" panose="02020603050405020304"/>
                        </a:rPr>
                        <a:t>and normalized inputs are processed transfer learning with adaptive fusion.</a:t>
                      </a:r>
                      <a:endParaRPr lang="en-US" altLang="en-US" sz="1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44780" indent="-10160" algn="l">
                        <a:lnSpc>
                          <a:spcPct val="100000"/>
                        </a:lnSpc>
                      </a:pPr>
                      <a:r>
                        <a:rPr lang="en-US" altLang="en-US" sz="1400" dirty="0">
                          <a:latin typeface="Times New Roman" panose="02020603050405020304"/>
                          <a:cs typeface="Times New Roman" panose="02020603050405020304"/>
                        </a:rPr>
                        <a:t>Achieved ~94%</a:t>
                      </a:r>
                      <a:endParaRPr lang="en-US" altLang="en-US" sz="1400" dirty="0">
                        <a:latin typeface="Times New Roman" panose="02020603050405020304"/>
                        <a:cs typeface="Times New Roman" panose="02020603050405020304"/>
                      </a:endParaRPr>
                    </a:p>
                    <a:p>
                      <a:pPr marL="144780" indent="-10160" algn="l">
                        <a:lnSpc>
                          <a:spcPct val="100000"/>
                        </a:lnSpc>
                      </a:pPr>
                      <a:r>
                        <a:rPr lang="en-US" altLang="en-US" sz="1400" dirty="0">
                          <a:latin typeface="Times New Roman" panose="02020603050405020304"/>
                          <a:cs typeface="Times New Roman" panose="02020603050405020304"/>
                        </a:rPr>
                        <a:t>accuracy on limits</a:t>
                      </a:r>
                      <a:endParaRPr lang="en-US" altLang="en-US" sz="1400" dirty="0">
                        <a:latin typeface="Times New Roman" panose="02020603050405020304"/>
                        <a:cs typeface="Times New Roman" panose="02020603050405020304"/>
                      </a:endParaRPr>
                    </a:p>
                    <a:p>
                      <a:pPr marL="144780" indent="-10160" algn="l">
                        <a:lnSpc>
                          <a:spcPct val="100000"/>
                        </a:lnSpc>
                      </a:pPr>
                      <a:r>
                        <a:rPr lang="en-US" altLang="en-US" sz="1400" dirty="0">
                          <a:latin typeface="Times New Roman" panose="02020603050405020304"/>
                          <a:cs typeface="Times New Roman" panose="02020603050405020304"/>
                        </a:rPr>
                        <a:t>data model fusion,</a:t>
                      </a:r>
                      <a:endParaRPr lang="en-US" altLang="en-US" sz="1400" dirty="0">
                        <a:latin typeface="Times New Roman" panose="02020603050405020304"/>
                        <a:cs typeface="Times New Roman" panose="02020603050405020304"/>
                      </a:endParaRPr>
                    </a:p>
                    <a:p>
                      <a:pPr marL="144780" indent="-10160" algn="l">
                        <a:lnSpc>
                          <a:spcPct val="100000"/>
                        </a:lnSpc>
                      </a:pPr>
                      <a:r>
                        <a:rPr lang="en-US" altLang="en-US" sz="1400" dirty="0">
                          <a:latin typeface="Times New Roman" panose="02020603050405020304"/>
                          <a:cs typeface="Times New Roman" panose="02020603050405020304"/>
                        </a:rPr>
                        <a:t>strong generalization.</a:t>
                      </a:r>
                      <a:endParaRPr lang="en-US" altLang="en-US" sz="1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14935" indent="0" algn="l">
                        <a:lnSpc>
                          <a:spcPct val="100000"/>
                        </a:lnSpc>
                      </a:pPr>
                      <a:r>
                        <a:rPr lang="en-US" altLang="en-US" sz="1400" dirty="0">
                          <a:latin typeface="Times New Roman" panose="02020603050405020304"/>
                          <a:cs typeface="Times New Roman" panose="02020603050405020304"/>
                        </a:rPr>
                        <a:t>Cross-device dataset variability and limiting</a:t>
                      </a:r>
                      <a:endParaRPr lang="en-US" altLang="en-US" sz="1400" dirty="0">
                        <a:latin typeface="Times New Roman" panose="02020603050405020304"/>
                        <a:cs typeface="Times New Roman" panose="02020603050405020304"/>
                      </a:endParaRPr>
                    </a:p>
                    <a:p>
                      <a:pPr marL="114935" indent="0" algn="l">
                        <a:lnSpc>
                          <a:spcPct val="100000"/>
                        </a:lnSpc>
                      </a:pPr>
                      <a:r>
                        <a:rPr lang="en-US" altLang="en-US" sz="1400" dirty="0">
                          <a:latin typeface="Times New Roman" panose="02020603050405020304"/>
                          <a:cs typeface="Times New Roman" panose="02020603050405020304"/>
                        </a:rPr>
                        <a:t>broader </a:t>
                      </a:r>
                      <a:endParaRPr lang="en-US" altLang="en-US" sz="1400" dirty="0">
                        <a:latin typeface="Times New Roman" panose="02020603050405020304"/>
                        <a:cs typeface="Times New Roman" panose="02020603050405020304"/>
                      </a:endParaRPr>
                    </a:p>
                    <a:p>
                      <a:pPr marL="114935" indent="0" algn="l">
                        <a:lnSpc>
                          <a:spcPct val="100000"/>
                        </a:lnSpc>
                      </a:pPr>
                      <a:r>
                        <a:rPr lang="en-US" altLang="en-US" sz="1400" dirty="0">
                          <a:latin typeface="Times New Roman" panose="02020603050405020304"/>
                          <a:cs typeface="Times New Roman" panose="02020603050405020304"/>
                        </a:rPr>
                        <a:t>applicability.</a:t>
                      </a:r>
                      <a:endParaRPr lang="en-US" altLang="en-US" sz="1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280160">
                <a:tc>
                  <a:txBody>
                    <a:bodyPr/>
                    <a:lstStyle/>
                    <a:p>
                      <a:pPr marL="92075">
                        <a:lnSpc>
                          <a:spcPct val="100000"/>
                        </a:lnSpc>
                        <a:spcBef>
                          <a:spcPts val="275"/>
                        </a:spcBef>
                      </a:pPr>
                      <a:r>
                        <a:rPr sz="1400" spc="-50" dirty="0">
                          <a:latin typeface="Calibri" panose="020F0502020204030204"/>
                          <a:cs typeface="Calibri" panose="020F0502020204030204"/>
                        </a:rPr>
                        <a:t>3</a:t>
                      </a:r>
                      <a:endParaRPr sz="1400">
                        <a:latin typeface="Calibri" panose="020F0502020204030204"/>
                        <a:cs typeface="Calibri" panose="020F0502020204030204"/>
                      </a:endParaRPr>
                    </a:p>
                  </a:txBody>
                  <a:tcPr marL="0" marR="0" marT="349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14935" indent="-20320" algn="just" defTabSz="0">
                        <a:lnSpc>
                          <a:spcPct val="100000"/>
                        </a:lnSpc>
                        <a:tabLst>
                          <a:tab pos="89535" algn="l"/>
                          <a:tab pos="1701165" algn="l"/>
                        </a:tabLst>
                      </a:pPr>
                      <a:r>
                        <a:rPr lang="en-US" altLang="en-US" sz="1400" dirty="0">
                          <a:latin typeface="Times New Roman" panose="02020603050405020304"/>
                          <a:cs typeface="Times New Roman" panose="02020603050405020304"/>
                        </a:rPr>
                        <a:t>U-Net: Convolutional</a:t>
                      </a:r>
                      <a:endParaRPr lang="en-US" altLang="en-US" sz="1400" dirty="0">
                        <a:latin typeface="Times New Roman" panose="02020603050405020304"/>
                        <a:cs typeface="Times New Roman" panose="02020603050405020304"/>
                      </a:endParaRPr>
                    </a:p>
                    <a:p>
                      <a:pPr marL="114935" indent="-20320" algn="just" defTabSz="0">
                        <a:lnSpc>
                          <a:spcPct val="100000"/>
                        </a:lnSpc>
                        <a:tabLst>
                          <a:tab pos="89535" algn="l"/>
                          <a:tab pos="1701165" algn="l"/>
                        </a:tabLst>
                      </a:pPr>
                      <a:r>
                        <a:rPr lang="en-US" altLang="en-US" sz="1400" dirty="0">
                          <a:latin typeface="Times New Roman" panose="02020603050405020304"/>
                          <a:cs typeface="Times New Roman" panose="02020603050405020304"/>
                        </a:rPr>
                        <a:t>Networks for Biomedical</a:t>
                      </a:r>
                      <a:endParaRPr lang="en-US" altLang="en-US" sz="1400" dirty="0">
                        <a:latin typeface="Times New Roman" panose="02020603050405020304"/>
                        <a:cs typeface="Times New Roman" panose="02020603050405020304"/>
                      </a:endParaRPr>
                    </a:p>
                    <a:p>
                      <a:pPr marL="114935" indent="-20320" algn="just" defTabSz="0">
                        <a:lnSpc>
                          <a:spcPct val="100000"/>
                        </a:lnSpc>
                        <a:tabLst>
                          <a:tab pos="89535" algn="l"/>
                          <a:tab pos="1701165" algn="l"/>
                        </a:tabLst>
                      </a:pPr>
                      <a:r>
                        <a:rPr lang="en-US" altLang="en-US" sz="1400" dirty="0">
                          <a:latin typeface="Times New Roman" panose="02020603050405020304"/>
                          <a:cs typeface="Times New Roman" panose="02020603050405020304"/>
                        </a:rPr>
                        <a:t>Image Segmentation</a:t>
                      </a:r>
                      <a:endParaRPr lang="en-US" altLang="en-US" sz="1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pPr>
                      <a:r>
                        <a:rPr lang="en-US" altLang="en-US" sz="1400" dirty="0">
                          <a:latin typeface="Times New Roman" panose="02020603050405020304"/>
                          <a:cs typeface="Times New Roman" panose="02020603050405020304"/>
                        </a:rPr>
                        <a:t>O. Ronneberger, P. </a:t>
                      </a:r>
                      <a:endParaRPr lang="en-US" altLang="en-US" sz="1400" dirty="0">
                        <a:latin typeface="Times New Roman" panose="02020603050405020304"/>
                        <a:cs typeface="Times New Roman" panose="02020603050405020304"/>
                      </a:endParaRPr>
                    </a:p>
                    <a:p>
                      <a:pPr marL="91440">
                        <a:lnSpc>
                          <a:spcPct val="100000"/>
                        </a:lnSpc>
                      </a:pPr>
                      <a:r>
                        <a:rPr lang="en-US" altLang="en-US" sz="1400" dirty="0">
                          <a:latin typeface="Times New Roman" panose="02020603050405020304"/>
                          <a:cs typeface="Times New Roman" panose="02020603050405020304"/>
                        </a:rPr>
                        <a:t>Fischer, T. Brox</a:t>
                      </a:r>
                      <a:endParaRPr lang="en-US" altLang="en-US" sz="1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09855" indent="-3810">
                        <a:lnSpc>
                          <a:spcPct val="100000"/>
                        </a:lnSpc>
                      </a:pPr>
                      <a:r>
                        <a:rPr lang="en-US" altLang="en-US" sz="1400" dirty="0">
                          <a:latin typeface="Times New Roman" panose="02020603050405020304"/>
                          <a:cs typeface="Times New Roman" panose="02020603050405020304"/>
                          <a:hlinkClick r:id="rId4" tooltip="" action="ppaction://hlinkfile"/>
                        </a:rPr>
                        <a:t>https://link.springer.com/article/10.1007/s112 63-015-0816-y</a:t>
                      </a:r>
                      <a:endParaRPr lang="en-US" altLang="en-US" sz="1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7155" indent="-10160">
                        <a:lnSpc>
                          <a:spcPct val="100000"/>
                        </a:lnSpc>
                      </a:pPr>
                      <a:r>
                        <a:rPr lang="en-US" altLang="en-US" sz="1400" dirty="0">
                          <a:latin typeface="Times New Roman" panose="02020603050405020304"/>
                          <a:cs typeface="Times New Roman" panose="02020603050405020304"/>
                        </a:rPr>
                        <a:t>Resized and normalized</a:t>
                      </a:r>
                      <a:endParaRPr lang="en-US" altLang="en-US" sz="1400" dirty="0">
                        <a:latin typeface="Times New Roman" panose="02020603050405020304"/>
                        <a:cs typeface="Times New Roman" panose="02020603050405020304"/>
                      </a:endParaRPr>
                    </a:p>
                    <a:p>
                      <a:pPr marL="97155" indent="-10160">
                        <a:lnSpc>
                          <a:spcPct val="100000"/>
                        </a:lnSpc>
                      </a:pPr>
                      <a:r>
                        <a:rPr lang="en-US" altLang="en-US" sz="1400" dirty="0">
                          <a:latin typeface="Times New Roman" panose="02020603050405020304"/>
                          <a:cs typeface="Times New Roman" panose="02020603050405020304"/>
                        </a:rPr>
                        <a:t>images are segmented</a:t>
                      </a:r>
                      <a:endParaRPr lang="en-US" altLang="en-US" sz="1400" dirty="0">
                        <a:latin typeface="Times New Roman" panose="02020603050405020304"/>
                        <a:cs typeface="Times New Roman" panose="02020603050405020304"/>
                      </a:endParaRPr>
                    </a:p>
                    <a:p>
                      <a:pPr marL="97155" indent="-10160">
                        <a:lnSpc>
                          <a:spcPct val="100000"/>
                        </a:lnSpc>
                      </a:pPr>
                      <a:r>
                        <a:rPr lang="en-US" altLang="en-US" sz="1400" dirty="0">
                          <a:latin typeface="Times New Roman" panose="02020603050405020304"/>
                          <a:cs typeface="Times New Roman" panose="02020603050405020304"/>
                        </a:rPr>
                        <a:t>using encoder–decoder</a:t>
                      </a:r>
                      <a:endParaRPr lang="en-US" altLang="en-US" sz="1400" dirty="0">
                        <a:latin typeface="Times New Roman" panose="02020603050405020304"/>
                        <a:cs typeface="Times New Roman" panose="02020603050405020304"/>
                      </a:endParaRPr>
                    </a:p>
                    <a:p>
                      <a:pPr marL="97155" indent="-10160">
                        <a:lnSpc>
                          <a:spcPct val="100000"/>
                        </a:lnSpc>
                      </a:pPr>
                      <a:r>
                        <a:rPr lang="en-US" altLang="en-US" sz="1400" dirty="0">
                          <a:latin typeface="Times New Roman" panose="02020603050405020304"/>
                          <a:cs typeface="Times New Roman" panose="02020603050405020304"/>
                        </a:rPr>
                        <a:t>CNN with skip</a:t>
                      </a:r>
                      <a:endParaRPr lang="en-US" altLang="en-US" sz="1400" dirty="0">
                        <a:latin typeface="Times New Roman" panose="02020603050405020304"/>
                        <a:cs typeface="Times New Roman" panose="02020603050405020304"/>
                      </a:endParaRPr>
                    </a:p>
                    <a:p>
                      <a:pPr marL="97155" indent="-10160">
                        <a:lnSpc>
                          <a:spcPct val="100000"/>
                        </a:lnSpc>
                      </a:pPr>
                      <a:r>
                        <a:rPr lang="en-US" altLang="en-US" sz="1400" dirty="0">
                          <a:latin typeface="Times New Roman" panose="02020603050405020304"/>
                          <a:cs typeface="Times New Roman" panose="02020603050405020304"/>
                        </a:rPr>
                        <a:t>connections for</a:t>
                      </a:r>
                      <a:endParaRPr lang="en-US" altLang="en-US" sz="1400" dirty="0">
                        <a:latin typeface="Times New Roman" panose="02020603050405020304"/>
                        <a:cs typeface="Times New Roman" panose="02020603050405020304"/>
                      </a:endParaRPr>
                    </a:p>
                    <a:p>
                      <a:pPr marL="97155" indent="-10160">
                        <a:lnSpc>
                          <a:spcPct val="100000"/>
                        </a:lnSpc>
                      </a:pPr>
                      <a:r>
                        <a:rPr lang="en-US" altLang="en-US" sz="1400" dirty="0">
                          <a:latin typeface="Times New Roman" panose="02020603050405020304"/>
                          <a:cs typeface="Times New Roman" panose="02020603050405020304"/>
                        </a:rPr>
                        <a:t>biomedical precision.</a:t>
                      </a:r>
                      <a:endParaRPr lang="en-US" altLang="en-US" sz="1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12395" indent="-10160">
                        <a:lnSpc>
                          <a:spcPct val="100000"/>
                        </a:lnSpc>
                      </a:pPr>
                      <a:r>
                        <a:rPr lang="en-US" altLang="en-US" sz="1400" dirty="0">
                          <a:latin typeface="Times New Roman" panose="02020603050405020304"/>
                          <a:cs typeface="Times New Roman" panose="02020603050405020304"/>
                        </a:rPr>
                        <a:t>Achieved state-of_x0002_the-art medical image segmentation with effective preservation of fine spatial details.</a:t>
                      </a:r>
                      <a:endParaRPr lang="en-US" altLang="en-US" sz="1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indent="113030" defTabSz="0">
                        <a:lnSpc>
                          <a:spcPct val="100000"/>
                        </a:lnSpc>
                        <a:tabLst>
                          <a:tab pos="1343025" algn="l"/>
                        </a:tabLst>
                      </a:pPr>
                      <a:r>
                        <a:rPr lang="en-US" altLang="en-US" sz="1400" dirty="0">
                          <a:latin typeface="Times New Roman" panose="02020603050405020304"/>
                          <a:cs typeface="Times New Roman" panose="02020603050405020304"/>
                        </a:rPr>
                        <a:t>No classification or</a:t>
                      </a:r>
                      <a:endParaRPr lang="en-US" altLang="en-US" sz="1400" dirty="0">
                        <a:latin typeface="Times New Roman" panose="02020603050405020304"/>
                        <a:cs typeface="Times New Roman" panose="02020603050405020304"/>
                      </a:endParaRPr>
                    </a:p>
                    <a:p>
                      <a:pPr indent="113030" defTabSz="0">
                        <a:lnSpc>
                          <a:spcPct val="100000"/>
                        </a:lnSpc>
                        <a:tabLst>
                          <a:tab pos="1343025" algn="l"/>
                        </a:tabLst>
                      </a:pPr>
                      <a:r>
                        <a:rPr lang="en-US" altLang="en-US" sz="1400" dirty="0">
                          <a:latin typeface="Times New Roman" panose="02020603050405020304"/>
                          <a:cs typeface="Times New Roman" panose="02020603050405020304"/>
                        </a:rPr>
                        <a:t>adaptation.</a:t>
                      </a:r>
                      <a:endParaRPr lang="en-US" altLang="en-US" sz="1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99865" y="283463"/>
            <a:ext cx="5544820" cy="632460"/>
          </a:xfrm>
          <a:prstGeom prst="rect">
            <a:avLst/>
          </a:prstGeom>
        </p:spPr>
        <p:txBody>
          <a:bodyPr vert="horz" wrap="square" lIns="0" tIns="16510" rIns="0" bIns="0" rtlCol="0">
            <a:spAutoFit/>
          </a:bodyPr>
          <a:lstStyle/>
          <a:p>
            <a:pPr marL="12700">
              <a:lnSpc>
                <a:spcPct val="100000"/>
              </a:lnSpc>
              <a:spcBef>
                <a:spcPts val="130"/>
              </a:spcBef>
            </a:pPr>
            <a:r>
              <a:rPr sz="3950" dirty="0"/>
              <a:t>LITERATURE</a:t>
            </a:r>
            <a:r>
              <a:rPr sz="3950" spc="-185" dirty="0"/>
              <a:t> </a:t>
            </a:r>
            <a:r>
              <a:rPr sz="3950" spc="-10" dirty="0"/>
              <a:t>SURVEY</a:t>
            </a:r>
            <a:endParaRPr sz="3950" dirty="0"/>
          </a:p>
        </p:txBody>
      </p:sp>
      <p:sp>
        <p:nvSpPr>
          <p:cNvPr id="4" name="object 4"/>
          <p:cNvSpPr txBox="1">
            <a:spLocks noGrp="1"/>
          </p:cNvSpPr>
          <p:nvPr>
            <p:ph type="dt" sz="half" idx="6"/>
          </p:nvPr>
        </p:nvSpPr>
        <p:spPr>
          <a:xfrm>
            <a:off x="917575" y="6451049"/>
            <a:ext cx="737235" cy="180340"/>
          </a:xfrm>
          <a:prstGeom prst="rect">
            <a:avLst/>
          </a:prstGeom>
        </p:spPr>
        <p:txBody>
          <a:bodyPr vert="horz" wrap="square" lIns="0" tIns="0" rIns="0" bIns="0" rtlCol="0">
            <a:spAutoFit/>
          </a:bodyPr>
          <a:lstStyle/>
          <a:p>
            <a:pPr marL="12700">
              <a:lnSpc>
                <a:spcPts val="1410"/>
              </a:lnSpc>
            </a:pPr>
            <a:endParaRPr spc="-2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panose="02020603050405020304"/>
                <a:cs typeface="Times New Roman" panose="02020603050405020304"/>
              </a:rPr>
              <a:t>Review</a:t>
            </a:r>
            <a:r>
              <a:rPr sz="1200" spc="-3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No.</a:t>
            </a:r>
            <a:endParaRPr sz="1200">
              <a:latin typeface="Times New Roman" panose="02020603050405020304"/>
              <a:cs typeface="Times New Roman" panose="02020603050405020304"/>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panose="02020603050405020304"/>
                <a:cs typeface="Times New Roman" panose="02020603050405020304"/>
              </a:rPr>
              <a:t>Department</a:t>
            </a:r>
            <a:r>
              <a:rPr sz="1200" spc="-30" dirty="0">
                <a:solidFill>
                  <a:srgbClr val="888888"/>
                </a:solidFill>
                <a:latin typeface="Times New Roman" panose="02020603050405020304"/>
                <a:cs typeface="Times New Roman" panose="02020603050405020304"/>
              </a:rPr>
              <a:t> </a:t>
            </a:r>
            <a:r>
              <a:rPr sz="1200" dirty="0">
                <a:solidFill>
                  <a:srgbClr val="888888"/>
                </a:solidFill>
                <a:latin typeface="Times New Roman" panose="02020603050405020304"/>
                <a:cs typeface="Times New Roman" panose="02020603050405020304"/>
              </a:rPr>
              <a:t>of</a:t>
            </a:r>
            <a:r>
              <a:rPr sz="1200" spc="5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CSE</a:t>
            </a:r>
            <a:endParaRPr sz="1200">
              <a:latin typeface="Times New Roman" panose="02020603050405020304"/>
              <a:cs typeface="Times New Roman" panose="02020603050405020304"/>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fld>
            <a:endParaRPr spc="-25" dirty="0"/>
          </a:p>
        </p:txBody>
      </p:sp>
      <p:graphicFrame>
        <p:nvGraphicFramePr>
          <p:cNvPr id="3" name="object 3"/>
          <p:cNvGraphicFramePr>
            <a:graphicFrameLocks noGrp="1"/>
          </p:cNvGraphicFramePr>
          <p:nvPr/>
        </p:nvGraphicFramePr>
        <p:xfrm>
          <a:off x="685800" y="1219200"/>
          <a:ext cx="10896601" cy="4983933"/>
        </p:xfrm>
        <a:graphic>
          <a:graphicData uri="http://schemas.openxmlformats.org/drawingml/2006/table">
            <a:tbl>
              <a:tblPr firstRow="1" bandRow="1">
                <a:tableStyleId>{2D5ABB26-0587-4C30-8999-92F81FD0307C}</a:tableStyleId>
              </a:tblPr>
              <a:tblGrid>
                <a:gridCol w="612470"/>
                <a:gridCol w="1956964"/>
                <a:gridCol w="1630909"/>
                <a:gridCol w="1682695"/>
                <a:gridCol w="1900065"/>
                <a:gridCol w="1556749"/>
                <a:gridCol w="1556749"/>
              </a:tblGrid>
              <a:tr h="498379">
                <a:tc>
                  <a:txBody>
                    <a:bodyPr/>
                    <a:lstStyle/>
                    <a:p>
                      <a:pPr marL="182880">
                        <a:lnSpc>
                          <a:spcPct val="100000"/>
                        </a:lnSpc>
                        <a:spcBef>
                          <a:spcPts val="325"/>
                        </a:spcBef>
                      </a:pPr>
                      <a:r>
                        <a:rPr lang="en-IN" sz="1550" b="1" spc="-25" dirty="0">
                          <a:latin typeface="Calibri" panose="020F0502020204030204"/>
                          <a:cs typeface="Calibri" panose="020F0502020204030204"/>
                        </a:rPr>
                        <a:t>No</a:t>
                      </a:r>
                      <a:endParaRPr lang="en-IN" sz="1550" dirty="0">
                        <a:latin typeface="Calibri" panose="020F0502020204030204"/>
                        <a:cs typeface="Calibri" panose="020F0502020204030204"/>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635" algn="ctr">
                        <a:lnSpc>
                          <a:spcPct val="100000"/>
                        </a:lnSpc>
                        <a:spcBef>
                          <a:spcPts val="325"/>
                        </a:spcBef>
                      </a:pPr>
                      <a:r>
                        <a:rPr sz="1550" b="1" spc="-10" dirty="0">
                          <a:latin typeface="Calibri" panose="020F0502020204030204"/>
                          <a:cs typeface="Calibri" panose="020F0502020204030204"/>
                        </a:rPr>
                        <a:t>Title</a:t>
                      </a:r>
                      <a:endParaRPr sz="1550">
                        <a:latin typeface="Calibri" panose="020F0502020204030204"/>
                        <a:cs typeface="Calibri" panose="020F0502020204030204"/>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514985">
                        <a:lnSpc>
                          <a:spcPct val="100000"/>
                        </a:lnSpc>
                        <a:spcBef>
                          <a:spcPts val="325"/>
                        </a:spcBef>
                      </a:pPr>
                      <a:r>
                        <a:rPr sz="1550" b="1" spc="-10" dirty="0">
                          <a:latin typeface="Calibri" panose="020F0502020204030204"/>
                          <a:cs typeface="Calibri" panose="020F0502020204030204"/>
                        </a:rPr>
                        <a:t>Author</a:t>
                      </a:r>
                      <a:endParaRPr sz="1550">
                        <a:latin typeface="Calibri" panose="020F0502020204030204"/>
                        <a:cs typeface="Calibri" panose="020F0502020204030204"/>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657225" marR="147955" indent="-494665">
                        <a:lnSpc>
                          <a:spcPct val="105000"/>
                        </a:lnSpc>
                        <a:spcBef>
                          <a:spcPts val="230"/>
                        </a:spcBef>
                      </a:pPr>
                      <a:r>
                        <a:rPr sz="1550" b="1" dirty="0">
                          <a:latin typeface="Calibri" panose="020F0502020204030204"/>
                          <a:cs typeface="Calibri" panose="020F0502020204030204"/>
                        </a:rPr>
                        <a:t>Journal</a:t>
                      </a:r>
                      <a:r>
                        <a:rPr sz="1550" b="1" spc="130" dirty="0">
                          <a:latin typeface="Calibri" panose="020F0502020204030204"/>
                          <a:cs typeface="Calibri" panose="020F0502020204030204"/>
                        </a:rPr>
                        <a:t> </a:t>
                      </a:r>
                      <a:r>
                        <a:rPr sz="1550" b="1" dirty="0">
                          <a:latin typeface="Calibri" panose="020F0502020204030204"/>
                          <a:cs typeface="Calibri" panose="020F0502020204030204"/>
                        </a:rPr>
                        <a:t>Name</a:t>
                      </a:r>
                      <a:r>
                        <a:rPr sz="1550" b="1" spc="90" dirty="0">
                          <a:latin typeface="Calibri" panose="020F0502020204030204"/>
                          <a:cs typeface="Calibri" panose="020F0502020204030204"/>
                        </a:rPr>
                        <a:t> </a:t>
                      </a:r>
                      <a:r>
                        <a:rPr sz="1550" b="1" spc="-50" dirty="0">
                          <a:latin typeface="Calibri" panose="020F0502020204030204"/>
                          <a:cs typeface="Calibri" panose="020F0502020204030204"/>
                        </a:rPr>
                        <a:t>&amp; </a:t>
                      </a:r>
                      <a:r>
                        <a:rPr sz="1550" b="1" spc="-20" dirty="0">
                          <a:latin typeface="Calibri" panose="020F0502020204030204"/>
                          <a:cs typeface="Calibri" panose="020F0502020204030204"/>
                        </a:rPr>
                        <a:t>Year</a:t>
                      </a:r>
                      <a:endParaRPr sz="1550">
                        <a:latin typeface="Calibri" panose="020F0502020204030204"/>
                        <a:cs typeface="Calibri" panose="020F0502020204030204"/>
                      </a:endParaRPr>
                    </a:p>
                  </a:txBody>
                  <a:tcPr marL="0" marR="0" marT="2920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588010" marR="367030" indent="-208915">
                        <a:lnSpc>
                          <a:spcPct val="105000"/>
                        </a:lnSpc>
                        <a:spcBef>
                          <a:spcPts val="230"/>
                        </a:spcBef>
                      </a:pPr>
                      <a:r>
                        <a:rPr sz="1550" b="1" spc="-10" dirty="0">
                          <a:latin typeface="Calibri" panose="020F0502020204030204"/>
                          <a:cs typeface="Calibri" panose="020F0502020204030204"/>
                        </a:rPr>
                        <a:t>Methodology Adapted</a:t>
                      </a:r>
                      <a:endParaRPr sz="1550">
                        <a:latin typeface="Calibri" panose="020F0502020204030204"/>
                        <a:cs typeface="Calibri" panose="020F0502020204030204"/>
                      </a:endParaRPr>
                    </a:p>
                  </a:txBody>
                  <a:tcPr marL="0" marR="0" marT="2920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254635">
                        <a:lnSpc>
                          <a:spcPct val="100000"/>
                        </a:lnSpc>
                        <a:spcBef>
                          <a:spcPts val="325"/>
                        </a:spcBef>
                      </a:pPr>
                      <a:r>
                        <a:rPr sz="1550" b="1" dirty="0">
                          <a:latin typeface="Calibri" panose="020F0502020204030204"/>
                          <a:cs typeface="Calibri" panose="020F0502020204030204"/>
                        </a:rPr>
                        <a:t>Key</a:t>
                      </a:r>
                      <a:r>
                        <a:rPr sz="1550" b="1" spc="45" dirty="0">
                          <a:latin typeface="Calibri" panose="020F0502020204030204"/>
                          <a:cs typeface="Calibri" panose="020F0502020204030204"/>
                        </a:rPr>
                        <a:t> </a:t>
                      </a:r>
                      <a:r>
                        <a:rPr sz="1550" b="1" spc="-10" dirty="0">
                          <a:latin typeface="Calibri" panose="020F0502020204030204"/>
                          <a:cs typeface="Calibri" panose="020F0502020204030204"/>
                        </a:rPr>
                        <a:t>Findings</a:t>
                      </a:r>
                      <a:endParaRPr sz="1550">
                        <a:latin typeface="Calibri" panose="020F0502020204030204"/>
                        <a:cs typeface="Calibri" panose="020F0502020204030204"/>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19050" algn="ctr">
                        <a:lnSpc>
                          <a:spcPct val="100000"/>
                        </a:lnSpc>
                        <a:spcBef>
                          <a:spcPts val="325"/>
                        </a:spcBef>
                      </a:pPr>
                      <a:r>
                        <a:rPr sz="1550" b="1" spc="-20" dirty="0">
                          <a:latin typeface="Calibri" panose="020F0502020204030204"/>
                          <a:cs typeface="Calibri" panose="020F0502020204030204"/>
                        </a:rPr>
                        <a:t>Gaps</a:t>
                      </a:r>
                      <a:endParaRPr sz="1550">
                        <a:latin typeface="Calibri" panose="020F0502020204030204"/>
                        <a:cs typeface="Calibri" panose="020F0502020204030204"/>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r>
              <a:tr h="1444473">
                <a:tc>
                  <a:txBody>
                    <a:bodyPr/>
                    <a:lstStyle/>
                    <a:p>
                      <a:pPr marL="92075">
                        <a:lnSpc>
                          <a:spcPct val="100000"/>
                        </a:lnSpc>
                        <a:spcBef>
                          <a:spcPts val="255"/>
                        </a:spcBef>
                      </a:pPr>
                      <a:r>
                        <a:rPr lang="en-IN" sz="1400">
                          <a:latin typeface="Calibri" panose="020F0502020204030204"/>
                          <a:cs typeface="Calibri" panose="020F0502020204030204"/>
                        </a:rPr>
                        <a:t>4</a:t>
                      </a:r>
                      <a:endParaRPr lang="en-IN" sz="1400">
                        <a:latin typeface="Calibri" panose="020F0502020204030204"/>
                        <a:cs typeface="Calibri" panose="020F0502020204030204"/>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just"/>
                      <a:r>
                        <a:rPr lang="en-US" altLang="en-US" sz="1400" dirty="0">
                          <a:latin typeface="Times New Roman" panose="02020603050405020304" charset="0"/>
                          <a:cs typeface="Times New Roman" panose="02020603050405020304" charset="0"/>
                        </a:rPr>
                        <a:t>Very Deep Convolutional Networks for Large-Scale Image Recognition</a:t>
                      </a:r>
                      <a:endParaRPr lang="en-US" altLang="en-US" sz="1400" dirty="0">
                        <a:latin typeface="Times New Roman" panose="02020603050405020304" charset="0"/>
                        <a:cs typeface="Times New Roman" panose="02020603050405020304" charset="0"/>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just">
                        <a:lnSpc>
                          <a:spcPct val="100000"/>
                        </a:lnSpc>
                      </a:pPr>
                      <a:r>
                        <a:rPr lang="en-US" altLang="en-US" sz="1400" dirty="0">
                          <a:latin typeface="Times New Roman" panose="02020603050405020304"/>
                          <a:cs typeface="Times New Roman" panose="02020603050405020304"/>
                        </a:rPr>
                        <a:t>K. Simonyan, A. Zisserman</a:t>
                      </a:r>
                      <a:endParaRPr lang="en-US" altLang="en-US" sz="1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5250">
                        <a:lnSpc>
                          <a:spcPct val="100000"/>
                        </a:lnSpc>
                        <a:spcBef>
                          <a:spcPts val="255"/>
                        </a:spcBef>
                      </a:pPr>
                      <a:r>
                        <a:rPr lang="en-IN" sz="1400" dirty="0">
                          <a:latin typeface="+mn-lt"/>
                          <a:cs typeface="Calibri" panose="020F0502020204030204"/>
                          <a:hlinkClick r:id="rId1"/>
                        </a:rPr>
                        <a:t>https://</a:t>
                      </a:r>
                      <a:endParaRPr lang="en-IN" sz="1400" dirty="0">
                        <a:latin typeface="+mn-lt"/>
                        <a:cs typeface="Calibri" panose="020F0502020204030204"/>
                      </a:endParaRPr>
                    </a:p>
                    <a:p>
                      <a:pPr marL="95250">
                        <a:lnSpc>
                          <a:spcPct val="100000"/>
                        </a:lnSpc>
                        <a:spcBef>
                          <a:spcPts val="255"/>
                        </a:spcBef>
                      </a:pPr>
                      <a:r>
                        <a:rPr lang="en-IN" sz="1400" dirty="0">
                          <a:latin typeface="+mn-lt"/>
                          <a:cs typeface="Calibri" panose="020F0502020204030204"/>
                          <a:hlinkClick r:id="rId1"/>
                        </a:rPr>
                        <a:t>ieeexplore.ieee.org/</a:t>
                      </a:r>
                      <a:endParaRPr lang="en-IN" sz="1400" dirty="0">
                        <a:latin typeface="+mn-lt"/>
                        <a:cs typeface="Calibri" panose="020F0502020204030204"/>
                      </a:endParaRPr>
                    </a:p>
                    <a:p>
                      <a:pPr marL="95250">
                        <a:lnSpc>
                          <a:spcPct val="100000"/>
                        </a:lnSpc>
                        <a:spcBef>
                          <a:spcPts val="255"/>
                        </a:spcBef>
                      </a:pPr>
                      <a:r>
                        <a:rPr lang="en-IN" sz="1400" dirty="0">
                          <a:latin typeface="+mn-lt"/>
                          <a:cs typeface="Calibri" panose="020F0502020204030204"/>
                          <a:hlinkClick r:id="rId1"/>
                        </a:rPr>
                        <a:t>document/10634159</a:t>
                      </a:r>
                      <a:endParaRPr sz="1400" dirty="0">
                        <a:latin typeface="Calibri" panose="020F0502020204030204"/>
                        <a:cs typeface="Calibri" panose="020F0502020204030204"/>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0" marR="0" lvl="0" indent="0" algn="just" defTabSz="914400" eaLnBrk="1" fontAlgn="auto" latinLnBrk="0" hangingPunct="1">
                        <a:lnSpc>
                          <a:spcPct val="100000"/>
                        </a:lnSpc>
                        <a:spcBef>
                          <a:spcPts val="0"/>
                        </a:spcBef>
                        <a:spcAft>
                          <a:spcPts val="0"/>
                        </a:spcAft>
                        <a:buClrTx/>
                        <a:buSzTx/>
                        <a:buFontTx/>
                        <a:buNone/>
                        <a:defRPr/>
                      </a:pPr>
                      <a:r>
                        <a:rPr lang="en-US" altLang="en-US" sz="1400" dirty="0">
                          <a:latin typeface="Times New Roman" panose="02020603050405020304"/>
                          <a:cs typeface="Times New Roman" panose="02020603050405020304"/>
                        </a:rPr>
                        <a:t>VGGNet with 16–19 layers using small convolutional filters.</a:t>
                      </a:r>
                      <a:endParaRPr lang="en-US" altLang="en-US" sz="1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just"/>
                      <a:r>
                        <a:rPr lang="en-US" altLang="en-US" sz="1400" dirty="0">
                          <a:latin typeface="Times New Roman" panose="02020603050405020304"/>
                          <a:cs typeface="Times New Roman" panose="02020603050405020304"/>
                        </a:rPr>
                        <a:t>Depth improved accuracy; set new ImNet benchmark.</a:t>
                      </a:r>
                      <a:endParaRPr lang="en-US" altLang="en-US" sz="1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just"/>
                      <a:r>
                        <a:rPr lang="en-US" altLang="en-US" sz="1400" dirty="0">
                          <a:latin typeface="Times New Roman" panose="02020603050405020304"/>
                          <a:cs typeface="Times New Roman" panose="02020603050405020304"/>
                        </a:rPr>
                        <a:t>Heavy computation, largememory, poor fit for small medical datasets.</a:t>
                      </a:r>
                      <a:endParaRPr lang="en-US" altLang="en-US" sz="1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61245">
                <a:tc>
                  <a:txBody>
                    <a:bodyPr/>
                    <a:lstStyle/>
                    <a:p>
                      <a:pPr marL="92075">
                        <a:lnSpc>
                          <a:spcPct val="100000"/>
                        </a:lnSpc>
                        <a:spcBef>
                          <a:spcPts val="265"/>
                        </a:spcBef>
                      </a:pPr>
                      <a:r>
                        <a:rPr lang="en-IN" sz="1400">
                          <a:latin typeface="Calibri" panose="020F0502020204030204"/>
                          <a:cs typeface="Calibri" panose="020F0502020204030204"/>
                        </a:rPr>
                        <a:t>5</a:t>
                      </a:r>
                      <a:endParaRPr lang="en-IN" sz="1400">
                        <a:latin typeface="Calibri" panose="020F0502020204030204"/>
                        <a:cs typeface="Calibri" panose="020F0502020204030204"/>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0" marR="0" lvl="0" indent="0" algn="just" defTabSz="914400" eaLnBrk="1" fontAlgn="auto" latinLnBrk="0" hangingPunct="1">
                        <a:lnSpc>
                          <a:spcPct val="100000"/>
                        </a:lnSpc>
                        <a:spcBef>
                          <a:spcPts val="0"/>
                        </a:spcBef>
                        <a:spcAft>
                          <a:spcPts val="0"/>
                        </a:spcAft>
                        <a:buClrTx/>
                        <a:buSzTx/>
                        <a:buFontTx/>
                        <a:buNone/>
                        <a:defRPr/>
                      </a:pPr>
                      <a:r>
                        <a:rPr lang="en-US" altLang="en-US" sz="1400" dirty="0">
                          <a:latin typeface="Times New Roman" panose="02020603050405020304"/>
                          <a:cs typeface="Times New Roman" panose="02020603050405020304"/>
                        </a:rPr>
                        <a:t>DeepResidual Learning for Image Recognition</a:t>
                      </a:r>
                      <a:endParaRPr lang="en-US" altLang="en-US" sz="1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just"/>
                      <a:r>
                        <a:rPr lang="en-US" altLang="en-US" sz="1400" dirty="0">
                          <a:latin typeface="Times New Roman" panose="02020603050405020304" charset="0"/>
                          <a:cs typeface="Times New Roman" panose="02020603050405020304" charset="0"/>
                        </a:rPr>
                        <a:t>K. He, X. Zhang, S. Ren, J. Sun</a:t>
                      </a:r>
                      <a:endParaRPr lang="en-US" altLang="en-US" sz="1400" dirty="0">
                        <a:latin typeface="Times New Roman" panose="02020603050405020304" charset="0"/>
                        <a:cs typeface="Times New Roman" panose="02020603050405020304" charset="0"/>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just"/>
                      <a:r>
                        <a:rPr lang="en-US" sz="1400" dirty="0">
                          <a:solidFill>
                            <a:schemeClr val="tx1"/>
                          </a:solidFill>
                          <a:effectLst/>
                          <a:latin typeface="Times New Roman" panose="02020603050405020304" charset="0"/>
                          <a:ea typeface="+mn-ea"/>
                          <a:cs typeface="Times New Roman" panose="02020603050405020304" charset="0"/>
                          <a:hlinkClick r:id="rId1"/>
                        </a:rPr>
                        <a:t>https://paultimothymooney/chest-xray-pneumonia</a:t>
                      </a:r>
                      <a:endParaRPr lang="en-US" sz="1400" dirty="0">
                        <a:latin typeface="Times New Roman" panose="02020603050405020304" charset="0"/>
                        <a:cs typeface="Times New Roman" panose="02020603050405020304" charset="0"/>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rowSpan="2">
                  <a:txBody>
                    <a:bodyPr/>
                    <a:lstStyle/>
                    <a:p>
                      <a:pPr algn="just">
                        <a:lnSpc>
                          <a:spcPct val="100000"/>
                        </a:lnSpc>
                      </a:pPr>
                      <a:r>
                        <a:rPr lang="en-US" altLang="en-US" sz="1400" dirty="0">
                          <a:latin typeface="Times New Roman" panose="02020603050405020304" charset="0"/>
                          <a:cs typeface="Times New Roman" panose="02020603050405020304" charset="0"/>
                        </a:rPr>
                        <a:t>ResNet with residual connections enabling ultra-deep training.</a:t>
                      </a:r>
                      <a:r>
                        <a:rPr lang="en-US" sz="1400" dirty="0">
                          <a:latin typeface="Times New Roman" panose="02020603050405020304" charset="0"/>
                          <a:cs typeface="Times New Roman" panose="02020603050405020304" charset="0"/>
                        </a:rPr>
                        <a:t> </a:t>
                      </a:r>
                      <a:r>
                        <a:rPr lang="en-US" altLang="en-US" sz="1400" dirty="0">
                          <a:latin typeface="Times New Roman" panose="02020603050405020304" charset="0"/>
                          <a:cs typeface="Times New Roman" panose="02020603050405020304" charset="0"/>
                        </a:rPr>
                        <a:t>An encoder–decoder convolutional neural network (CNN) with skip connections, optimized for biomedical image segmentation, </a:t>
                      </a:r>
                      <a:r>
                        <a:rPr lang="en-US" altLang="en-US" sz="1400">
                          <a:latin typeface="Times New Roman" panose="02020603050405020304" charset="0"/>
                          <a:cs typeface="Times New Roman" panose="02020603050405020304" charset="0"/>
                        </a:rPr>
                        <a:t>enabling accuracy.</a:t>
                      </a:r>
                      <a:endParaRPr lang="en-US" altLang="en-US" sz="1400" dirty="0">
                        <a:latin typeface="Times New Roman" panose="02020603050405020304" charset="0"/>
                        <a:cs typeface="Times New Roman" panose="02020603050405020304" charset="0"/>
                      </a:endParaRPr>
                    </a:p>
                    <a:p>
                      <a:pPr>
                        <a:lnSpc>
                          <a:spcPct val="100000"/>
                        </a:lnSpc>
                      </a:pPr>
                      <a:endParaRPr sz="1600" dirty="0">
                        <a:latin typeface="Times New Roman" panose="02020603050405020304"/>
                        <a:cs typeface="Times New Roman" panose="02020603050405020304"/>
                      </a:endParaRPr>
                    </a:p>
                  </a:txBody>
                  <a:tcPr marL="0" marR="0" marT="0" marB="0">
                    <a:lnL w="12700">
                      <a:solidFill>
                        <a:srgbClr val="000000"/>
                      </a:solidFill>
                      <a:prstDash val="solid"/>
                    </a:lnL>
                    <a:lnR w="12700" cap="flat" cmpd="sng" algn="ctr">
                      <a:solidFill>
                        <a:srgbClr val="000000"/>
                      </a:solidFill>
                      <a:prstDash val="solid"/>
                      <a:round/>
                      <a:headEnd type="none" w="med" len="med"/>
                      <a:tailEnd type="none" w="med" len="med"/>
                    </a:lnR>
                    <a:lnT w="12700">
                      <a:solidFill>
                        <a:srgbClr val="000000"/>
                      </a:solidFill>
                      <a:prstDash val="solid"/>
                    </a:lnT>
                    <a:lnB w="12700" cap="flat" cmpd="sng" algn="ctr">
                      <a:solidFill>
                        <a:srgbClr val="000000"/>
                      </a:solidFill>
                      <a:prstDash val="solid"/>
                      <a:round/>
                      <a:headEnd type="none" w="med" len="med"/>
                      <a:tailEnd type="none" w="med" len="med"/>
                    </a:lnB>
                  </a:tcPr>
                </a:tc>
                <a:tc>
                  <a:txBody>
                    <a:bodyPr/>
                    <a:lstStyle/>
                    <a:p>
                      <a:pPr marL="0" marR="0" lvl="0" indent="0" algn="just" defTabSz="914400" eaLnBrk="1" fontAlgn="auto" latinLnBrk="0" hangingPunct="1">
                        <a:lnSpc>
                          <a:spcPct val="100000"/>
                        </a:lnSpc>
                        <a:spcBef>
                          <a:spcPts val="0"/>
                        </a:spcBef>
                        <a:spcAft>
                          <a:spcPts val="0"/>
                        </a:spcAft>
                        <a:buClrTx/>
                        <a:buSzTx/>
                        <a:buFontTx/>
                        <a:buNone/>
                        <a:defRPr/>
                      </a:pPr>
                      <a:r>
                        <a:rPr lang="en-US" altLang="en-US" sz="1400" dirty="0">
                          <a:latin typeface="Times New Roman" panose="02020603050405020304"/>
                          <a:cs typeface="Times New Roman" panose="02020603050405020304"/>
                        </a:rPr>
                        <a:t>A breakthrough accuracy; solved vanishing gradient problem.</a:t>
                      </a:r>
                      <a:endParaRPr lang="en-US" altLang="en-US" sz="1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0" marR="0" lvl="0" indent="0" algn="just" defTabSz="914400" eaLnBrk="1" fontAlgn="auto" latinLnBrk="0" hangingPunct="1">
                        <a:lnSpc>
                          <a:spcPct val="100000"/>
                        </a:lnSpc>
                        <a:spcBef>
                          <a:spcPts val="0"/>
                        </a:spcBef>
                        <a:spcAft>
                          <a:spcPts val="0"/>
                        </a:spcAft>
                        <a:buClrTx/>
                        <a:buSzTx/>
                        <a:buFontTx/>
                        <a:buNone/>
                        <a:defRPr/>
                      </a:pPr>
                      <a:r>
                        <a:rPr lang="en-US" altLang="en-US" sz="1400" dirty="0">
                          <a:latin typeface="Times New Roman" panose="02020603050405020304"/>
                          <a:cs typeface="Times New Roman" panose="02020603050405020304"/>
                        </a:rPr>
                        <a:t>Complex architecture; needs massive labeled data; limited biomedical adaptation initially.</a:t>
                      </a:r>
                      <a:endParaRPr lang="en-US" altLang="en-US" sz="1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267598">
                <a:tc>
                  <a:txBody>
                    <a:bodyPr/>
                    <a:lstStyle/>
                    <a:p>
                      <a:pPr marL="92075">
                        <a:lnSpc>
                          <a:spcPct val="100000"/>
                        </a:lnSpc>
                        <a:spcBef>
                          <a:spcPts val="275"/>
                        </a:spcBef>
                      </a:pPr>
                      <a:r>
                        <a:rPr lang="en-IN" sz="1400">
                          <a:latin typeface="Calibri" panose="020F0502020204030204"/>
                          <a:cs typeface="Calibri" panose="020F0502020204030204"/>
                        </a:rPr>
                        <a:t>6</a:t>
                      </a:r>
                      <a:endParaRPr lang="en-IN" sz="1400">
                        <a:latin typeface="Calibri" panose="020F0502020204030204"/>
                        <a:cs typeface="Calibri" panose="020F0502020204030204"/>
                      </a:endParaRPr>
                    </a:p>
                  </a:txBody>
                  <a:tcPr marL="0" marR="0" marT="349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just">
                        <a:lnSpc>
                          <a:spcPct val="100000"/>
                        </a:lnSpc>
                      </a:pPr>
                      <a:r>
                        <a:rPr lang="en-US" altLang="en-US" sz="1400" dirty="0">
                          <a:latin typeface="Times New Roman" panose="02020603050405020304"/>
                          <a:cs typeface="Times New Roman" panose="02020603050405020304"/>
                        </a:rPr>
                        <a:t>U-Net: Convolutional Networks for Biomedical Image Segmentation</a:t>
                      </a:r>
                      <a:endParaRPr lang="en-US" altLang="en-US" sz="1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just">
                        <a:lnSpc>
                          <a:spcPct val="100000"/>
                        </a:lnSpc>
                      </a:pPr>
                      <a:r>
                        <a:rPr lang="de-DE" sz="1400" dirty="0">
                          <a:latin typeface="Times New Roman" panose="02020603050405020304"/>
                          <a:cs typeface="Times New Roman" panose="02020603050405020304"/>
                        </a:rPr>
                        <a:t>O. Ronneberger, P. Fischer, T. Brox</a:t>
                      </a:r>
                      <a:endParaRPr sz="1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just">
                        <a:lnSpc>
                          <a:spcPct val="100000"/>
                        </a:lnSpc>
                      </a:pPr>
                      <a:r>
                        <a:rPr lang="en-IN" sz="1400" dirty="0">
                          <a:latin typeface="Times New Roman" panose="02020603050405020304"/>
                          <a:cs typeface="Times New Roman" panose="02020603050405020304"/>
                          <a:hlinkClick r:id="rId2"/>
                        </a:rPr>
                        <a:t>https://link.springer.com/article/10.1007/s11263-015-0816-y</a:t>
                      </a:r>
                      <a:endParaRPr sz="1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vMerge="1">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0" marR="0" lvl="0" indent="0" algn="just" defTabSz="914400" eaLnBrk="1" fontAlgn="auto" latinLnBrk="0" hangingPunct="1">
                        <a:lnSpc>
                          <a:spcPct val="100000"/>
                        </a:lnSpc>
                        <a:spcBef>
                          <a:spcPts val="0"/>
                        </a:spcBef>
                        <a:spcAft>
                          <a:spcPts val="0"/>
                        </a:spcAft>
                        <a:buClrTx/>
                        <a:buSzTx/>
                        <a:buFontTx/>
                        <a:buNone/>
                        <a:defRPr/>
                      </a:pPr>
                      <a:r>
                        <a:rPr lang="en-US" sz="1400" dirty="0">
                          <a:latin typeface="Times New Roman" panose="02020603050405020304" charset="0"/>
                          <a:cs typeface="Times New Roman" panose="02020603050405020304" charset="0"/>
                        </a:rPr>
                        <a:t>Achieved state-of-the-art medical image segmentation with effective preservation of fine spatial details.</a:t>
                      </a:r>
                      <a:endParaRPr lang="en-US" sz="1400" dirty="0">
                        <a:latin typeface="Times New Roman" panose="02020603050405020304" charset="0"/>
                        <a:cs typeface="Times New Roman" panose="02020603050405020304" charset="0"/>
                      </a:endParaRPr>
                    </a:p>
                    <a:p>
                      <a:pPr>
                        <a:lnSpc>
                          <a:spcPct val="100000"/>
                        </a:lnSpc>
                      </a:pPr>
                      <a:endParaRPr sz="16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0" marR="0" lvl="0" indent="0" algn="just" defTabSz="914400" eaLnBrk="1" fontAlgn="auto" latinLnBrk="0" hangingPunct="1">
                        <a:lnSpc>
                          <a:spcPct val="100000"/>
                        </a:lnSpc>
                        <a:spcBef>
                          <a:spcPts val="0"/>
                        </a:spcBef>
                        <a:spcAft>
                          <a:spcPts val="0"/>
                        </a:spcAft>
                        <a:buClrTx/>
                        <a:buSzTx/>
                        <a:buFontTx/>
                        <a:buNone/>
                        <a:defRPr/>
                      </a:pPr>
                      <a:r>
                        <a:rPr lang="en-US" altLang="en-US" sz="1400" dirty="0">
                          <a:latin typeface="Times New Roman" panose="02020603050405020304"/>
                          <a:cs typeface="Times New Roman" panose="02020603050405020304"/>
                        </a:rPr>
                        <a:t>Focused only on segmentation; no classification or model adaptation.</a:t>
                      </a:r>
                      <a:endParaRPr lang="en-US" altLang="en-US" sz="1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646718">
                <a:tc gridSpan="3">
                  <a:txBody>
                    <a:bodyPr/>
                    <a:lstStyle/>
                    <a:p>
                      <a:pPr marL="92075">
                        <a:lnSpc>
                          <a:spcPct val="100000"/>
                        </a:lnSpc>
                        <a:spcBef>
                          <a:spcPts val="285"/>
                        </a:spcBef>
                      </a:pPr>
                      <a:endParaRPr sz="1400" dirty="0">
                        <a:latin typeface="Calibri" panose="020F0502020204030204"/>
                        <a:cs typeface="Calibri" panose="020F0502020204030204"/>
                      </a:endParaRPr>
                    </a:p>
                  </a:txBody>
                  <a:tcPr marL="0" marR="0" marT="36195" marB="0">
                    <a:lnL w="12700">
                      <a:noFill/>
                      <a:prstDash val="solid"/>
                    </a:lnL>
                    <a:lnR w="12700" cap="flat" cmpd="sng" algn="ctr">
                      <a:noFill/>
                      <a:prstDash val="solid"/>
                      <a:round/>
                      <a:headEnd type="none" w="med" len="med"/>
                      <a:tailEnd type="none" w="med" len="med"/>
                    </a:lnR>
                    <a:lnT w="12700">
                      <a:solidFill>
                        <a:srgbClr val="000000"/>
                      </a:solidFill>
                      <a:prstDash val="solid"/>
                    </a:lnT>
                    <a:lnB w="12700" cap="flat" cmpd="sng" algn="ctr">
                      <a:noFill/>
                      <a:prstDash val="solid"/>
                      <a:round/>
                      <a:headEnd type="none" w="med" len="med"/>
                      <a:tailEnd type="none" w="med" len="med"/>
                    </a:lnB>
                  </a:tcPr>
                </a:tc>
                <a:tc hMerge="1">
                  <a:tcPr marL="0" marR="0" marT="0" marB="0">
                    <a:lnL w="12700">
                      <a:solidFill>
                        <a:srgbClr val="000000"/>
                      </a:solidFill>
                      <a:prstDash val="solid"/>
                    </a:lnL>
                    <a:lnR w="12700" cap="flat" cmpd="sng" algn="ctr">
                      <a:noFill/>
                      <a:prstDash val="solid"/>
                      <a:round/>
                      <a:headEnd type="none" w="med" len="med"/>
                      <a:tailEnd type="none" w="med" len="med"/>
                    </a:lnR>
                    <a:lnT w="12700">
                      <a:solidFill>
                        <a:srgbClr val="000000"/>
                      </a:solidFill>
                      <a:prstDash val="solid"/>
                    </a:lnT>
                    <a:lnB w="12700" cap="flat" cmpd="sng" algn="ctr">
                      <a:solidFill>
                        <a:srgbClr val="000000"/>
                      </a:solidFill>
                      <a:prstDash val="solid"/>
                      <a:round/>
                      <a:headEnd type="none" w="med" len="med"/>
                      <a:tailEnd type="none" w="med" len="med"/>
                    </a:lnB>
                  </a:tcPr>
                </a:tc>
                <a:tc hMerge="1">
                  <a:tcPr marL="0" marR="0" marT="0" marB="0">
                    <a:lnL w="12700">
                      <a:solidFill>
                        <a:srgbClr val="000000"/>
                      </a:solidFill>
                      <a:prstDash val="solid"/>
                    </a:lnL>
                    <a:lnR w="12700" cap="flat" cmpd="sng" algn="ctr">
                      <a:noFill/>
                      <a:prstDash val="solid"/>
                      <a:round/>
                      <a:headEnd type="none" w="med" len="med"/>
                      <a:tailEnd type="none" w="med" len="med"/>
                    </a:lnR>
                    <a:lnT w="12700">
                      <a:solidFill>
                        <a:srgbClr val="000000"/>
                      </a:solidFill>
                      <a:prstDash val="solid"/>
                    </a:lnT>
                    <a:lnB w="12700" cap="flat" cmpd="sng" algn="ctr">
                      <a:solidFill>
                        <a:srgbClr val="000000"/>
                      </a:solidFill>
                      <a:prstDash val="solid"/>
                      <a:round/>
                      <a:headEnd type="none" w="med" len="med"/>
                      <a:tailEnd type="none" w="med" len="med"/>
                    </a:lnB>
                  </a:tcPr>
                </a:tc>
                <a:tc>
                  <a:txBody>
                    <a:bodyPr/>
                    <a:lstStyle/>
                    <a:p>
                      <a:pPr>
                        <a:lnSpc>
                          <a:spcPct val="100000"/>
                        </a:lnSpc>
                      </a:pPr>
                      <a:endParaRPr sz="1600" dirty="0">
                        <a:latin typeface="Times New Roman" panose="02020603050405020304"/>
                        <a:cs typeface="Times New Roman" panose="02020603050405020304"/>
                      </a:endParaRPr>
                    </a:p>
                  </a:txBody>
                  <a:tcPr marL="0" marR="0" marT="0" marB="0">
                    <a:lnL w="12700">
                      <a:noFill/>
                      <a:prstDash val="solid"/>
                    </a:lnL>
                    <a:lnR w="12700">
                      <a:noFill/>
                      <a:prstDash val="solid"/>
                    </a:lnR>
                    <a:lnT w="12700">
                      <a:solidFill>
                        <a:srgbClr val="000000"/>
                      </a:solidFill>
                      <a:prstDash val="solid"/>
                    </a:lnT>
                    <a:lnB w="12700" cap="flat" cmpd="sng" algn="ctr">
                      <a:noFill/>
                      <a:prstDash val="solid"/>
                      <a:round/>
                      <a:headEnd type="none" w="med" len="med"/>
                      <a:tailEnd type="none" w="med" len="med"/>
                    </a:lnB>
                  </a:tcPr>
                </a:tc>
                <a:tc gridSpan="3">
                  <a:txBody>
                    <a:bodyPr/>
                    <a:lstStyle/>
                    <a:p>
                      <a:pPr>
                        <a:lnSpc>
                          <a:spcPct val="100000"/>
                        </a:lnSpc>
                      </a:pPr>
                      <a:endParaRPr sz="1600" dirty="0">
                        <a:latin typeface="Times New Roman" panose="02020603050405020304"/>
                        <a:cs typeface="Times New Roman" panose="02020603050405020304"/>
                      </a:endParaRPr>
                    </a:p>
                  </a:txBody>
                  <a:tcPr marL="0" marR="0" marT="0" marB="0">
                    <a:lnL w="12700">
                      <a:noFill/>
                      <a:prstDash val="solid"/>
                    </a:lnL>
                    <a:lnR w="12700" cap="flat" cmpd="sng" algn="ctr">
                      <a:noFill/>
                      <a:prstDash val="solid"/>
                      <a:round/>
                      <a:headEnd type="none" w="med" len="med"/>
                      <a:tailEnd type="none" w="med" len="med"/>
                    </a:lnR>
                    <a:lnT w="12700">
                      <a:solidFill>
                        <a:srgbClr val="000000"/>
                      </a:solidFill>
                      <a:prstDash val="solid"/>
                    </a:lnT>
                    <a:lnB w="12700" cap="flat" cmpd="sng" algn="ctr">
                      <a:noFill/>
                      <a:prstDash val="solid"/>
                      <a:round/>
                      <a:headEnd type="none" w="med" len="med"/>
                      <a:tailEnd type="none" w="med" len="med"/>
                    </a:lnB>
                  </a:tcPr>
                </a:tc>
                <a:tc hMerge="1">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3"/>
          <p:cNvGraphicFramePr>
            <a:graphicFrameLocks noGrp="1"/>
          </p:cNvGraphicFramePr>
          <p:nvPr>
            <p:custDataLst>
              <p:tags r:id="rId1"/>
            </p:custDataLst>
          </p:nvPr>
        </p:nvGraphicFramePr>
        <p:xfrm>
          <a:off x="679450" y="1594485"/>
          <a:ext cx="10822940" cy="3843655"/>
        </p:xfrm>
        <a:graphic>
          <a:graphicData uri="http://schemas.openxmlformats.org/drawingml/2006/table">
            <a:tbl>
              <a:tblPr firstRow="1" bandRow="1">
                <a:tableStyleId>{2D5ABB26-0587-4C30-8999-92F81FD0307C}</a:tableStyleId>
              </a:tblPr>
              <a:tblGrid>
                <a:gridCol w="615950"/>
                <a:gridCol w="1936115"/>
                <a:gridCol w="1619885"/>
                <a:gridCol w="1671320"/>
                <a:gridCol w="1887220"/>
                <a:gridCol w="1546225"/>
                <a:gridCol w="1546225"/>
              </a:tblGrid>
              <a:tr h="1010920">
                <a:tc>
                  <a:txBody>
                    <a:bodyPr/>
                    <a:lstStyle/>
                    <a:p>
                      <a:pPr marL="182880">
                        <a:lnSpc>
                          <a:spcPct val="100000"/>
                        </a:lnSpc>
                        <a:spcBef>
                          <a:spcPts val="325"/>
                        </a:spcBef>
                      </a:pPr>
                      <a:r>
                        <a:rPr lang="en-IN" sz="1550" b="1" spc="-25" dirty="0">
                          <a:latin typeface="Calibri" panose="020F0502020204030204"/>
                          <a:cs typeface="Calibri" panose="020F0502020204030204"/>
                        </a:rPr>
                        <a:t>No</a:t>
                      </a:r>
                      <a:endParaRPr sz="1550" dirty="0">
                        <a:latin typeface="Calibri" panose="020F0502020204030204"/>
                        <a:cs typeface="Calibri" panose="020F0502020204030204"/>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635" algn="ctr">
                        <a:lnSpc>
                          <a:spcPct val="100000"/>
                        </a:lnSpc>
                        <a:spcBef>
                          <a:spcPts val="325"/>
                        </a:spcBef>
                      </a:pPr>
                      <a:r>
                        <a:rPr sz="1550" b="1" spc="-10" dirty="0">
                          <a:latin typeface="Calibri" panose="020F0502020204030204"/>
                          <a:cs typeface="Calibri" panose="020F0502020204030204"/>
                        </a:rPr>
                        <a:t>Title</a:t>
                      </a:r>
                      <a:endParaRPr sz="1550" dirty="0">
                        <a:latin typeface="Calibri" panose="020F0502020204030204"/>
                        <a:cs typeface="Calibri" panose="020F0502020204030204"/>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514985">
                        <a:lnSpc>
                          <a:spcPct val="100000"/>
                        </a:lnSpc>
                        <a:spcBef>
                          <a:spcPts val="325"/>
                        </a:spcBef>
                      </a:pPr>
                      <a:r>
                        <a:rPr sz="1550" b="1" spc="-10" dirty="0">
                          <a:latin typeface="Calibri" panose="020F0502020204030204"/>
                          <a:cs typeface="Calibri" panose="020F0502020204030204"/>
                        </a:rPr>
                        <a:t>Author</a:t>
                      </a:r>
                      <a:endParaRPr sz="1550" dirty="0">
                        <a:latin typeface="Calibri" panose="020F0502020204030204"/>
                        <a:cs typeface="Calibri" panose="020F0502020204030204"/>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657225" marR="147955" indent="-494665">
                        <a:lnSpc>
                          <a:spcPct val="105000"/>
                        </a:lnSpc>
                        <a:spcBef>
                          <a:spcPts val="230"/>
                        </a:spcBef>
                      </a:pPr>
                      <a:r>
                        <a:rPr sz="1550" b="1" dirty="0">
                          <a:latin typeface="Calibri" panose="020F0502020204030204"/>
                          <a:cs typeface="Calibri" panose="020F0502020204030204"/>
                        </a:rPr>
                        <a:t>Journal</a:t>
                      </a:r>
                      <a:r>
                        <a:rPr sz="1550" b="1" spc="130" dirty="0">
                          <a:latin typeface="Calibri" panose="020F0502020204030204"/>
                          <a:cs typeface="Calibri" panose="020F0502020204030204"/>
                        </a:rPr>
                        <a:t> </a:t>
                      </a:r>
                      <a:r>
                        <a:rPr sz="1550" b="1" dirty="0">
                          <a:latin typeface="Calibri" panose="020F0502020204030204"/>
                          <a:cs typeface="Calibri" panose="020F0502020204030204"/>
                        </a:rPr>
                        <a:t>Name</a:t>
                      </a:r>
                      <a:r>
                        <a:rPr sz="1550" b="1" spc="90" dirty="0">
                          <a:latin typeface="Calibri" panose="020F0502020204030204"/>
                          <a:cs typeface="Calibri" panose="020F0502020204030204"/>
                        </a:rPr>
                        <a:t> </a:t>
                      </a:r>
                      <a:r>
                        <a:rPr sz="1550" b="1" spc="-50" dirty="0">
                          <a:latin typeface="Calibri" panose="020F0502020204030204"/>
                          <a:cs typeface="Calibri" panose="020F0502020204030204"/>
                        </a:rPr>
                        <a:t>&amp; </a:t>
                      </a:r>
                      <a:r>
                        <a:rPr sz="1550" b="1" spc="-20" dirty="0">
                          <a:latin typeface="Calibri" panose="020F0502020204030204"/>
                          <a:cs typeface="Calibri" panose="020F0502020204030204"/>
                        </a:rPr>
                        <a:t>Year</a:t>
                      </a:r>
                      <a:endParaRPr sz="1550" dirty="0">
                        <a:latin typeface="Calibri" panose="020F0502020204030204"/>
                        <a:cs typeface="Calibri" panose="020F0502020204030204"/>
                      </a:endParaRPr>
                    </a:p>
                  </a:txBody>
                  <a:tcPr marL="0" marR="0" marT="2920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588010" marR="367030" indent="-208915">
                        <a:lnSpc>
                          <a:spcPct val="105000"/>
                        </a:lnSpc>
                        <a:spcBef>
                          <a:spcPts val="230"/>
                        </a:spcBef>
                      </a:pPr>
                      <a:r>
                        <a:rPr sz="1550" b="1" spc="-10" dirty="0">
                          <a:latin typeface="Calibri" panose="020F0502020204030204"/>
                          <a:cs typeface="Calibri" panose="020F0502020204030204"/>
                        </a:rPr>
                        <a:t>Methodology Adapted</a:t>
                      </a:r>
                      <a:endParaRPr sz="1550" dirty="0">
                        <a:latin typeface="Calibri" panose="020F0502020204030204"/>
                        <a:cs typeface="Calibri" panose="020F0502020204030204"/>
                      </a:endParaRPr>
                    </a:p>
                  </a:txBody>
                  <a:tcPr marL="0" marR="0" marT="2920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254635">
                        <a:lnSpc>
                          <a:spcPct val="100000"/>
                        </a:lnSpc>
                        <a:spcBef>
                          <a:spcPts val="325"/>
                        </a:spcBef>
                      </a:pPr>
                      <a:r>
                        <a:rPr sz="1550" b="1" dirty="0">
                          <a:latin typeface="Calibri" panose="020F0502020204030204"/>
                          <a:cs typeface="Calibri" panose="020F0502020204030204"/>
                        </a:rPr>
                        <a:t>Key</a:t>
                      </a:r>
                      <a:r>
                        <a:rPr sz="1550" b="1" spc="45" dirty="0">
                          <a:latin typeface="Calibri" panose="020F0502020204030204"/>
                          <a:cs typeface="Calibri" panose="020F0502020204030204"/>
                        </a:rPr>
                        <a:t> </a:t>
                      </a:r>
                      <a:r>
                        <a:rPr sz="1550" b="1" spc="-10" dirty="0">
                          <a:latin typeface="Calibri" panose="020F0502020204030204"/>
                          <a:cs typeface="Calibri" panose="020F0502020204030204"/>
                        </a:rPr>
                        <a:t>Findings</a:t>
                      </a:r>
                      <a:endParaRPr sz="1550" dirty="0">
                        <a:latin typeface="Calibri" panose="020F0502020204030204"/>
                        <a:cs typeface="Calibri" panose="020F0502020204030204"/>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19050" algn="ctr">
                        <a:lnSpc>
                          <a:spcPct val="100000"/>
                        </a:lnSpc>
                        <a:spcBef>
                          <a:spcPts val="325"/>
                        </a:spcBef>
                      </a:pPr>
                      <a:r>
                        <a:rPr sz="1550" b="1" spc="-20" dirty="0">
                          <a:latin typeface="Calibri" panose="020F0502020204030204"/>
                          <a:cs typeface="Calibri" panose="020F0502020204030204"/>
                        </a:rPr>
                        <a:t>Gaps</a:t>
                      </a:r>
                      <a:endParaRPr sz="1550" dirty="0">
                        <a:latin typeface="Calibri" panose="020F0502020204030204"/>
                        <a:cs typeface="Calibri" panose="020F0502020204030204"/>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r>
              <a:tr h="1165225">
                <a:tc>
                  <a:txBody>
                    <a:bodyPr/>
                    <a:lstStyle/>
                    <a:p>
                      <a:pPr marL="92075">
                        <a:lnSpc>
                          <a:spcPct val="100000"/>
                        </a:lnSpc>
                        <a:spcBef>
                          <a:spcPts val="285"/>
                        </a:spcBef>
                      </a:pPr>
                      <a:r>
                        <a:rPr sz="1400" spc="-50" dirty="0">
                          <a:latin typeface="Calibri" panose="020F0502020204030204"/>
                          <a:cs typeface="Calibri" panose="020F0502020204030204"/>
                        </a:rPr>
                        <a:t>4</a:t>
                      </a:r>
                      <a:endParaRPr sz="1400" dirty="0">
                        <a:latin typeface="Calibri" panose="020F0502020204030204"/>
                        <a:cs typeface="Calibri" panose="020F0502020204030204"/>
                      </a:endParaRPr>
                    </a:p>
                  </a:txBody>
                  <a:tcPr marL="0" marR="0" marT="36195" marB="0">
                    <a:lnL w="12700">
                      <a:solidFill>
                        <a:srgbClr val="000000"/>
                      </a:solidFill>
                      <a:prstDash val="soli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marL="74295" indent="0" defTabSz="1799590">
                        <a:lnSpc>
                          <a:spcPct val="100000"/>
                        </a:lnSpc>
                        <a:tabLst/>
                      </a:pPr>
                      <a:r>
                        <a:rPr lang="en-US" altLang="en-US" sz="1400" dirty="0">
                          <a:latin typeface="Times New Roman" panose="02020603050405020304"/>
                          <a:cs typeface="Times New Roman" panose="02020603050405020304"/>
                        </a:rPr>
                        <a:t>Very Deep Convolutional</a:t>
                      </a:r>
                      <a:endParaRPr lang="en-US" altLang="en-US" sz="1400" dirty="0">
                        <a:latin typeface="Times New Roman" panose="02020603050405020304"/>
                        <a:cs typeface="Times New Roman" panose="02020603050405020304"/>
                      </a:endParaRPr>
                    </a:p>
                    <a:p>
                      <a:pPr marL="74295" indent="0" defTabSz="1799590">
                        <a:lnSpc>
                          <a:spcPct val="100000"/>
                        </a:lnSpc>
                        <a:tabLst/>
                      </a:pPr>
                      <a:r>
                        <a:rPr lang="en-US" altLang="en-US" sz="1400" dirty="0">
                          <a:latin typeface="Times New Roman" panose="02020603050405020304"/>
                          <a:cs typeface="Times New Roman" panose="02020603050405020304"/>
                        </a:rPr>
                        <a:t>Networks for Large-Scale</a:t>
                      </a:r>
                      <a:endParaRPr lang="en-US" altLang="en-US" sz="1400" dirty="0">
                        <a:latin typeface="Times New Roman" panose="02020603050405020304"/>
                        <a:cs typeface="Times New Roman" panose="02020603050405020304"/>
                      </a:endParaRPr>
                    </a:p>
                    <a:p>
                      <a:pPr marL="74295" indent="0" defTabSz="1799590">
                        <a:lnSpc>
                          <a:spcPct val="100000"/>
                        </a:lnSpc>
                        <a:tabLst/>
                      </a:pPr>
                      <a:r>
                        <a:rPr lang="en-US" altLang="en-US" sz="1400" dirty="0">
                          <a:latin typeface="Times New Roman" panose="02020603050405020304"/>
                          <a:cs typeface="Times New Roman" panose="02020603050405020304"/>
                        </a:rPr>
                        <a:t>Image Recognition</a:t>
                      </a:r>
                      <a:endParaRPr lang="en-US" altLang="en-US" sz="1400" dirty="0">
                        <a:latin typeface="Times New Roman" panose="02020603050405020304"/>
                        <a:cs typeface="Times New Roman" panose="0202060305040502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marL="101600" indent="0">
                        <a:lnSpc>
                          <a:spcPct val="100000"/>
                        </a:lnSpc>
                      </a:pPr>
                      <a:r>
                        <a:rPr lang="en-US" altLang="en-US" sz="1400" dirty="0">
                          <a:latin typeface="Times New Roman" panose="02020603050405020304"/>
                          <a:cs typeface="Times New Roman" panose="02020603050405020304"/>
                        </a:rPr>
                        <a:t>K. Simonyan, A.</a:t>
                      </a:r>
                      <a:endParaRPr lang="en-US" altLang="en-US" sz="1400" dirty="0">
                        <a:latin typeface="Times New Roman" panose="02020603050405020304"/>
                        <a:cs typeface="Times New Roman" panose="02020603050405020304"/>
                      </a:endParaRPr>
                    </a:p>
                    <a:p>
                      <a:pPr marL="101600" indent="0">
                        <a:lnSpc>
                          <a:spcPct val="100000"/>
                        </a:lnSpc>
                      </a:pPr>
                      <a:r>
                        <a:rPr lang="en-US" altLang="en-US" sz="1400" dirty="0">
                          <a:latin typeface="Times New Roman" panose="02020603050405020304"/>
                          <a:cs typeface="Times New Roman" panose="02020603050405020304"/>
                        </a:rPr>
                        <a:t>Zisserman</a:t>
                      </a:r>
                      <a:endParaRPr lang="en-US" altLang="en-US" sz="1400" dirty="0">
                        <a:latin typeface="Times New Roman" panose="02020603050405020304"/>
                        <a:cs typeface="Times New Roman" panose="0202060305040502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marL="48895" indent="0">
                        <a:lnSpc>
                          <a:spcPct val="100000"/>
                        </a:lnSpc>
                      </a:pPr>
                      <a:r>
                        <a:rPr lang="en-US" altLang="en-US" sz="1400" dirty="0">
                          <a:latin typeface="Times New Roman" panose="02020603050405020304"/>
                          <a:cs typeface="Times New Roman" panose="02020603050405020304"/>
                          <a:hlinkClick r:id="rId2" tooltip="" action="ppaction://hlinkfile"/>
                        </a:rPr>
                        <a:t>https:// ieeexplore.ieee.org/ document/10634159</a:t>
                      </a:r>
                      <a:endParaRPr lang="en-US" altLang="en-US" sz="1400" dirty="0">
                        <a:latin typeface="Times New Roman" panose="02020603050405020304"/>
                        <a:cs typeface="Times New Roman" panose="0202060305040502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marL="117475" indent="-10160">
                        <a:lnSpc>
                          <a:spcPct val="100000"/>
                        </a:lnSpc>
                      </a:pPr>
                      <a:r>
                        <a:rPr lang="en-US" altLang="en-US" sz="1400" dirty="0">
                          <a:latin typeface="Times New Roman" panose="02020603050405020304"/>
                          <a:cs typeface="Times New Roman" panose="02020603050405020304"/>
                        </a:rPr>
                        <a:t>VGG Net with 16–19</a:t>
                      </a:r>
                      <a:endParaRPr lang="en-US" altLang="en-US" sz="1400" dirty="0">
                        <a:latin typeface="Times New Roman" panose="02020603050405020304"/>
                        <a:cs typeface="Times New Roman" panose="02020603050405020304"/>
                      </a:endParaRPr>
                    </a:p>
                    <a:p>
                      <a:pPr marL="117475" indent="-10160">
                        <a:lnSpc>
                          <a:spcPct val="100000"/>
                        </a:lnSpc>
                      </a:pPr>
                      <a:r>
                        <a:rPr lang="en-US" altLang="en-US" sz="1400" dirty="0">
                          <a:latin typeface="Times New Roman" panose="02020603050405020304"/>
                          <a:cs typeface="Times New Roman" panose="02020603050405020304"/>
                        </a:rPr>
                        <a:t>layers using small</a:t>
                      </a:r>
                      <a:endParaRPr lang="en-US" altLang="en-US" sz="1400" dirty="0">
                        <a:latin typeface="Times New Roman" panose="02020603050405020304"/>
                        <a:cs typeface="Times New Roman" panose="02020603050405020304"/>
                      </a:endParaRPr>
                    </a:p>
                    <a:p>
                      <a:pPr marL="117475" indent="-10160">
                        <a:lnSpc>
                          <a:spcPct val="100000"/>
                        </a:lnSpc>
                      </a:pPr>
                      <a:r>
                        <a:rPr lang="en-US" altLang="en-US" sz="1400" dirty="0">
                          <a:latin typeface="Times New Roman" panose="02020603050405020304"/>
                          <a:cs typeface="Times New Roman" panose="02020603050405020304"/>
                        </a:rPr>
                        <a:t>convolutional filters.</a:t>
                      </a:r>
                      <a:endParaRPr lang="en-US" altLang="en-US" sz="1400" dirty="0">
                        <a:latin typeface="Times New Roman" panose="02020603050405020304"/>
                        <a:cs typeface="Times New Roman" panose="0202060305040502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marL="81915" indent="-20320">
                        <a:lnSpc>
                          <a:spcPct val="100000"/>
                        </a:lnSpc>
                      </a:pPr>
                      <a:r>
                        <a:rPr lang="en-US" altLang="en-US" sz="1400" dirty="0">
                          <a:latin typeface="Times New Roman" panose="02020603050405020304"/>
                          <a:cs typeface="Times New Roman" panose="02020603050405020304"/>
                        </a:rPr>
                        <a:t>Depth improved</a:t>
                      </a:r>
                      <a:endParaRPr lang="en-US" altLang="en-US" sz="1400" dirty="0">
                        <a:latin typeface="Times New Roman" panose="02020603050405020304"/>
                        <a:cs typeface="Times New Roman" panose="02020603050405020304"/>
                      </a:endParaRPr>
                    </a:p>
                    <a:p>
                      <a:pPr marL="81915" indent="-20320">
                        <a:lnSpc>
                          <a:spcPct val="100000"/>
                        </a:lnSpc>
                      </a:pPr>
                      <a:r>
                        <a:rPr lang="en-US" altLang="en-US" sz="1400" dirty="0">
                          <a:latin typeface="Times New Roman" panose="02020603050405020304"/>
                          <a:cs typeface="Times New Roman" panose="02020603050405020304"/>
                        </a:rPr>
                        <a:t>accuracy; set new</a:t>
                      </a:r>
                      <a:endParaRPr lang="en-US" altLang="en-US" sz="1400" dirty="0">
                        <a:latin typeface="Times New Roman" panose="02020603050405020304"/>
                        <a:cs typeface="Times New Roman" panose="02020603050405020304"/>
                      </a:endParaRPr>
                    </a:p>
                    <a:p>
                      <a:pPr marL="81915" indent="-20320">
                        <a:lnSpc>
                          <a:spcPct val="100000"/>
                        </a:lnSpc>
                      </a:pPr>
                      <a:r>
                        <a:rPr lang="en-US" altLang="en-US" sz="1400" dirty="0">
                          <a:latin typeface="Times New Roman" panose="02020603050405020304"/>
                          <a:cs typeface="Times New Roman" panose="02020603050405020304"/>
                        </a:rPr>
                        <a:t>Image Net benchmark.</a:t>
                      </a:r>
                      <a:endParaRPr lang="en-US" altLang="en-US" sz="1400" dirty="0">
                        <a:latin typeface="Times New Roman" panose="02020603050405020304"/>
                        <a:cs typeface="Times New Roman" panose="0202060305040502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marL="62230" indent="-10160">
                        <a:lnSpc>
                          <a:spcPct val="100000"/>
                        </a:lnSpc>
                      </a:pPr>
                      <a:r>
                        <a:rPr lang="en-US" sz="1400" dirty="0">
                          <a:latin typeface="Times New Roman" panose="02020603050405020304"/>
                          <a:cs typeface="Times New Roman" panose="02020603050405020304"/>
                        </a:rPr>
                        <a:t> </a:t>
                      </a:r>
                      <a:r>
                        <a:rPr lang="en-US" altLang="en-US" sz="1400" dirty="0">
                          <a:latin typeface="Times New Roman" panose="02020603050405020304"/>
                          <a:cs typeface="Times New Roman" panose="02020603050405020304"/>
                        </a:rPr>
                        <a:t>Heavy computation,</a:t>
                      </a:r>
                      <a:endParaRPr lang="en-US" altLang="en-US" sz="1400" dirty="0">
                        <a:latin typeface="Times New Roman" panose="02020603050405020304"/>
                        <a:cs typeface="Times New Roman" panose="02020603050405020304"/>
                      </a:endParaRPr>
                    </a:p>
                    <a:p>
                      <a:pPr marL="62230" indent="-10160">
                        <a:lnSpc>
                          <a:spcPct val="100000"/>
                        </a:lnSpc>
                      </a:pPr>
                      <a:r>
                        <a:rPr lang="en-US" altLang="en-US" sz="1400" dirty="0">
                          <a:latin typeface="Times New Roman" panose="02020603050405020304"/>
                          <a:cs typeface="Times New Roman" panose="02020603050405020304"/>
                        </a:rPr>
                        <a:t>largememory, poor</a:t>
                      </a:r>
                      <a:endParaRPr lang="en-US" altLang="en-US" sz="1400" dirty="0">
                        <a:latin typeface="Times New Roman" panose="02020603050405020304"/>
                        <a:cs typeface="Times New Roman" panose="02020603050405020304"/>
                      </a:endParaRPr>
                    </a:p>
                    <a:p>
                      <a:pPr marL="62230" indent="-10160">
                        <a:lnSpc>
                          <a:spcPct val="100000"/>
                        </a:lnSpc>
                      </a:pPr>
                      <a:r>
                        <a:rPr lang="en-US" altLang="en-US" sz="1400" dirty="0">
                          <a:latin typeface="Times New Roman" panose="02020603050405020304"/>
                          <a:cs typeface="Times New Roman" panose="02020603050405020304"/>
                        </a:rPr>
                        <a:t>fit for small medical</a:t>
                      </a:r>
                      <a:endParaRPr lang="en-US" altLang="en-US" sz="1400" dirty="0">
                        <a:latin typeface="Times New Roman" panose="02020603050405020304"/>
                        <a:cs typeface="Times New Roman" panose="02020603050405020304"/>
                      </a:endParaRPr>
                    </a:p>
                    <a:p>
                      <a:pPr marL="62230" indent="-10160">
                        <a:lnSpc>
                          <a:spcPct val="100000"/>
                        </a:lnSpc>
                      </a:pPr>
                      <a:r>
                        <a:rPr lang="en-US" altLang="en-US" sz="1400" dirty="0">
                          <a:latin typeface="Times New Roman" panose="02020603050405020304"/>
                          <a:cs typeface="Times New Roman" panose="02020603050405020304"/>
                        </a:rPr>
                        <a:t>datasets.</a:t>
                      </a:r>
                      <a:endParaRPr lang="en-US" altLang="en-US" sz="1400" dirty="0">
                        <a:latin typeface="Times New Roman" panose="02020603050405020304"/>
                        <a:cs typeface="Times New Roman" panose="02020603050405020304"/>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a:solidFill>
                        <a:srgbClr val="000000"/>
                      </a:solidFill>
                      <a:prstDash val="solid"/>
                    </a:lnB>
                  </a:tcPr>
                </a:tc>
              </a:tr>
              <a:tr h="1667510">
                <a:tc>
                  <a:txBody>
                    <a:bodyPr/>
                    <a:lstStyle/>
                    <a:p>
                      <a:pPr marL="92075">
                        <a:lnSpc>
                          <a:spcPct val="100000"/>
                        </a:lnSpc>
                        <a:spcBef>
                          <a:spcPts val="295"/>
                        </a:spcBef>
                      </a:pPr>
                      <a:r>
                        <a:rPr sz="1400" spc="-50" dirty="0">
                          <a:latin typeface="Calibri" panose="020F0502020204030204"/>
                          <a:cs typeface="Calibri" panose="020F0502020204030204"/>
                        </a:rPr>
                        <a:t>5</a:t>
                      </a:r>
                      <a:endParaRPr sz="1400">
                        <a:latin typeface="Calibri" panose="020F0502020204030204"/>
                        <a:cs typeface="Calibri" panose="020F0502020204030204"/>
                      </a:endParaRPr>
                    </a:p>
                  </a:txBody>
                  <a:tcPr marL="0" marR="0" marT="37465" marB="0">
                    <a:lnL w="12700">
                      <a:solidFill>
                        <a:srgbClr val="000000"/>
                      </a:solidFill>
                      <a:prstDash val="soli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marL="64135" indent="0">
                        <a:lnSpc>
                          <a:spcPct val="100000"/>
                        </a:lnSpc>
                      </a:pPr>
                      <a:r>
                        <a:rPr lang="en-US" altLang="en-US" sz="1400" dirty="0">
                          <a:latin typeface="Times New Roman" panose="02020603050405020304"/>
                          <a:cs typeface="Times New Roman" panose="02020603050405020304"/>
                        </a:rPr>
                        <a:t>U-Net: Convolutional</a:t>
                      </a:r>
                      <a:endParaRPr lang="en-US" altLang="en-US" sz="1400" dirty="0">
                        <a:latin typeface="Times New Roman" panose="02020603050405020304"/>
                        <a:cs typeface="Times New Roman" panose="02020603050405020304"/>
                      </a:endParaRPr>
                    </a:p>
                    <a:p>
                      <a:pPr marL="64135" indent="0">
                        <a:lnSpc>
                          <a:spcPct val="100000"/>
                        </a:lnSpc>
                      </a:pPr>
                      <a:r>
                        <a:rPr lang="en-US" altLang="en-US" sz="1400" dirty="0">
                          <a:latin typeface="Times New Roman" panose="02020603050405020304"/>
                          <a:cs typeface="Times New Roman" panose="02020603050405020304"/>
                        </a:rPr>
                        <a:t>Networks for Biomedical</a:t>
                      </a:r>
                      <a:endParaRPr lang="en-US" altLang="en-US" sz="1400" dirty="0">
                        <a:latin typeface="Times New Roman" panose="02020603050405020304"/>
                        <a:cs typeface="Times New Roman" panose="02020603050405020304"/>
                      </a:endParaRPr>
                    </a:p>
                    <a:p>
                      <a:pPr marL="64135" indent="0">
                        <a:lnSpc>
                          <a:spcPct val="100000"/>
                        </a:lnSpc>
                      </a:pPr>
                      <a:r>
                        <a:rPr lang="en-US" altLang="en-US" sz="1400" dirty="0">
                          <a:latin typeface="Times New Roman" panose="02020603050405020304"/>
                          <a:cs typeface="Times New Roman" panose="02020603050405020304"/>
                        </a:rPr>
                        <a:t>Image Segmentation</a:t>
                      </a:r>
                      <a:endParaRPr lang="en-US" altLang="en-US" sz="1400" dirty="0">
                        <a:latin typeface="Times New Roman" panose="02020603050405020304"/>
                        <a:cs typeface="Times New Roman" panose="0202060305040502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marL="50800" indent="0">
                        <a:lnSpc>
                          <a:spcPct val="100000"/>
                        </a:lnSpc>
                      </a:pPr>
                      <a:r>
                        <a:rPr lang="en-US" altLang="en-US" sz="1400" dirty="0">
                          <a:latin typeface="Times New Roman" panose="02020603050405020304"/>
                          <a:cs typeface="Times New Roman" panose="02020603050405020304"/>
                        </a:rPr>
                        <a:t>O. Ronneberger, P.</a:t>
                      </a:r>
                      <a:endParaRPr lang="en-US" altLang="en-US" sz="1400" dirty="0">
                        <a:latin typeface="Times New Roman" panose="02020603050405020304"/>
                        <a:cs typeface="Times New Roman" panose="02020603050405020304"/>
                      </a:endParaRPr>
                    </a:p>
                    <a:p>
                      <a:pPr marL="50800" indent="0">
                        <a:lnSpc>
                          <a:spcPct val="100000"/>
                        </a:lnSpc>
                      </a:pPr>
                      <a:r>
                        <a:rPr lang="en-US" altLang="en-US" sz="1400" dirty="0">
                          <a:latin typeface="Times New Roman" panose="02020603050405020304"/>
                          <a:cs typeface="Times New Roman" panose="02020603050405020304"/>
                        </a:rPr>
                        <a:t>Fischer, T. Brox</a:t>
                      </a:r>
                      <a:endParaRPr lang="en-US" altLang="en-US" sz="1400" dirty="0">
                        <a:latin typeface="Times New Roman" panose="02020603050405020304"/>
                        <a:cs typeface="Times New Roman" panose="0202060305040502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marL="79375" indent="0" defTabSz="0">
                        <a:lnSpc>
                          <a:spcPct val="100000"/>
                        </a:lnSpc>
                        <a:tabLst>
                          <a:tab pos="179070" algn="l"/>
                        </a:tabLst>
                      </a:pPr>
                      <a:r>
                        <a:rPr lang="en-US" altLang="en-US" sz="1400" dirty="0">
                          <a:latin typeface="Times New Roman" panose="02020603050405020304"/>
                          <a:cs typeface="Times New Roman" panose="02020603050405020304"/>
                          <a:hlinkClick r:id="rId3" tooltip="" action="ppaction://hlinkfile"/>
                        </a:rPr>
                        <a:t>https://link.springer.com/article/10.1007/s112 63-015-081</a:t>
                      </a:r>
                      <a:endParaRPr lang="en-US" altLang="en-US" sz="1400" dirty="0">
                        <a:latin typeface="Times New Roman" panose="02020603050405020304"/>
                        <a:cs typeface="Times New Roman" panose="0202060305040502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marL="137795" indent="-10160">
                        <a:lnSpc>
                          <a:spcPct val="100000"/>
                        </a:lnSpc>
                      </a:pPr>
                      <a:r>
                        <a:rPr lang="en-US" sz="1400" dirty="0">
                          <a:latin typeface="Times New Roman" panose="02020603050405020304"/>
                          <a:cs typeface="Times New Roman" panose="02020603050405020304"/>
                        </a:rPr>
                        <a:t>O</a:t>
                      </a:r>
                      <a:r>
                        <a:rPr lang="en-US" altLang="en-US" sz="1400" dirty="0">
                          <a:latin typeface="Times New Roman" panose="02020603050405020304"/>
                          <a:cs typeface="Times New Roman" panose="02020603050405020304"/>
                        </a:rPr>
                        <a:t>ptimized for biomedical image</a:t>
                      </a:r>
                      <a:endParaRPr lang="en-US" altLang="en-US" sz="1400" dirty="0">
                        <a:latin typeface="Times New Roman" panose="02020603050405020304"/>
                        <a:cs typeface="Times New Roman" panose="02020603050405020304"/>
                      </a:endParaRPr>
                    </a:p>
                    <a:p>
                      <a:pPr marL="137795" indent="-10160">
                        <a:lnSpc>
                          <a:spcPct val="100000"/>
                        </a:lnSpc>
                      </a:pPr>
                      <a:r>
                        <a:rPr lang="en-US" altLang="en-US" sz="1400" dirty="0">
                          <a:latin typeface="Times New Roman" panose="02020603050405020304"/>
                          <a:cs typeface="Times New Roman" panose="02020603050405020304"/>
                        </a:rPr>
                        <a:t>segmentation, enabling</a:t>
                      </a:r>
                      <a:endParaRPr lang="en-US" altLang="en-US" sz="1400" dirty="0">
                        <a:latin typeface="Times New Roman" panose="02020603050405020304"/>
                        <a:cs typeface="Times New Roman" panose="02020603050405020304"/>
                      </a:endParaRPr>
                    </a:p>
                    <a:p>
                      <a:pPr marL="137795" indent="-10160">
                        <a:lnSpc>
                          <a:spcPct val="100000"/>
                        </a:lnSpc>
                      </a:pPr>
                      <a:r>
                        <a:rPr lang="en-US" altLang="en-US" sz="1400" dirty="0">
                          <a:latin typeface="Times New Roman" panose="02020603050405020304"/>
                          <a:cs typeface="Times New Roman" panose="02020603050405020304"/>
                        </a:rPr>
                        <a:t>accuracy.</a:t>
                      </a:r>
                      <a:endParaRPr lang="en-US" altLang="en-US" sz="1400" dirty="0">
                        <a:latin typeface="Times New Roman" panose="02020603050405020304"/>
                        <a:cs typeface="Times New Roman" panose="0202060305040502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marL="71755" indent="-20320">
                        <a:lnSpc>
                          <a:spcPct val="100000"/>
                        </a:lnSpc>
                      </a:pPr>
                      <a:r>
                        <a:rPr lang="en-US" altLang="en-US" sz="1400" dirty="0">
                          <a:latin typeface="Times New Roman" panose="02020603050405020304"/>
                          <a:cs typeface="Times New Roman" panose="02020603050405020304"/>
                        </a:rPr>
                        <a:t>Achieved state-of_x0002_the-art medical image segmentation with effective preservation of fine spatial details.</a:t>
                      </a:r>
                      <a:endParaRPr lang="en-US" altLang="en-US" sz="1400" dirty="0">
                        <a:latin typeface="Times New Roman" panose="02020603050405020304"/>
                        <a:cs typeface="Times New Roman" panose="0202060305040502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marL="82550" indent="-10160">
                        <a:lnSpc>
                          <a:spcPct val="100000"/>
                        </a:lnSpc>
                      </a:pPr>
                      <a:r>
                        <a:rPr lang="en-US" altLang="en-US" sz="1400" dirty="0">
                          <a:latin typeface="Times New Roman" panose="02020603050405020304"/>
                          <a:cs typeface="Times New Roman" panose="02020603050405020304"/>
                        </a:rPr>
                        <a:t>Focused only on</a:t>
                      </a:r>
                      <a:endParaRPr lang="en-US" altLang="en-US" sz="1400" dirty="0">
                        <a:latin typeface="Times New Roman" panose="02020603050405020304"/>
                        <a:cs typeface="Times New Roman" panose="02020603050405020304"/>
                      </a:endParaRPr>
                    </a:p>
                    <a:p>
                      <a:pPr marL="82550" indent="-10160">
                        <a:lnSpc>
                          <a:spcPct val="100000"/>
                        </a:lnSpc>
                      </a:pPr>
                      <a:r>
                        <a:rPr lang="en-US" altLang="en-US" sz="1400" dirty="0">
                          <a:latin typeface="Times New Roman" panose="02020603050405020304"/>
                          <a:cs typeface="Times New Roman" panose="02020603050405020304"/>
                        </a:rPr>
                        <a:t>segmentation; no</a:t>
                      </a:r>
                      <a:endParaRPr lang="en-US" altLang="en-US" sz="1400" dirty="0">
                        <a:latin typeface="Times New Roman" panose="02020603050405020304"/>
                        <a:cs typeface="Times New Roman" panose="02020603050405020304"/>
                      </a:endParaRPr>
                    </a:p>
                    <a:p>
                      <a:pPr marL="82550" indent="-10160">
                        <a:lnSpc>
                          <a:spcPct val="100000"/>
                        </a:lnSpc>
                      </a:pPr>
                      <a:r>
                        <a:rPr lang="en-US" altLang="en-US" sz="1400" dirty="0">
                          <a:latin typeface="Times New Roman" panose="02020603050405020304"/>
                          <a:cs typeface="Times New Roman" panose="02020603050405020304"/>
                        </a:rPr>
                        <a:t>classification or</a:t>
                      </a:r>
                      <a:endParaRPr lang="en-US" altLang="en-US" sz="1400" dirty="0">
                        <a:latin typeface="Times New Roman" panose="02020603050405020304"/>
                        <a:cs typeface="Times New Roman" panose="02020603050405020304"/>
                      </a:endParaRPr>
                    </a:p>
                    <a:p>
                      <a:pPr marL="82550" indent="-10160">
                        <a:lnSpc>
                          <a:spcPct val="100000"/>
                        </a:lnSpc>
                      </a:pPr>
                      <a:r>
                        <a:rPr lang="en-US" altLang="en-US" sz="1400" dirty="0">
                          <a:latin typeface="Times New Roman" panose="02020603050405020304"/>
                          <a:cs typeface="Times New Roman" panose="02020603050405020304"/>
                        </a:rPr>
                        <a:t>model adaptation.</a:t>
                      </a:r>
                      <a:endParaRPr lang="en-US" altLang="en-US" sz="1400" dirty="0">
                        <a:latin typeface="Times New Roman" panose="02020603050405020304"/>
                        <a:cs typeface="Times New Roman" panose="02020603050405020304"/>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a:solidFill>
                        <a:srgbClr val="000000"/>
                      </a:solidFill>
                      <a:prstDash val="solid"/>
                    </a:lnB>
                  </a:tcPr>
                </a:tc>
              </a:tr>
            </a:tbl>
          </a:graphicData>
        </a:graphic>
      </p:graphicFrame>
      <p:sp>
        <p:nvSpPr>
          <p:cNvPr id="3" name="Text Box 2"/>
          <p:cNvSpPr txBox="1"/>
          <p:nvPr/>
        </p:nvSpPr>
        <p:spPr>
          <a:xfrm>
            <a:off x="3164840" y="518160"/>
            <a:ext cx="8050530" cy="1543050"/>
          </a:xfrm>
          <a:prstGeom prst="rect">
            <a:avLst/>
          </a:prstGeom>
          <a:noFill/>
        </p:spPr>
        <p:txBody>
          <a:bodyPr wrap="square" rtlCol="0">
            <a:noAutofit/>
          </a:bodyPr>
          <a:p>
            <a:pPr>
              <a:spcBef>
                <a:spcPts val="130"/>
              </a:spcBef>
            </a:pPr>
            <a:r>
              <a:rPr sz="3950" b="1" i="0" dirty="0">
                <a:solidFill>
                  <a:schemeClr val="tx1"/>
                </a:solidFill>
                <a:latin typeface="Times New Roman" panose="02020603050405020304"/>
                <a:ea typeface="+mj-ea"/>
                <a:cs typeface="Times New Roman" panose="02020603050405020304"/>
                <a:sym typeface="+mn-ea"/>
              </a:rPr>
              <a:t>LITERATURE</a:t>
            </a:r>
            <a:r>
              <a:rPr sz="3950" b="1" i="0" spc="-185" dirty="0">
                <a:solidFill>
                  <a:schemeClr val="tx1"/>
                </a:solidFill>
                <a:latin typeface="Times New Roman" panose="02020603050405020304"/>
                <a:ea typeface="+mj-ea"/>
                <a:cs typeface="Times New Roman" panose="02020603050405020304"/>
                <a:sym typeface="+mn-ea"/>
              </a:rPr>
              <a:t> </a:t>
            </a:r>
            <a:r>
              <a:rPr sz="3950" b="1" i="0" spc="-10" dirty="0">
                <a:solidFill>
                  <a:schemeClr val="tx1"/>
                </a:solidFill>
                <a:latin typeface="Times New Roman" panose="02020603050405020304"/>
                <a:ea typeface="+mj-ea"/>
                <a:cs typeface="Times New Roman" panose="02020603050405020304"/>
                <a:sym typeface="+mn-ea"/>
              </a:rPr>
              <a:t>SURVEY</a:t>
            </a:r>
            <a:endParaRPr sz="3950" dirty="0"/>
          </a:p>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188210">
              <a:lnSpc>
                <a:spcPct val="100000"/>
              </a:lnSpc>
              <a:spcBef>
                <a:spcPts val="130"/>
              </a:spcBef>
            </a:pPr>
            <a:r>
              <a:rPr spc="-35" dirty="0"/>
              <a:t>LITERATURE</a:t>
            </a:r>
            <a:r>
              <a:rPr spc="-204" dirty="0"/>
              <a:t> </a:t>
            </a:r>
            <a:r>
              <a:rPr spc="-10" dirty="0"/>
              <a:t>SURVEY</a:t>
            </a:r>
            <a:endParaRPr spc="-10" dirty="0"/>
          </a:p>
        </p:txBody>
      </p:sp>
      <p:sp>
        <p:nvSpPr>
          <p:cNvPr id="4" name="object 4"/>
          <p:cNvSpPr txBox="1">
            <a:spLocks noGrp="1"/>
          </p:cNvSpPr>
          <p:nvPr>
            <p:ph type="dt" sz="half" idx="6"/>
          </p:nvPr>
        </p:nvSpPr>
        <p:spPr>
          <a:xfrm>
            <a:off x="917575" y="6451049"/>
            <a:ext cx="737235" cy="180340"/>
          </a:xfrm>
          <a:prstGeom prst="rect">
            <a:avLst/>
          </a:prstGeom>
        </p:spPr>
        <p:txBody>
          <a:bodyPr vert="horz" wrap="square" lIns="0" tIns="0" rIns="0" bIns="0" rtlCol="0">
            <a:spAutoFit/>
          </a:bodyPr>
          <a:lstStyle/>
          <a:p>
            <a:pPr marL="12700">
              <a:lnSpc>
                <a:spcPts val="1410"/>
              </a:lnSpc>
            </a:pPr>
            <a:endParaRPr spc="-2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panose="02020603050405020304"/>
                <a:cs typeface="Times New Roman" panose="02020603050405020304"/>
              </a:rPr>
              <a:t>Review</a:t>
            </a:r>
            <a:r>
              <a:rPr sz="1200" spc="-3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No.</a:t>
            </a:r>
            <a:endParaRPr sz="1200">
              <a:latin typeface="Times New Roman" panose="02020603050405020304"/>
              <a:cs typeface="Times New Roman" panose="02020603050405020304"/>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panose="02020603050405020304"/>
                <a:cs typeface="Times New Roman" panose="02020603050405020304"/>
              </a:rPr>
              <a:t>Department</a:t>
            </a:r>
            <a:r>
              <a:rPr sz="1200" spc="-30" dirty="0">
                <a:solidFill>
                  <a:srgbClr val="888888"/>
                </a:solidFill>
                <a:latin typeface="Times New Roman" panose="02020603050405020304"/>
                <a:cs typeface="Times New Roman" panose="02020603050405020304"/>
              </a:rPr>
              <a:t> </a:t>
            </a:r>
            <a:r>
              <a:rPr sz="1200" dirty="0">
                <a:solidFill>
                  <a:srgbClr val="888888"/>
                </a:solidFill>
                <a:latin typeface="Times New Roman" panose="02020603050405020304"/>
                <a:cs typeface="Times New Roman" panose="02020603050405020304"/>
              </a:rPr>
              <a:t>of</a:t>
            </a:r>
            <a:r>
              <a:rPr sz="1200" spc="5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CSE</a:t>
            </a:r>
            <a:endParaRPr sz="1200">
              <a:latin typeface="Times New Roman" panose="02020603050405020304"/>
              <a:cs typeface="Times New Roman" panose="02020603050405020304"/>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fld>
            <a:endParaRPr spc="-25" dirty="0"/>
          </a:p>
        </p:txBody>
      </p:sp>
      <p:sp>
        <p:nvSpPr>
          <p:cNvPr id="3" name="object 3"/>
          <p:cNvSpPr txBox="1"/>
          <p:nvPr/>
        </p:nvSpPr>
        <p:spPr>
          <a:xfrm>
            <a:off x="1019810" y="1578610"/>
            <a:ext cx="10410190" cy="4822190"/>
          </a:xfrm>
          <a:prstGeom prst="rect">
            <a:avLst/>
          </a:prstGeom>
        </p:spPr>
        <p:txBody>
          <a:bodyPr vert="horz" wrap="square" lIns="0" tIns="98425" rIns="0" bIns="0" rtlCol="0">
            <a:noAutofit/>
          </a:bodyPr>
          <a:lstStyle/>
          <a:p>
            <a:pPr marL="342900" indent="-342900" algn="just">
              <a:buFont typeface="Arial" panose="020B0604020202020204" pitchFamily="34" charset="0"/>
              <a:buChar char="•"/>
            </a:pPr>
            <a:r>
              <a:rPr lang="en-IN" sz="2400" b="1" dirty="0">
                <a:latin typeface="Times New Roman" panose="02020603050405020304" charset="0"/>
                <a:cs typeface="Times New Roman" panose="02020603050405020304" charset="0"/>
              </a:rPr>
              <a:t>Zhang et al. (2021) — </a:t>
            </a:r>
            <a:r>
              <a:rPr lang="en-IN" sz="2400" b="1" i="1" dirty="0">
                <a:latin typeface="Times New Roman" panose="02020603050405020304" charset="0"/>
                <a:cs typeface="Times New Roman" panose="02020603050405020304" charset="0"/>
              </a:rPr>
              <a:t>Domain-guided deep learning for ultrasound</a:t>
            </a:r>
            <a:endParaRPr lang="en-IN" sz="2400" dirty="0">
              <a:latin typeface="Times New Roman" panose="02020603050405020304" charset="0"/>
              <a:cs typeface="Times New Roman" panose="02020603050405020304" charset="0"/>
            </a:endParaRPr>
          </a:p>
          <a:p>
            <a:pPr marL="342900" lvl="1" indent="-342900" algn="just">
              <a:buFont typeface="Arial" panose="020B0604020202020204" pitchFamily="34" charset="0"/>
              <a:buChar char="•"/>
            </a:pPr>
            <a:r>
              <a:rPr lang="en-IN" sz="2400" b="1" dirty="0">
                <a:latin typeface="Times New Roman" panose="02020603050405020304" charset="0"/>
                <a:cs typeface="Times New Roman" panose="02020603050405020304" charset="0"/>
              </a:rPr>
              <a:t>Summary:</a:t>
            </a:r>
            <a:r>
              <a:rPr lang="en-IN" sz="2400" dirty="0">
                <a:latin typeface="Times New Roman" panose="02020603050405020304" charset="0"/>
                <a:cs typeface="Times New Roman" panose="02020603050405020304" charset="0"/>
              </a:rPr>
              <a:t> Combines raw ultrasound images with segmentation masks to focus the classifier on lesion regions.</a:t>
            </a:r>
            <a:endParaRPr lang="en-IN" sz="2400" dirty="0">
              <a:latin typeface="Times New Roman" panose="02020603050405020304" charset="0"/>
              <a:cs typeface="Times New Roman" panose="02020603050405020304" charset="0"/>
            </a:endParaRPr>
          </a:p>
          <a:p>
            <a:pPr marL="342900" lvl="1" indent="-342900" algn="just">
              <a:buFont typeface="Arial" panose="020B0604020202020204" pitchFamily="34" charset="0"/>
              <a:buChar char="•"/>
            </a:pPr>
            <a:r>
              <a:rPr lang="en-IN" sz="2400" b="1" dirty="0">
                <a:latin typeface="Times New Roman" panose="02020603050405020304" charset="0"/>
                <a:cs typeface="Times New Roman" panose="02020603050405020304" charset="0"/>
              </a:rPr>
              <a:t>Key finding:</a:t>
            </a:r>
            <a:r>
              <a:rPr lang="en-IN" sz="2400" dirty="0">
                <a:latin typeface="Times New Roman" panose="02020603050405020304" charset="0"/>
                <a:cs typeface="Times New Roman" panose="02020603050405020304" charset="0"/>
              </a:rPr>
              <a:t> Region-aware training improves accuracy and interpretability.</a:t>
            </a:r>
            <a:endParaRPr lang="en-IN" sz="2400" dirty="0">
              <a:latin typeface="Times New Roman" panose="02020603050405020304" charset="0"/>
              <a:cs typeface="Times New Roman" panose="02020603050405020304" charset="0"/>
            </a:endParaRPr>
          </a:p>
          <a:p>
            <a:pPr marL="342900" lvl="1" indent="-342900" algn="just">
              <a:buFont typeface="Arial" panose="020B0604020202020204" pitchFamily="34" charset="0"/>
              <a:buChar char="•"/>
            </a:pPr>
            <a:r>
              <a:rPr lang="en-IN" sz="2400" b="1" dirty="0">
                <a:latin typeface="Times New Roman" panose="02020603050405020304" charset="0"/>
                <a:cs typeface="Times New Roman" panose="02020603050405020304" charset="0"/>
              </a:rPr>
              <a:t>Relation to our project:</a:t>
            </a:r>
            <a:r>
              <a:rPr lang="en-IN" sz="2400" dirty="0">
                <a:latin typeface="Times New Roman" panose="02020603050405020304" charset="0"/>
                <a:cs typeface="Times New Roman" panose="02020603050405020304" charset="0"/>
              </a:rPr>
              <a:t> Validates the segmentation-guided approach (we adopt U-Net++ masks to guide classification).</a:t>
            </a:r>
            <a:endParaRPr lang="en-IN" sz="2400"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IN" sz="2400" b="1" dirty="0" err="1">
                <a:latin typeface="Times New Roman" panose="02020603050405020304" charset="0"/>
                <a:cs typeface="Times New Roman" panose="02020603050405020304" charset="0"/>
              </a:rPr>
              <a:t>Ronneberger</a:t>
            </a:r>
            <a:r>
              <a:rPr lang="en-IN" sz="2400" b="1" dirty="0">
                <a:latin typeface="Times New Roman" panose="02020603050405020304" charset="0"/>
                <a:cs typeface="Times New Roman" panose="02020603050405020304" charset="0"/>
              </a:rPr>
              <a:t> et al. (2015) — </a:t>
            </a:r>
            <a:r>
              <a:rPr lang="en-IN" sz="2400" b="1" i="1" dirty="0">
                <a:latin typeface="Times New Roman" panose="02020603050405020304" charset="0"/>
                <a:cs typeface="Times New Roman" panose="02020603050405020304" charset="0"/>
              </a:rPr>
              <a:t>U-Net for biomedical segmentation</a:t>
            </a:r>
            <a:endParaRPr lang="en-IN" sz="2400" dirty="0">
              <a:latin typeface="Times New Roman" panose="02020603050405020304" charset="0"/>
              <a:cs typeface="Times New Roman" panose="02020603050405020304" charset="0"/>
            </a:endParaRPr>
          </a:p>
          <a:p>
            <a:pPr marL="342900" lvl="1" indent="-342900" algn="just">
              <a:buFont typeface="Arial" panose="020B0604020202020204" pitchFamily="34" charset="0"/>
              <a:buChar char="•"/>
            </a:pPr>
            <a:r>
              <a:rPr lang="en-IN" sz="2400" b="1" dirty="0">
                <a:latin typeface="Times New Roman" panose="02020603050405020304" charset="0"/>
                <a:cs typeface="Times New Roman" panose="02020603050405020304" charset="0"/>
              </a:rPr>
              <a:t>Summary:</a:t>
            </a:r>
            <a:r>
              <a:rPr lang="en-IN" sz="2400" dirty="0">
                <a:latin typeface="Times New Roman" panose="02020603050405020304" charset="0"/>
                <a:cs typeface="Times New Roman" panose="02020603050405020304" charset="0"/>
              </a:rPr>
              <a:t> Introduced encoder–decoder architecture with skip connections for precise pixelwise segmentation.</a:t>
            </a:r>
            <a:endParaRPr lang="en-IN" sz="2400" dirty="0">
              <a:latin typeface="Times New Roman" panose="02020603050405020304" charset="0"/>
              <a:cs typeface="Times New Roman" panose="02020603050405020304" charset="0"/>
            </a:endParaRPr>
          </a:p>
          <a:p>
            <a:pPr marL="342900" lvl="1" indent="-342900" algn="just">
              <a:buFont typeface="Arial" panose="020B0604020202020204" pitchFamily="34" charset="0"/>
              <a:buChar char="•"/>
            </a:pPr>
            <a:r>
              <a:rPr lang="en-IN" sz="2400" b="1" dirty="0">
                <a:latin typeface="Times New Roman" panose="02020603050405020304" charset="0"/>
                <a:cs typeface="Times New Roman" panose="02020603050405020304" charset="0"/>
              </a:rPr>
              <a:t>Key finding:</a:t>
            </a:r>
            <a:r>
              <a:rPr lang="en-IN" sz="2400" dirty="0">
                <a:latin typeface="Times New Roman" panose="02020603050405020304" charset="0"/>
                <a:cs typeface="Times New Roman" panose="02020603050405020304" charset="0"/>
              </a:rPr>
              <a:t> Excellent retention of spatial details for medical images.</a:t>
            </a:r>
            <a:endParaRPr lang="en-IN" sz="2400" dirty="0">
              <a:latin typeface="Times New Roman" panose="02020603050405020304" charset="0"/>
              <a:cs typeface="Times New Roman" panose="02020603050405020304" charset="0"/>
            </a:endParaRPr>
          </a:p>
          <a:p>
            <a:pPr marL="342900" lvl="1" indent="-342900" algn="just">
              <a:buFont typeface="Arial" panose="020B0604020202020204" pitchFamily="34" charset="0"/>
              <a:buChar char="•"/>
            </a:pPr>
            <a:r>
              <a:rPr lang="en-IN" sz="2400" b="1" dirty="0">
                <a:latin typeface="Times New Roman" panose="02020603050405020304" charset="0"/>
                <a:cs typeface="Times New Roman" panose="02020603050405020304" charset="0"/>
              </a:rPr>
              <a:t>Relation to our project:</a:t>
            </a:r>
            <a:r>
              <a:rPr lang="en-IN" sz="2400" dirty="0">
                <a:latin typeface="Times New Roman" panose="02020603050405020304" charset="0"/>
                <a:cs typeface="Times New Roman" panose="02020603050405020304" charset="0"/>
              </a:rPr>
              <a:t> Underpins our choice of U-Net++/U-Net variants for robust </a:t>
            </a:r>
            <a:r>
              <a:rPr lang="en-IN" sz="2400" dirty="0" err="1">
                <a:latin typeface="Times New Roman" panose="02020603050405020304" charset="0"/>
                <a:cs typeface="Times New Roman" panose="02020603050405020304" charset="0"/>
              </a:rPr>
              <a:t>tumor</a:t>
            </a:r>
            <a:r>
              <a:rPr lang="en-IN" sz="2400" dirty="0">
                <a:latin typeface="Times New Roman" panose="02020603050405020304" charset="0"/>
                <a:cs typeface="Times New Roman" panose="02020603050405020304" charset="0"/>
              </a:rPr>
              <a:t> mask generation.</a:t>
            </a:r>
            <a:endParaRPr lang="en-IN" sz="2400" dirty="0">
              <a:latin typeface="Times New Roman" panose="02020603050405020304" charset="0"/>
              <a:cs typeface="Times New Roman" panose="02020603050405020304" charset="0"/>
            </a:endParaRPr>
          </a:p>
          <a:p>
            <a:pPr marL="240665" indent="-227965">
              <a:lnSpc>
                <a:spcPct val="100000"/>
              </a:lnSpc>
              <a:spcBef>
                <a:spcPts val="775"/>
              </a:spcBef>
              <a:buFont typeface="Arial MT"/>
              <a:buChar char="•"/>
              <a:tabLst>
                <a:tab pos="240665" algn="l"/>
              </a:tabLst>
            </a:pPr>
            <a:endParaRPr sz="2750" dirty="0">
              <a:latin typeface="Times New Roman" panose="02020603050405020304"/>
              <a:cs typeface="Times New Roman" panose="020206030504050203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188210">
              <a:lnSpc>
                <a:spcPct val="100000"/>
              </a:lnSpc>
              <a:spcBef>
                <a:spcPts val="130"/>
              </a:spcBef>
            </a:pPr>
            <a:r>
              <a:rPr spc="-35" dirty="0"/>
              <a:t>LITERATURE</a:t>
            </a:r>
            <a:r>
              <a:rPr spc="-204" dirty="0"/>
              <a:t> </a:t>
            </a:r>
            <a:r>
              <a:rPr spc="-10" dirty="0"/>
              <a:t>SURVEY</a:t>
            </a:r>
            <a:endParaRPr spc="-10" dirty="0"/>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19-12-</a:t>
            </a:r>
            <a:r>
              <a:rPr spc="-20" dirty="0"/>
              <a:t>2024</a:t>
            </a:r>
            <a:endParaRPr spc="-2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panose="02020603050405020304"/>
                <a:cs typeface="Times New Roman" panose="02020603050405020304"/>
              </a:rPr>
              <a:t>Review</a:t>
            </a:r>
            <a:r>
              <a:rPr sz="1200" spc="-3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No.</a:t>
            </a:r>
            <a:endParaRPr sz="1200">
              <a:latin typeface="Times New Roman" panose="02020603050405020304"/>
              <a:cs typeface="Times New Roman" panose="02020603050405020304"/>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panose="02020603050405020304"/>
                <a:cs typeface="Times New Roman" panose="02020603050405020304"/>
              </a:rPr>
              <a:t>Department</a:t>
            </a:r>
            <a:r>
              <a:rPr sz="1200" spc="-30" dirty="0">
                <a:solidFill>
                  <a:srgbClr val="888888"/>
                </a:solidFill>
                <a:latin typeface="Times New Roman" panose="02020603050405020304"/>
                <a:cs typeface="Times New Roman" panose="02020603050405020304"/>
              </a:rPr>
              <a:t> </a:t>
            </a:r>
            <a:r>
              <a:rPr sz="1200" dirty="0">
                <a:solidFill>
                  <a:srgbClr val="888888"/>
                </a:solidFill>
                <a:latin typeface="Times New Roman" panose="02020603050405020304"/>
                <a:cs typeface="Times New Roman" panose="02020603050405020304"/>
              </a:rPr>
              <a:t>of</a:t>
            </a:r>
            <a:r>
              <a:rPr sz="1200" spc="5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CSE</a:t>
            </a:r>
            <a:endParaRPr sz="1200">
              <a:latin typeface="Times New Roman" panose="02020603050405020304"/>
              <a:cs typeface="Times New Roman" panose="02020603050405020304"/>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fld>
            <a:endParaRPr spc="-25" dirty="0"/>
          </a:p>
        </p:txBody>
      </p:sp>
      <p:sp>
        <p:nvSpPr>
          <p:cNvPr id="3" name="object 3"/>
          <p:cNvSpPr txBox="1"/>
          <p:nvPr/>
        </p:nvSpPr>
        <p:spPr>
          <a:xfrm>
            <a:off x="984885" y="1483360"/>
            <a:ext cx="10484485" cy="4464685"/>
          </a:xfrm>
          <a:prstGeom prst="rect">
            <a:avLst/>
          </a:prstGeom>
        </p:spPr>
        <p:txBody>
          <a:bodyPr vert="horz" wrap="square" lIns="0" tIns="98425" rIns="0" bIns="0" rtlCol="0">
            <a:noAutofit/>
          </a:bodyPr>
          <a:lstStyle/>
          <a:p>
            <a:pPr marL="342900" indent="-342900" algn="just">
              <a:buFont typeface="Arial" panose="020B0604020202020204" pitchFamily="34" charset="0"/>
              <a:buChar char="•"/>
            </a:pPr>
            <a:r>
              <a:rPr lang="en-US" sz="2400" b="1" dirty="0">
                <a:latin typeface="Times New Roman" panose="02020603050405020304" charset="0"/>
                <a:cs typeface="Times New Roman" panose="02020603050405020304" charset="0"/>
              </a:rPr>
              <a:t>Abdelhafiz et al. (2020) — </a:t>
            </a:r>
            <a:r>
              <a:rPr lang="en-US" sz="2400" b="1" i="1" dirty="0">
                <a:latin typeface="Times New Roman" panose="02020603050405020304" charset="0"/>
                <a:cs typeface="Times New Roman" panose="02020603050405020304" charset="0"/>
              </a:rPr>
              <a:t>Transfer learning + adaptive decision fusion</a:t>
            </a:r>
            <a:endParaRPr lang="en-US" sz="2400" dirty="0">
              <a:latin typeface="Times New Roman" panose="02020603050405020304" charset="0"/>
              <a:cs typeface="Times New Roman" panose="02020603050405020304" charset="0"/>
            </a:endParaRPr>
          </a:p>
          <a:p>
            <a:pPr marL="342900" lvl="1" indent="-342900" algn="just">
              <a:buFont typeface="Arial" panose="020B0604020202020204" pitchFamily="34" charset="0"/>
              <a:buChar char="•"/>
            </a:pPr>
            <a:r>
              <a:rPr lang="en-US" sz="2400" b="1" dirty="0">
                <a:latin typeface="Times New Roman" panose="02020603050405020304" charset="0"/>
                <a:cs typeface="Times New Roman" panose="02020603050405020304" charset="0"/>
              </a:rPr>
              <a:t>Summary:</a:t>
            </a:r>
            <a:r>
              <a:rPr lang="en-US" sz="2400" dirty="0">
                <a:latin typeface="Times New Roman" panose="02020603050405020304" charset="0"/>
                <a:cs typeface="Times New Roman" panose="02020603050405020304" charset="0"/>
              </a:rPr>
              <a:t> Uses pretrained CNNs and fusion strategies to improve detection on small datasets.</a:t>
            </a:r>
            <a:endParaRPr lang="en-US" sz="2400" dirty="0">
              <a:latin typeface="Times New Roman" panose="02020603050405020304" charset="0"/>
              <a:cs typeface="Times New Roman" panose="02020603050405020304" charset="0"/>
            </a:endParaRPr>
          </a:p>
          <a:p>
            <a:pPr marL="342900" lvl="1" indent="-342900" algn="just">
              <a:buFont typeface="Arial" panose="020B0604020202020204" pitchFamily="34" charset="0"/>
              <a:buChar char="•"/>
            </a:pPr>
            <a:r>
              <a:rPr lang="en-US" sz="2400" b="1" dirty="0">
                <a:latin typeface="Times New Roman" panose="02020603050405020304" charset="0"/>
                <a:cs typeface="Times New Roman" panose="02020603050405020304" charset="0"/>
              </a:rPr>
              <a:t>Key finding:</a:t>
            </a:r>
            <a:r>
              <a:rPr lang="en-US" sz="2400" dirty="0">
                <a:latin typeface="Times New Roman" panose="02020603050405020304" charset="0"/>
                <a:cs typeface="Times New Roman" panose="02020603050405020304" charset="0"/>
              </a:rPr>
              <a:t> Transfer learning + fusion yields reliable accuracy with limited data.</a:t>
            </a:r>
            <a:endParaRPr lang="en-US" sz="2400" dirty="0">
              <a:latin typeface="Times New Roman" panose="02020603050405020304" charset="0"/>
              <a:cs typeface="Times New Roman" panose="02020603050405020304" charset="0"/>
            </a:endParaRPr>
          </a:p>
          <a:p>
            <a:pPr marL="342900" lvl="1" indent="-342900" algn="just">
              <a:buFont typeface="Arial" panose="020B0604020202020204" pitchFamily="34" charset="0"/>
              <a:buChar char="•"/>
            </a:pPr>
            <a:r>
              <a:rPr lang="en-US" sz="2400" b="1" dirty="0">
                <a:latin typeface="Times New Roman" panose="02020603050405020304" charset="0"/>
                <a:cs typeface="Times New Roman" panose="02020603050405020304" charset="0"/>
              </a:rPr>
              <a:t>Relation to our project:</a:t>
            </a:r>
            <a:r>
              <a:rPr lang="en-US" sz="2400" dirty="0">
                <a:latin typeface="Times New Roman" panose="02020603050405020304" charset="0"/>
                <a:cs typeface="Times New Roman" panose="02020603050405020304" charset="0"/>
              </a:rPr>
              <a:t> Informs use of pretrained backbones and fusion of segmentation features to strengthen classifier performance.</a:t>
            </a:r>
            <a:endParaRPr lang="en-US" sz="2400"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US" sz="2400" b="1" dirty="0">
                <a:latin typeface="Times New Roman" panose="02020603050405020304" charset="0"/>
                <a:cs typeface="Times New Roman" panose="02020603050405020304" charset="0"/>
              </a:rPr>
              <a:t>Huang et al. (2020) — </a:t>
            </a:r>
            <a:r>
              <a:rPr lang="en-US" sz="2400" b="1" i="1" dirty="0">
                <a:latin typeface="Times New Roman" panose="02020603050405020304" charset="0"/>
                <a:cs typeface="Times New Roman" panose="02020603050405020304" charset="0"/>
              </a:rPr>
              <a:t>CNN classification on ultrasound images</a:t>
            </a:r>
            <a:endParaRPr lang="en-US" sz="2400" dirty="0">
              <a:latin typeface="Times New Roman" panose="02020603050405020304" charset="0"/>
              <a:cs typeface="Times New Roman" panose="02020603050405020304" charset="0"/>
            </a:endParaRPr>
          </a:p>
          <a:p>
            <a:pPr marL="342900" lvl="1" indent="-342900" algn="just">
              <a:buFont typeface="Arial" panose="020B0604020202020204" pitchFamily="34" charset="0"/>
              <a:buChar char="•"/>
            </a:pPr>
            <a:r>
              <a:rPr lang="en-US" sz="2400" b="1" dirty="0">
                <a:latin typeface="Times New Roman" panose="02020603050405020304" charset="0"/>
                <a:cs typeface="Times New Roman" panose="02020603050405020304" charset="0"/>
              </a:rPr>
              <a:t>Summary:</a:t>
            </a:r>
            <a:r>
              <a:rPr lang="en-US" sz="2400" dirty="0">
                <a:latin typeface="Times New Roman" panose="02020603050405020304" charset="0"/>
                <a:cs typeface="Times New Roman" panose="02020603050405020304" charset="0"/>
              </a:rPr>
              <a:t> Direct CNN-based classification of ultrasound scans without segmentation.</a:t>
            </a:r>
            <a:endParaRPr lang="en-US" sz="2400" dirty="0">
              <a:latin typeface="Times New Roman" panose="02020603050405020304" charset="0"/>
              <a:cs typeface="Times New Roman" panose="02020603050405020304" charset="0"/>
            </a:endParaRPr>
          </a:p>
          <a:p>
            <a:pPr marL="342900" lvl="1" indent="-342900" algn="just">
              <a:buFont typeface="Arial" panose="020B0604020202020204" pitchFamily="34" charset="0"/>
              <a:buChar char="•"/>
            </a:pPr>
            <a:r>
              <a:rPr lang="en-US" sz="2400" b="1" dirty="0">
                <a:latin typeface="Times New Roman" panose="02020603050405020304" charset="0"/>
                <a:cs typeface="Times New Roman" panose="02020603050405020304" charset="0"/>
              </a:rPr>
              <a:t>Key finding:</a:t>
            </a:r>
            <a:r>
              <a:rPr lang="en-US" sz="2400" dirty="0">
                <a:latin typeface="Times New Roman" panose="02020603050405020304" charset="0"/>
                <a:cs typeface="Times New Roman" panose="02020603050405020304" charset="0"/>
              </a:rPr>
              <a:t> Achieves decent accuracy but misses region-specific cues, causing misclassifications.</a:t>
            </a:r>
            <a:endParaRPr lang="en-US" sz="2400" dirty="0">
              <a:latin typeface="Times New Roman" panose="02020603050405020304" charset="0"/>
              <a:cs typeface="Times New Roman" panose="02020603050405020304" charset="0"/>
            </a:endParaRPr>
          </a:p>
          <a:p>
            <a:pPr marL="342900" lvl="1" indent="-342900" algn="just">
              <a:buFont typeface="Arial" panose="020B0604020202020204" pitchFamily="34" charset="0"/>
              <a:buChar char="•"/>
            </a:pPr>
            <a:r>
              <a:rPr lang="en-US" sz="2400" b="1" dirty="0">
                <a:latin typeface="Times New Roman" panose="02020603050405020304" charset="0"/>
                <a:cs typeface="Times New Roman" panose="02020603050405020304" charset="0"/>
              </a:rPr>
              <a:t>Relation to our project:</a:t>
            </a:r>
            <a:r>
              <a:rPr lang="en-US" sz="2400" dirty="0">
                <a:latin typeface="Times New Roman" panose="02020603050405020304" charset="0"/>
                <a:cs typeface="Times New Roman" panose="02020603050405020304" charset="0"/>
              </a:rPr>
              <a:t> Motivates adding explicit segmentation masks to focus the classifier on tumor regions.</a:t>
            </a:r>
            <a:endParaRPr lang="en-US" sz="2400" dirty="0">
              <a:latin typeface="Times New Roman" panose="02020603050405020304" charset="0"/>
              <a:cs typeface="Times New Roman" panose="02020603050405020304" charset="0"/>
            </a:endParaRPr>
          </a:p>
          <a:p>
            <a:pPr marL="0" indent="0" algn="just">
              <a:buFont typeface="Arial" panose="020B0604020202020204" pitchFamily="34" charset="0"/>
              <a:buNone/>
            </a:pPr>
            <a:endParaRPr sz="2750" dirty="0">
              <a:latin typeface="Times New Roman" panose="02020603050405020304"/>
              <a:cs typeface="Times New Roman" panose="020206030504050203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856230">
              <a:lnSpc>
                <a:spcPct val="100000"/>
              </a:lnSpc>
              <a:spcBef>
                <a:spcPts val="130"/>
              </a:spcBef>
            </a:pPr>
            <a:r>
              <a:rPr dirty="0"/>
              <a:t>RESEARCH</a:t>
            </a:r>
            <a:r>
              <a:rPr spc="-140" dirty="0"/>
              <a:t> </a:t>
            </a:r>
            <a:r>
              <a:rPr spc="-20" dirty="0"/>
              <a:t>GAPS</a:t>
            </a:r>
            <a:endParaRPr spc="-20" dirty="0"/>
          </a:p>
        </p:txBody>
      </p:sp>
      <p:sp>
        <p:nvSpPr>
          <p:cNvPr id="4" name="object 4"/>
          <p:cNvSpPr txBox="1">
            <a:spLocks noGrp="1"/>
          </p:cNvSpPr>
          <p:nvPr>
            <p:ph type="dt" sz="half" idx="6"/>
          </p:nvPr>
        </p:nvSpPr>
        <p:spPr>
          <a:xfrm>
            <a:off x="917575" y="6451049"/>
            <a:ext cx="737235" cy="180340"/>
          </a:xfrm>
          <a:prstGeom prst="rect">
            <a:avLst/>
          </a:prstGeom>
        </p:spPr>
        <p:txBody>
          <a:bodyPr vert="horz" wrap="square" lIns="0" tIns="0" rIns="0" bIns="0" rtlCol="0">
            <a:spAutoFit/>
          </a:bodyPr>
          <a:lstStyle/>
          <a:p>
            <a:pPr marL="12700">
              <a:lnSpc>
                <a:spcPts val="1410"/>
              </a:lnSpc>
            </a:pPr>
            <a:endParaRPr spc="-2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panose="02020603050405020304"/>
                <a:cs typeface="Times New Roman" panose="02020603050405020304"/>
              </a:rPr>
              <a:t>Review</a:t>
            </a:r>
            <a:r>
              <a:rPr sz="1200" spc="-3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No.</a:t>
            </a:r>
            <a:endParaRPr sz="1200">
              <a:latin typeface="Times New Roman" panose="02020603050405020304"/>
              <a:cs typeface="Times New Roman" panose="02020603050405020304"/>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panose="02020603050405020304"/>
                <a:cs typeface="Times New Roman" panose="02020603050405020304"/>
              </a:rPr>
              <a:t>Department</a:t>
            </a:r>
            <a:r>
              <a:rPr sz="1200" spc="-30" dirty="0">
                <a:solidFill>
                  <a:srgbClr val="888888"/>
                </a:solidFill>
                <a:latin typeface="Times New Roman" panose="02020603050405020304"/>
                <a:cs typeface="Times New Roman" panose="02020603050405020304"/>
              </a:rPr>
              <a:t> </a:t>
            </a:r>
            <a:r>
              <a:rPr sz="1200" dirty="0">
                <a:solidFill>
                  <a:srgbClr val="888888"/>
                </a:solidFill>
                <a:latin typeface="Times New Roman" panose="02020603050405020304"/>
                <a:cs typeface="Times New Roman" panose="02020603050405020304"/>
              </a:rPr>
              <a:t>of</a:t>
            </a:r>
            <a:r>
              <a:rPr sz="1200" spc="5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CSE</a:t>
            </a:r>
            <a:endParaRPr sz="1200">
              <a:latin typeface="Times New Roman" panose="02020603050405020304"/>
              <a:cs typeface="Times New Roman" panose="02020603050405020304"/>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fld>
            <a:endParaRPr spc="-25" dirty="0"/>
          </a:p>
        </p:txBody>
      </p:sp>
      <p:sp>
        <p:nvSpPr>
          <p:cNvPr id="3" name="object 3"/>
          <p:cNvSpPr txBox="1"/>
          <p:nvPr/>
        </p:nvSpPr>
        <p:spPr>
          <a:xfrm>
            <a:off x="1447800" y="1600200"/>
            <a:ext cx="9656826" cy="3170099"/>
          </a:xfrm>
          <a:prstGeom prst="rect">
            <a:avLst/>
          </a:prstGeom>
        </p:spPr>
        <p:txBody>
          <a:bodyPr vert="horz" wrap="square" lIns="0" tIns="99060" rIns="0" bIns="0" rtlCol="0">
            <a:spAutoFit/>
          </a:bodyPr>
          <a:lstStyle/>
          <a:p>
            <a:pPr marL="342900" indent="-342900" algn="just">
              <a:buFont typeface="Arial" panose="020B0604020202020204" pitchFamily="34" charset="0"/>
              <a:buChar char="•"/>
            </a:pPr>
            <a:r>
              <a:rPr lang="en-US" sz="2400" dirty="0">
                <a:latin typeface="Times New Roman" panose="02020603050405020304" charset="0"/>
                <a:cs typeface="Times New Roman" panose="02020603050405020304" charset="0"/>
              </a:rPr>
              <a:t>CNN models lack focus on lesion boundaries and region-aware learning.</a:t>
            </a:r>
            <a:endParaRPr lang="en-US" sz="2400"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US" sz="2400" dirty="0">
                <a:latin typeface="Times New Roman" panose="02020603050405020304" charset="0"/>
                <a:cs typeface="Times New Roman" panose="02020603050405020304" charset="0"/>
              </a:rPr>
              <a:t>Manual diagnosis remains subjective and inconsistent.</a:t>
            </a:r>
            <a:endParaRPr lang="en-US" sz="2400"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US" sz="2400" dirty="0">
                <a:latin typeface="Times New Roman" panose="02020603050405020304" charset="0"/>
                <a:cs typeface="Times New Roman" panose="02020603050405020304" charset="0"/>
              </a:rPr>
              <a:t>Existing methods show poor generalization on real ultrasound data.</a:t>
            </a:r>
            <a:endParaRPr lang="en-US" sz="2400"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US" sz="2400" dirty="0">
                <a:latin typeface="Times New Roman" panose="02020603050405020304" charset="0"/>
                <a:cs typeface="Times New Roman" panose="02020603050405020304" charset="0"/>
              </a:rPr>
              <a:t>Limited integration of segmentation with classification.</a:t>
            </a:r>
            <a:endParaRPr lang="en-US" sz="2400"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US" sz="2400" dirty="0">
                <a:latin typeface="Times New Roman" panose="02020603050405020304" charset="0"/>
                <a:cs typeface="Times New Roman" panose="02020603050405020304" charset="0"/>
              </a:rPr>
              <a:t>High data and hardware requirements hinder clinical use.</a:t>
            </a:r>
            <a:endParaRPr lang="en-US" sz="2400"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US" sz="2400" dirty="0">
                <a:latin typeface="Times New Roman" panose="02020603050405020304" charset="0"/>
                <a:cs typeface="Times New Roman" panose="02020603050405020304" charset="0"/>
              </a:rPr>
              <a:t>Need for a lightweight, explainable, and accurate deep learning framework.</a:t>
            </a:r>
            <a:endParaRPr lang="en-US" sz="2400" dirty="0">
              <a:latin typeface="Times New Roman" panose="02020603050405020304" charset="0"/>
              <a:cs typeface="Times New Roman" panose="02020603050405020304" charset="0"/>
            </a:endParaRPr>
          </a:p>
          <a:p>
            <a:br>
              <a:rPr lang="en-US" sz="2800" dirty="0"/>
            </a:br>
            <a:endParaRPr sz="2750" dirty="0">
              <a:latin typeface="Times New Roman" panose="02020603050405020304"/>
              <a:cs typeface="Times New Roman" panose="020206030504050203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027555">
              <a:lnSpc>
                <a:spcPct val="100000"/>
              </a:lnSpc>
              <a:spcBef>
                <a:spcPts val="130"/>
              </a:spcBef>
            </a:pPr>
            <a:r>
              <a:rPr dirty="0"/>
              <a:t>PROBLEM</a:t>
            </a:r>
            <a:r>
              <a:rPr spc="-170" dirty="0"/>
              <a:t> </a:t>
            </a:r>
            <a:r>
              <a:rPr spc="-50" dirty="0"/>
              <a:t>STATEMENT</a:t>
            </a:r>
            <a:endParaRPr spc="-50" dirty="0"/>
          </a:p>
        </p:txBody>
      </p:sp>
      <p:sp>
        <p:nvSpPr>
          <p:cNvPr id="4" name="object 4"/>
          <p:cNvSpPr txBox="1">
            <a:spLocks noGrp="1"/>
          </p:cNvSpPr>
          <p:nvPr>
            <p:ph type="dt" sz="half" idx="6"/>
          </p:nvPr>
        </p:nvSpPr>
        <p:spPr>
          <a:xfrm>
            <a:off x="917575" y="6451049"/>
            <a:ext cx="737235" cy="180340"/>
          </a:xfrm>
          <a:prstGeom prst="rect">
            <a:avLst/>
          </a:prstGeom>
        </p:spPr>
        <p:txBody>
          <a:bodyPr vert="horz" wrap="square" lIns="0" tIns="0" rIns="0" bIns="0" rtlCol="0">
            <a:spAutoFit/>
          </a:bodyPr>
          <a:lstStyle/>
          <a:p>
            <a:pPr marL="12700">
              <a:lnSpc>
                <a:spcPts val="1410"/>
              </a:lnSpc>
            </a:pPr>
            <a:endParaRPr spc="-2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panose="02020603050405020304"/>
                <a:cs typeface="Times New Roman" panose="02020603050405020304"/>
              </a:rPr>
              <a:t>Review</a:t>
            </a:r>
            <a:r>
              <a:rPr sz="1200" spc="-3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No.</a:t>
            </a:r>
            <a:endParaRPr sz="1200">
              <a:latin typeface="Times New Roman" panose="02020603050405020304"/>
              <a:cs typeface="Times New Roman" panose="02020603050405020304"/>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panose="02020603050405020304"/>
                <a:cs typeface="Times New Roman" panose="02020603050405020304"/>
              </a:rPr>
              <a:t>Department</a:t>
            </a:r>
            <a:r>
              <a:rPr sz="1200" spc="-30" dirty="0">
                <a:solidFill>
                  <a:srgbClr val="888888"/>
                </a:solidFill>
                <a:latin typeface="Times New Roman" panose="02020603050405020304"/>
                <a:cs typeface="Times New Roman" panose="02020603050405020304"/>
              </a:rPr>
              <a:t> </a:t>
            </a:r>
            <a:r>
              <a:rPr sz="1200" dirty="0">
                <a:solidFill>
                  <a:srgbClr val="888888"/>
                </a:solidFill>
                <a:latin typeface="Times New Roman" panose="02020603050405020304"/>
                <a:cs typeface="Times New Roman" panose="02020603050405020304"/>
              </a:rPr>
              <a:t>of</a:t>
            </a:r>
            <a:r>
              <a:rPr sz="1200" spc="5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CSE</a:t>
            </a:r>
            <a:endParaRPr sz="1200">
              <a:latin typeface="Times New Roman" panose="02020603050405020304"/>
              <a:cs typeface="Times New Roman" panose="02020603050405020304"/>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fld>
            <a:endParaRPr spc="-25" dirty="0"/>
          </a:p>
        </p:txBody>
      </p:sp>
      <p:sp>
        <p:nvSpPr>
          <p:cNvPr id="3" name="object 3"/>
          <p:cNvSpPr txBox="1"/>
          <p:nvPr/>
        </p:nvSpPr>
        <p:spPr>
          <a:xfrm>
            <a:off x="917575" y="1600200"/>
            <a:ext cx="10283825" cy="3211135"/>
          </a:xfrm>
          <a:prstGeom prst="rect">
            <a:avLst/>
          </a:prstGeom>
        </p:spPr>
        <p:txBody>
          <a:bodyPr vert="horz" wrap="square" lIns="0" tIns="99060" rIns="0" bIns="0" rtlCol="0">
            <a:spAutoFit/>
          </a:bodyPr>
          <a:lstStyle/>
          <a:p>
            <a:pPr marL="342900" indent="-342900" algn="just">
              <a:buFont typeface="Arial" panose="020B0604020202020204" pitchFamily="34" charset="0"/>
              <a:buChar char="•"/>
            </a:pPr>
            <a:r>
              <a:rPr lang="en-US" sz="2400" dirty="0">
                <a:latin typeface="Times New Roman" panose="02020603050405020304" charset="0"/>
                <a:cs typeface="Times New Roman" panose="02020603050405020304" charset="0"/>
              </a:rPr>
              <a:t>Breast cancer diagnosis from ultrasound images is often </a:t>
            </a:r>
            <a:r>
              <a:rPr lang="en-US" sz="2400" b="1" dirty="0">
                <a:latin typeface="Times New Roman" panose="02020603050405020304" charset="0"/>
                <a:cs typeface="Times New Roman" panose="02020603050405020304" charset="0"/>
              </a:rPr>
              <a:t>inaccurate</a:t>
            </a:r>
            <a:r>
              <a:rPr lang="en-US" sz="2400" dirty="0">
                <a:latin typeface="Times New Roman" panose="02020603050405020304" charset="0"/>
                <a:cs typeface="Times New Roman" panose="02020603050405020304" charset="0"/>
              </a:rPr>
              <a:t> due to noise and low contrast.</a:t>
            </a:r>
            <a:endParaRPr lang="en-US" sz="2400"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US" sz="2400" b="1" dirty="0">
                <a:latin typeface="Times New Roman" panose="02020603050405020304" charset="0"/>
                <a:cs typeface="Times New Roman" panose="02020603050405020304" charset="0"/>
              </a:rPr>
              <a:t>Manual interpretation</a:t>
            </a:r>
            <a:r>
              <a:rPr lang="en-US" sz="2400" dirty="0">
                <a:latin typeface="Times New Roman" panose="02020603050405020304" charset="0"/>
                <a:cs typeface="Times New Roman" panose="02020603050405020304" charset="0"/>
              </a:rPr>
              <a:t> leads to inconsistent and subjective results.</a:t>
            </a:r>
            <a:endParaRPr lang="en-US" sz="2400"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US" sz="2400" dirty="0">
                <a:latin typeface="Times New Roman" panose="02020603050405020304" charset="0"/>
                <a:cs typeface="Times New Roman" panose="02020603050405020304" charset="0"/>
              </a:rPr>
              <a:t>Existing CNN models </a:t>
            </a:r>
            <a:r>
              <a:rPr lang="en-US" sz="2400" b="1" dirty="0">
                <a:latin typeface="Times New Roman" panose="02020603050405020304" charset="0"/>
                <a:cs typeface="Times New Roman" panose="02020603050405020304" charset="0"/>
              </a:rPr>
              <a:t>ignore lesion boundaries</a:t>
            </a:r>
            <a:r>
              <a:rPr lang="en-US" sz="2400" dirty="0">
                <a:latin typeface="Times New Roman" panose="02020603050405020304" charset="0"/>
                <a:cs typeface="Times New Roman" panose="02020603050405020304" charset="0"/>
              </a:rPr>
              <a:t>, reducing diagnostic reliability.</a:t>
            </a:r>
            <a:endParaRPr lang="en-US" sz="2400"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US" sz="2400" dirty="0">
                <a:latin typeface="Times New Roman" panose="02020603050405020304" charset="0"/>
                <a:cs typeface="Times New Roman" panose="02020603050405020304" charset="0"/>
              </a:rPr>
              <a:t>Lack of </a:t>
            </a:r>
            <a:r>
              <a:rPr lang="en-US" sz="2400" b="1" dirty="0">
                <a:latin typeface="Times New Roman" panose="02020603050405020304" charset="0"/>
                <a:cs typeface="Times New Roman" panose="02020603050405020304" charset="0"/>
              </a:rPr>
              <a:t>integrated segmentation and classification</a:t>
            </a:r>
            <a:r>
              <a:rPr lang="en-US" sz="2400" dirty="0">
                <a:latin typeface="Times New Roman" panose="02020603050405020304" charset="0"/>
                <a:cs typeface="Times New Roman" panose="02020603050405020304" charset="0"/>
              </a:rPr>
              <a:t> limits model performance.</a:t>
            </a:r>
            <a:endParaRPr lang="en-US" sz="2400"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US" sz="2400" dirty="0">
                <a:latin typeface="Times New Roman" panose="02020603050405020304" charset="0"/>
                <a:cs typeface="Times New Roman" panose="02020603050405020304" charset="0"/>
              </a:rPr>
              <a:t>There is a need for an </a:t>
            </a:r>
            <a:r>
              <a:rPr lang="en-US" sz="2400" b="1" dirty="0">
                <a:latin typeface="Times New Roman" panose="02020603050405020304" charset="0"/>
                <a:cs typeface="Times New Roman" panose="02020603050405020304" charset="0"/>
              </a:rPr>
              <a:t>automated, accurate, and interpretable</a:t>
            </a:r>
            <a:r>
              <a:rPr lang="en-US" sz="2400" dirty="0">
                <a:latin typeface="Times New Roman" panose="02020603050405020304" charset="0"/>
                <a:cs typeface="Times New Roman" panose="02020603050405020304" charset="0"/>
              </a:rPr>
              <a:t> system for early breast cancer detection using ultrasound images.</a:t>
            </a:r>
            <a:endParaRPr lang="en-US" sz="2400" dirty="0">
              <a:latin typeface="Times New Roman" panose="02020603050405020304" charset="0"/>
              <a:cs typeface="Times New Roman" panose="02020603050405020304" charset="0"/>
            </a:endParaRPr>
          </a:p>
          <a:p>
            <a:pPr marL="241300" indent="-228600">
              <a:lnSpc>
                <a:spcPct val="100000"/>
              </a:lnSpc>
              <a:spcBef>
                <a:spcPts val="780"/>
              </a:spcBef>
              <a:buFont typeface="Arial MT"/>
              <a:buChar char="•"/>
              <a:tabLst>
                <a:tab pos="241300" algn="l"/>
              </a:tabLst>
            </a:pPr>
            <a:endParaRPr sz="2750" dirty="0">
              <a:latin typeface="Times New Roman" panose="02020603050405020304"/>
              <a:cs typeface="Times New Roman" panose="020206030504050203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3454400">
              <a:lnSpc>
                <a:spcPct val="100000"/>
              </a:lnSpc>
              <a:spcBef>
                <a:spcPts val="130"/>
              </a:spcBef>
            </a:pPr>
            <a:r>
              <a:rPr spc="-10" dirty="0"/>
              <a:t>OBJECTIVES</a:t>
            </a:r>
            <a:endParaRPr spc="-10" dirty="0"/>
          </a:p>
        </p:txBody>
      </p:sp>
      <p:sp>
        <p:nvSpPr>
          <p:cNvPr id="4" name="object 4"/>
          <p:cNvSpPr txBox="1">
            <a:spLocks noGrp="1"/>
          </p:cNvSpPr>
          <p:nvPr>
            <p:ph type="dt" sz="half" idx="6"/>
          </p:nvPr>
        </p:nvSpPr>
        <p:spPr>
          <a:xfrm>
            <a:off x="917575" y="6451049"/>
            <a:ext cx="737235" cy="180340"/>
          </a:xfrm>
          <a:prstGeom prst="rect">
            <a:avLst/>
          </a:prstGeom>
        </p:spPr>
        <p:txBody>
          <a:bodyPr vert="horz" wrap="square" lIns="0" tIns="0" rIns="0" bIns="0" rtlCol="0">
            <a:spAutoFit/>
          </a:bodyPr>
          <a:lstStyle/>
          <a:p>
            <a:pPr marL="12700">
              <a:lnSpc>
                <a:spcPts val="1410"/>
              </a:lnSpc>
            </a:pPr>
            <a:endParaRPr spc="-2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panose="02020603050405020304"/>
                <a:cs typeface="Times New Roman" panose="02020603050405020304"/>
              </a:rPr>
              <a:t>Review</a:t>
            </a:r>
            <a:r>
              <a:rPr sz="1200" spc="-3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No.</a:t>
            </a:r>
            <a:endParaRPr sz="1200">
              <a:latin typeface="Times New Roman" panose="02020603050405020304"/>
              <a:cs typeface="Times New Roman" panose="02020603050405020304"/>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panose="02020603050405020304"/>
                <a:cs typeface="Times New Roman" panose="02020603050405020304"/>
              </a:rPr>
              <a:t>Department</a:t>
            </a:r>
            <a:r>
              <a:rPr sz="1200" spc="-30" dirty="0">
                <a:solidFill>
                  <a:srgbClr val="888888"/>
                </a:solidFill>
                <a:latin typeface="Times New Roman" panose="02020603050405020304"/>
                <a:cs typeface="Times New Roman" panose="02020603050405020304"/>
              </a:rPr>
              <a:t> </a:t>
            </a:r>
            <a:r>
              <a:rPr sz="1200" dirty="0">
                <a:solidFill>
                  <a:srgbClr val="888888"/>
                </a:solidFill>
                <a:latin typeface="Times New Roman" panose="02020603050405020304"/>
                <a:cs typeface="Times New Roman" panose="02020603050405020304"/>
              </a:rPr>
              <a:t>of</a:t>
            </a:r>
            <a:r>
              <a:rPr sz="1200" spc="5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CSE</a:t>
            </a:r>
            <a:endParaRPr sz="1200">
              <a:latin typeface="Times New Roman" panose="02020603050405020304"/>
              <a:cs typeface="Times New Roman" panose="02020603050405020304"/>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fld>
            <a:endParaRPr spc="-25" dirty="0"/>
          </a:p>
        </p:txBody>
      </p:sp>
      <p:sp>
        <p:nvSpPr>
          <p:cNvPr id="3" name="object 3"/>
          <p:cNvSpPr txBox="1"/>
          <p:nvPr/>
        </p:nvSpPr>
        <p:spPr>
          <a:xfrm>
            <a:off x="917575" y="1730872"/>
            <a:ext cx="10402951" cy="3211135"/>
          </a:xfrm>
          <a:prstGeom prst="rect">
            <a:avLst/>
          </a:prstGeom>
        </p:spPr>
        <p:txBody>
          <a:bodyPr vert="horz" wrap="square" lIns="0" tIns="99060" rIns="0" bIns="0" rtlCol="0">
            <a:spAutoFit/>
          </a:bodyPr>
          <a:lstStyle/>
          <a:p>
            <a:pPr marL="342900" indent="-342900" algn="just">
              <a:buFont typeface="Arial" panose="020B0604020202020204" pitchFamily="34" charset="0"/>
              <a:buChar char="•"/>
            </a:pPr>
            <a:r>
              <a:rPr lang="en-US" sz="2400" dirty="0">
                <a:latin typeface="Times New Roman" panose="02020603050405020304" charset="0"/>
                <a:cs typeface="Times New Roman" panose="02020603050405020304" charset="0"/>
              </a:rPr>
              <a:t>To develop a </a:t>
            </a:r>
            <a:r>
              <a:rPr lang="en-US" sz="2400" b="1" dirty="0">
                <a:latin typeface="Times New Roman" panose="02020603050405020304" charset="0"/>
                <a:cs typeface="Times New Roman" panose="02020603050405020304" charset="0"/>
              </a:rPr>
              <a:t>segmentation-guided deep learning framework</a:t>
            </a:r>
            <a:r>
              <a:rPr lang="en-US" sz="2400" dirty="0">
                <a:latin typeface="Times New Roman" panose="02020603050405020304" charset="0"/>
                <a:cs typeface="Times New Roman" panose="02020603050405020304" charset="0"/>
              </a:rPr>
              <a:t> for breast cancer detection using ultrasound images.</a:t>
            </a:r>
            <a:endParaRPr lang="en-US" sz="2400"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US" sz="2400" dirty="0">
                <a:latin typeface="Times New Roman" panose="02020603050405020304" charset="0"/>
                <a:cs typeface="Times New Roman" panose="02020603050405020304" charset="0"/>
              </a:rPr>
              <a:t>To use </a:t>
            </a:r>
            <a:r>
              <a:rPr lang="en-US" sz="2400" b="1" dirty="0">
                <a:latin typeface="Times New Roman" panose="02020603050405020304" charset="0"/>
                <a:cs typeface="Times New Roman" panose="02020603050405020304" charset="0"/>
              </a:rPr>
              <a:t>U-Net++</a:t>
            </a:r>
            <a:r>
              <a:rPr lang="en-US" sz="2400" dirty="0">
                <a:latin typeface="Times New Roman" panose="02020603050405020304" charset="0"/>
                <a:cs typeface="Times New Roman" panose="02020603050405020304" charset="0"/>
              </a:rPr>
              <a:t> for accurate lesion segmentation and region localization.</a:t>
            </a:r>
            <a:endParaRPr lang="en-US" sz="2400"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US" sz="2400" dirty="0">
                <a:latin typeface="Times New Roman" panose="02020603050405020304" charset="0"/>
                <a:cs typeface="Times New Roman" panose="02020603050405020304" charset="0"/>
              </a:rPr>
              <a:t>To train a </a:t>
            </a:r>
            <a:r>
              <a:rPr lang="en-US" sz="2400" b="1" dirty="0">
                <a:latin typeface="Times New Roman" panose="02020603050405020304" charset="0"/>
                <a:cs typeface="Times New Roman" panose="02020603050405020304" charset="0"/>
              </a:rPr>
              <a:t>CNN classifier</a:t>
            </a:r>
            <a:r>
              <a:rPr lang="en-US" sz="2400" dirty="0">
                <a:latin typeface="Times New Roman" panose="02020603050405020304" charset="0"/>
                <a:cs typeface="Times New Roman" panose="02020603050405020304" charset="0"/>
              </a:rPr>
              <a:t> guided by segmentation masks for benign/malignant classification.</a:t>
            </a:r>
            <a:endParaRPr lang="en-US" sz="2400"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US" sz="2400" dirty="0">
                <a:latin typeface="Times New Roman" panose="02020603050405020304" charset="0"/>
                <a:cs typeface="Times New Roman" panose="02020603050405020304" charset="0"/>
              </a:rPr>
              <a:t>To achieve </a:t>
            </a:r>
            <a:r>
              <a:rPr lang="en-US" sz="2400" b="1" dirty="0">
                <a:latin typeface="Times New Roman" panose="02020603050405020304" charset="0"/>
                <a:cs typeface="Times New Roman" panose="02020603050405020304" charset="0"/>
              </a:rPr>
              <a:t>high accuracy, interpretability, and efficiency</a:t>
            </a:r>
            <a:r>
              <a:rPr lang="en-US" sz="2400" dirty="0">
                <a:latin typeface="Times New Roman" panose="02020603050405020304" charset="0"/>
                <a:cs typeface="Times New Roman" panose="02020603050405020304" charset="0"/>
              </a:rPr>
              <a:t> suitable for clinical applications.</a:t>
            </a:r>
            <a:endParaRPr lang="en-US" sz="2400" dirty="0">
              <a:latin typeface="Times New Roman" panose="02020603050405020304" charset="0"/>
              <a:cs typeface="Times New Roman" panose="02020603050405020304" charset="0"/>
            </a:endParaRPr>
          </a:p>
          <a:p>
            <a:pPr marL="12700">
              <a:lnSpc>
                <a:spcPct val="100000"/>
              </a:lnSpc>
              <a:spcBef>
                <a:spcPts val="780"/>
              </a:spcBef>
              <a:tabLst>
                <a:tab pos="527050" algn="l"/>
              </a:tabLst>
            </a:pPr>
            <a:endParaRPr lang="en-US" sz="2750" dirty="0">
              <a:latin typeface="Times New Roman" panose="02020603050405020304"/>
              <a:cs typeface="Times New Roman" panose="020206030504050203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283463"/>
            <a:ext cx="11527535" cy="942565"/>
          </a:xfrm>
          <a:prstGeom prst="rect">
            <a:avLst/>
          </a:prstGeom>
        </p:spPr>
        <p:txBody>
          <a:bodyPr vert="horz" wrap="square" lIns="0" tIns="262889" rIns="0" bIns="0" rtlCol="0">
            <a:spAutoFit/>
          </a:bodyPr>
          <a:lstStyle/>
          <a:p>
            <a:pPr marL="3454400">
              <a:lnSpc>
                <a:spcPct val="100000"/>
              </a:lnSpc>
              <a:spcBef>
                <a:spcPts val="130"/>
              </a:spcBef>
            </a:pPr>
            <a:r>
              <a:rPr lang="en-US" spc="-10" dirty="0"/>
              <a:t>DATASET DESCRIPTION</a:t>
            </a:r>
            <a:endParaRPr spc="-10" dirty="0"/>
          </a:p>
        </p:txBody>
      </p:sp>
      <p:sp>
        <p:nvSpPr>
          <p:cNvPr id="4" name="object 4"/>
          <p:cNvSpPr txBox="1">
            <a:spLocks noGrp="1"/>
          </p:cNvSpPr>
          <p:nvPr>
            <p:ph type="dt" sz="half" idx="6"/>
          </p:nvPr>
        </p:nvSpPr>
        <p:spPr>
          <a:xfrm>
            <a:off x="917575" y="6451049"/>
            <a:ext cx="737235" cy="180340"/>
          </a:xfrm>
          <a:prstGeom prst="rect">
            <a:avLst/>
          </a:prstGeom>
        </p:spPr>
        <p:txBody>
          <a:bodyPr vert="horz" wrap="square" lIns="0" tIns="0" rIns="0" bIns="0" rtlCol="0">
            <a:spAutoFit/>
          </a:bodyPr>
          <a:lstStyle/>
          <a:p>
            <a:pPr marL="12700">
              <a:lnSpc>
                <a:spcPts val="1410"/>
              </a:lnSpc>
            </a:pPr>
            <a:endParaRPr spc="-2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panose="02020603050405020304"/>
                <a:cs typeface="Times New Roman" panose="02020603050405020304"/>
              </a:rPr>
              <a:t>Review</a:t>
            </a:r>
            <a:r>
              <a:rPr sz="1200" spc="-3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No.</a:t>
            </a:r>
            <a:endParaRPr sz="1200">
              <a:latin typeface="Times New Roman" panose="02020603050405020304"/>
              <a:cs typeface="Times New Roman" panose="02020603050405020304"/>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panose="02020603050405020304"/>
                <a:cs typeface="Times New Roman" panose="02020603050405020304"/>
              </a:rPr>
              <a:t>Department</a:t>
            </a:r>
            <a:r>
              <a:rPr sz="1200" spc="-30" dirty="0">
                <a:solidFill>
                  <a:srgbClr val="888888"/>
                </a:solidFill>
                <a:latin typeface="Times New Roman" panose="02020603050405020304"/>
                <a:cs typeface="Times New Roman" panose="02020603050405020304"/>
              </a:rPr>
              <a:t> </a:t>
            </a:r>
            <a:r>
              <a:rPr sz="1200" dirty="0">
                <a:solidFill>
                  <a:srgbClr val="888888"/>
                </a:solidFill>
                <a:latin typeface="Times New Roman" panose="02020603050405020304"/>
                <a:cs typeface="Times New Roman" panose="02020603050405020304"/>
              </a:rPr>
              <a:t>of</a:t>
            </a:r>
            <a:r>
              <a:rPr sz="1200" spc="5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CSE</a:t>
            </a:r>
            <a:endParaRPr sz="1200">
              <a:latin typeface="Times New Roman" panose="02020603050405020304"/>
              <a:cs typeface="Times New Roman" panose="02020603050405020304"/>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fld>
            <a:endParaRPr spc="-25" dirty="0"/>
          </a:p>
        </p:txBody>
      </p:sp>
      <p:sp>
        <p:nvSpPr>
          <p:cNvPr id="3" name="object 3"/>
          <p:cNvSpPr txBox="1"/>
          <p:nvPr/>
        </p:nvSpPr>
        <p:spPr>
          <a:xfrm>
            <a:off x="917575" y="1730872"/>
            <a:ext cx="10402951" cy="3923030"/>
          </a:xfrm>
          <a:prstGeom prst="rect">
            <a:avLst/>
          </a:prstGeom>
        </p:spPr>
        <p:txBody>
          <a:bodyPr vert="horz" wrap="square" lIns="0" tIns="99060" rIns="0" bIns="0" rtlCol="0">
            <a:spAutoFit/>
          </a:bodyPr>
          <a:lstStyle/>
          <a:p>
            <a:pPr marL="355600" indent="-342900" algn="just">
              <a:lnSpc>
                <a:spcPct val="100000"/>
              </a:lnSpc>
              <a:spcBef>
                <a:spcPts val="780"/>
              </a:spcBef>
              <a:buFont typeface="Arial" panose="020B0604020202020204" pitchFamily="34" charset="0"/>
              <a:buChar char="•"/>
              <a:tabLst>
                <a:tab pos="527050" algn="l"/>
              </a:tabLst>
            </a:pPr>
            <a:r>
              <a:rPr lang="en-US" altLang="en-US" sz="2400" b="1" dirty="0">
                <a:latin typeface="Times New Roman" panose="02020603050405020304" charset="0"/>
                <a:cs typeface="Times New Roman" panose="02020603050405020304" charset="0"/>
              </a:rPr>
              <a:t>Dataset:</a:t>
            </a:r>
            <a:r>
              <a:rPr lang="en-US" altLang="en-US" sz="2400" dirty="0">
                <a:latin typeface="Times New Roman" panose="02020603050405020304" charset="0"/>
                <a:cs typeface="Times New Roman" panose="02020603050405020304" charset="0"/>
              </a:rPr>
              <a:t> BUSI (Breast Ultrasound Images) from Baheya Hospital, Egypt, with 780 grayscale images.</a:t>
            </a:r>
            <a:endParaRPr lang="en-US" altLang="en-US" sz="2400" dirty="0">
              <a:latin typeface="Times New Roman" panose="02020603050405020304" charset="0"/>
              <a:cs typeface="Times New Roman" panose="02020603050405020304" charset="0"/>
            </a:endParaRPr>
          </a:p>
          <a:p>
            <a:pPr marL="355600" indent="-342900" algn="just">
              <a:lnSpc>
                <a:spcPct val="100000"/>
              </a:lnSpc>
              <a:spcBef>
                <a:spcPts val="780"/>
              </a:spcBef>
              <a:buFont typeface="Arial" panose="020B0604020202020204" pitchFamily="34" charset="0"/>
              <a:buChar char="•"/>
              <a:tabLst>
                <a:tab pos="527050" algn="l"/>
              </a:tabLst>
            </a:pPr>
            <a:r>
              <a:rPr lang="en-US" altLang="en-US" sz="2400" b="1" dirty="0">
                <a:latin typeface="Times New Roman" panose="02020603050405020304" charset="0"/>
                <a:cs typeface="Times New Roman" panose="02020603050405020304" charset="0"/>
              </a:rPr>
              <a:t>Categories:</a:t>
            </a:r>
            <a:r>
              <a:rPr lang="en-US" altLang="en-US" sz="2400" dirty="0">
                <a:latin typeface="Times New Roman" panose="02020603050405020304" charset="0"/>
                <a:cs typeface="Times New Roman" panose="02020603050405020304" charset="0"/>
              </a:rPr>
              <a:t> 133 normal, 210 benign, 437 malignant; masks provided for benign/malignant, empty for normal.</a:t>
            </a:r>
            <a:endParaRPr lang="en-US" altLang="en-US" sz="2400" dirty="0">
              <a:latin typeface="Times New Roman" panose="02020603050405020304" charset="0"/>
              <a:cs typeface="Times New Roman" panose="02020603050405020304" charset="0"/>
            </a:endParaRPr>
          </a:p>
          <a:p>
            <a:pPr marL="355600" indent="-342900" algn="just">
              <a:lnSpc>
                <a:spcPct val="100000"/>
              </a:lnSpc>
              <a:spcBef>
                <a:spcPts val="780"/>
              </a:spcBef>
              <a:buFont typeface="Arial" panose="020B0604020202020204" pitchFamily="34" charset="0"/>
              <a:buChar char="•"/>
              <a:tabLst>
                <a:tab pos="527050" algn="l"/>
              </a:tabLst>
            </a:pPr>
            <a:r>
              <a:rPr lang="en-US" altLang="en-US" sz="2400" b="1" dirty="0">
                <a:latin typeface="Times New Roman" panose="02020603050405020304" charset="0"/>
                <a:cs typeface="Times New Roman" panose="02020603050405020304" charset="0"/>
              </a:rPr>
              <a:t>Preprocessing:</a:t>
            </a:r>
            <a:r>
              <a:rPr lang="en-US" altLang="en-US" sz="2400" dirty="0">
                <a:latin typeface="Times New Roman" panose="02020603050405020304" charset="0"/>
                <a:cs typeface="Times New Roman" panose="02020603050405020304" charset="0"/>
              </a:rPr>
              <a:t> Images resized to 128×128 pixels and normalized for training.</a:t>
            </a:r>
            <a:endParaRPr lang="en-US" altLang="en-US" sz="2400" dirty="0">
              <a:latin typeface="Times New Roman" panose="02020603050405020304" charset="0"/>
              <a:cs typeface="Times New Roman" panose="02020603050405020304" charset="0"/>
            </a:endParaRPr>
          </a:p>
          <a:p>
            <a:pPr marL="355600" indent="-342900" algn="just">
              <a:lnSpc>
                <a:spcPct val="100000"/>
              </a:lnSpc>
              <a:spcBef>
                <a:spcPts val="780"/>
              </a:spcBef>
              <a:buFont typeface="Arial" panose="020B0604020202020204" pitchFamily="34" charset="0"/>
              <a:buChar char="•"/>
              <a:tabLst>
                <a:tab pos="527050" algn="l"/>
              </a:tabLst>
            </a:pPr>
            <a:r>
              <a:rPr lang="en-US" altLang="en-US" sz="2400" b="1" dirty="0">
                <a:latin typeface="Times New Roman" panose="02020603050405020304" charset="0"/>
                <a:cs typeface="Times New Roman" panose="02020603050405020304" charset="0"/>
              </a:rPr>
              <a:t>Augmentation:</a:t>
            </a:r>
            <a:r>
              <a:rPr lang="en-US" altLang="en-US" sz="2400" dirty="0">
                <a:latin typeface="Times New Roman" panose="02020603050405020304" charset="0"/>
                <a:cs typeface="Times New Roman" panose="02020603050405020304" charset="0"/>
              </a:rPr>
              <a:t> Flipping, rotation, translation, and zooming applied to improve generalization and balance classes.</a:t>
            </a:r>
            <a:endParaRPr lang="en-US" altLang="en-US" sz="2400" dirty="0">
              <a:latin typeface="Times New Roman" panose="02020603050405020304" charset="0"/>
              <a:cs typeface="Times New Roman" panose="02020603050405020304" charset="0"/>
            </a:endParaRPr>
          </a:p>
          <a:p>
            <a:pPr marL="355600" indent="-342900" algn="just">
              <a:lnSpc>
                <a:spcPct val="100000"/>
              </a:lnSpc>
              <a:spcBef>
                <a:spcPts val="780"/>
              </a:spcBef>
              <a:buFont typeface="Arial" panose="020B0604020202020204" pitchFamily="34" charset="0"/>
              <a:buChar char="•"/>
              <a:tabLst>
                <a:tab pos="527050" algn="l"/>
              </a:tabLst>
            </a:pPr>
            <a:endParaRPr lang="en-US" altLang="en-US" sz="2400" dirty="0">
              <a:latin typeface="Times New Roman" panose="02020603050405020304" charset="0"/>
              <a:cs typeface="Times New Roman" panose="02020603050405020304" charset="0"/>
            </a:endParaRPr>
          </a:p>
          <a:p>
            <a:pPr marL="355600" indent="-342900" algn="just">
              <a:lnSpc>
                <a:spcPct val="100000"/>
              </a:lnSpc>
              <a:spcBef>
                <a:spcPts val="780"/>
              </a:spcBef>
              <a:buFont typeface="Arial" panose="020B0604020202020204" pitchFamily="34" charset="0"/>
              <a:buChar char="•"/>
              <a:tabLst>
                <a:tab pos="527050" algn="l"/>
              </a:tabLst>
            </a:pPr>
            <a:endParaRPr lang="en-US" altLang="en-US" sz="2400" dirty="0">
              <a:latin typeface="Times New Roman" panose="02020603050405020304" charset="0"/>
              <a:cs typeface="Times New Roman" panose="0202060305040502030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99720" rIns="0" bIns="0" rtlCol="0">
            <a:spAutoFit/>
          </a:bodyPr>
          <a:lstStyle/>
          <a:p>
            <a:pPr marL="360045">
              <a:lnSpc>
                <a:spcPct val="100000"/>
              </a:lnSpc>
              <a:spcBef>
                <a:spcPts val="130"/>
              </a:spcBef>
            </a:pPr>
            <a:r>
              <a:rPr sz="3950" dirty="0"/>
              <a:t>BLOCK</a:t>
            </a:r>
            <a:r>
              <a:rPr sz="3950" spc="60" dirty="0"/>
              <a:t> </a:t>
            </a:r>
            <a:r>
              <a:rPr sz="3950" dirty="0"/>
              <a:t>DIAGRAM</a:t>
            </a:r>
            <a:r>
              <a:rPr sz="3950" spc="90" dirty="0"/>
              <a:t> </a:t>
            </a:r>
            <a:r>
              <a:rPr sz="3950" dirty="0"/>
              <a:t>OR</a:t>
            </a:r>
            <a:r>
              <a:rPr sz="3950" spc="70" dirty="0"/>
              <a:t> </a:t>
            </a:r>
            <a:r>
              <a:rPr sz="3950" dirty="0"/>
              <a:t>FLOW</a:t>
            </a:r>
            <a:r>
              <a:rPr sz="3950" spc="-60" dirty="0"/>
              <a:t> </a:t>
            </a:r>
            <a:r>
              <a:rPr sz="3950" spc="-10" dirty="0"/>
              <a:t>DIAGRAM</a:t>
            </a:r>
            <a:endParaRPr sz="3950" dirty="0"/>
          </a:p>
        </p:txBody>
      </p:sp>
      <p:sp>
        <p:nvSpPr>
          <p:cNvPr id="4" name="object 4"/>
          <p:cNvSpPr txBox="1">
            <a:spLocks noGrp="1"/>
          </p:cNvSpPr>
          <p:nvPr>
            <p:ph type="dt" sz="half" idx="6"/>
          </p:nvPr>
        </p:nvSpPr>
        <p:spPr>
          <a:xfrm>
            <a:off x="917575" y="6451049"/>
            <a:ext cx="737235" cy="180340"/>
          </a:xfrm>
          <a:prstGeom prst="rect">
            <a:avLst/>
          </a:prstGeom>
        </p:spPr>
        <p:txBody>
          <a:bodyPr vert="horz" wrap="square" lIns="0" tIns="0" rIns="0" bIns="0" rtlCol="0">
            <a:spAutoFit/>
          </a:bodyPr>
          <a:lstStyle/>
          <a:p>
            <a:pPr marL="12700">
              <a:lnSpc>
                <a:spcPts val="1410"/>
              </a:lnSpc>
            </a:pPr>
            <a:endParaRPr spc="-2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panose="02020603050405020304"/>
                <a:cs typeface="Times New Roman" panose="02020603050405020304"/>
              </a:rPr>
              <a:t>Review</a:t>
            </a:r>
            <a:r>
              <a:rPr sz="1200" spc="-3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No.</a:t>
            </a:r>
            <a:endParaRPr sz="1200">
              <a:latin typeface="Times New Roman" panose="02020603050405020304"/>
              <a:cs typeface="Times New Roman" panose="02020603050405020304"/>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panose="02020603050405020304"/>
                <a:cs typeface="Times New Roman" panose="02020603050405020304"/>
              </a:rPr>
              <a:t>Department</a:t>
            </a:r>
            <a:r>
              <a:rPr sz="1200" spc="-30" dirty="0">
                <a:solidFill>
                  <a:srgbClr val="888888"/>
                </a:solidFill>
                <a:latin typeface="Times New Roman" panose="02020603050405020304"/>
                <a:cs typeface="Times New Roman" panose="02020603050405020304"/>
              </a:rPr>
              <a:t> </a:t>
            </a:r>
            <a:r>
              <a:rPr sz="1200" dirty="0">
                <a:solidFill>
                  <a:srgbClr val="888888"/>
                </a:solidFill>
                <a:latin typeface="Times New Roman" panose="02020603050405020304"/>
                <a:cs typeface="Times New Roman" panose="02020603050405020304"/>
              </a:rPr>
              <a:t>of</a:t>
            </a:r>
            <a:r>
              <a:rPr sz="1200" spc="5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CSE</a:t>
            </a:r>
            <a:endParaRPr sz="1200">
              <a:latin typeface="Times New Roman" panose="02020603050405020304"/>
              <a:cs typeface="Times New Roman" panose="02020603050405020304"/>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fld>
            <a:endParaRPr spc="-25" dirty="0"/>
          </a:p>
        </p:txBody>
      </p:sp>
      <p:pic>
        <p:nvPicPr>
          <p:cNvPr id="10" name="Picture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733800" y="1214437"/>
            <a:ext cx="4648199" cy="488156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910205">
              <a:lnSpc>
                <a:spcPct val="100000"/>
              </a:lnSpc>
              <a:spcBef>
                <a:spcPts val="130"/>
              </a:spcBef>
            </a:pPr>
            <a:r>
              <a:rPr spc="-10" dirty="0"/>
              <a:t>METHODOLOGY</a:t>
            </a:r>
            <a:endParaRPr spc="-10" dirty="0"/>
          </a:p>
        </p:txBody>
      </p:sp>
      <p:sp>
        <p:nvSpPr>
          <p:cNvPr id="4" name="object 4"/>
          <p:cNvSpPr txBox="1">
            <a:spLocks noGrp="1"/>
          </p:cNvSpPr>
          <p:nvPr>
            <p:ph type="dt" sz="half" idx="6"/>
          </p:nvPr>
        </p:nvSpPr>
        <p:spPr>
          <a:xfrm>
            <a:off x="917575" y="6451049"/>
            <a:ext cx="737235" cy="180340"/>
          </a:xfrm>
          <a:prstGeom prst="rect">
            <a:avLst/>
          </a:prstGeom>
        </p:spPr>
        <p:txBody>
          <a:bodyPr vert="horz" wrap="square" lIns="0" tIns="0" rIns="0" bIns="0" rtlCol="0">
            <a:spAutoFit/>
          </a:bodyPr>
          <a:lstStyle/>
          <a:p>
            <a:pPr marL="12700">
              <a:lnSpc>
                <a:spcPts val="1410"/>
              </a:lnSpc>
            </a:pPr>
            <a:endParaRPr spc="-2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panose="02020603050405020304"/>
                <a:cs typeface="Times New Roman" panose="02020603050405020304"/>
              </a:rPr>
              <a:t>Review</a:t>
            </a:r>
            <a:r>
              <a:rPr sz="1200" spc="-3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No.</a:t>
            </a:r>
            <a:endParaRPr sz="1200">
              <a:latin typeface="Times New Roman" panose="02020603050405020304"/>
              <a:cs typeface="Times New Roman" panose="02020603050405020304"/>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panose="02020603050405020304"/>
                <a:cs typeface="Times New Roman" panose="02020603050405020304"/>
              </a:rPr>
              <a:t>Department</a:t>
            </a:r>
            <a:r>
              <a:rPr sz="1200" spc="-30" dirty="0">
                <a:solidFill>
                  <a:srgbClr val="888888"/>
                </a:solidFill>
                <a:latin typeface="Times New Roman" panose="02020603050405020304"/>
                <a:cs typeface="Times New Roman" panose="02020603050405020304"/>
              </a:rPr>
              <a:t> </a:t>
            </a:r>
            <a:r>
              <a:rPr sz="1200" dirty="0">
                <a:solidFill>
                  <a:srgbClr val="888888"/>
                </a:solidFill>
                <a:latin typeface="Times New Roman" panose="02020603050405020304"/>
                <a:cs typeface="Times New Roman" panose="02020603050405020304"/>
              </a:rPr>
              <a:t>of</a:t>
            </a:r>
            <a:r>
              <a:rPr sz="1200" spc="5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CSE</a:t>
            </a:r>
            <a:endParaRPr sz="1200">
              <a:latin typeface="Times New Roman" panose="02020603050405020304"/>
              <a:cs typeface="Times New Roman" panose="02020603050405020304"/>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fld>
            <a:endParaRPr spc="-25" dirty="0"/>
          </a:p>
        </p:txBody>
      </p:sp>
      <p:sp>
        <p:nvSpPr>
          <p:cNvPr id="3" name="object 3"/>
          <p:cNvSpPr txBox="1"/>
          <p:nvPr/>
        </p:nvSpPr>
        <p:spPr>
          <a:xfrm>
            <a:off x="917575" y="1752601"/>
            <a:ext cx="10228960" cy="4573047"/>
          </a:xfrm>
          <a:prstGeom prst="rect">
            <a:avLst/>
          </a:prstGeom>
        </p:spPr>
        <p:txBody>
          <a:bodyPr vert="horz" wrap="square" lIns="0" tIns="60960" rIns="0" bIns="0" rtlCol="0">
            <a:spAutoFit/>
          </a:bodyPr>
          <a:lstStyle/>
          <a:p>
            <a:pPr marL="342900" indent="-342900" algn="just">
              <a:buFont typeface="Arial" panose="020B0604020202020204" pitchFamily="34" charset="0"/>
              <a:buChar char="•"/>
            </a:pPr>
            <a:r>
              <a:rPr lang="en-IN" sz="2400" dirty="0">
                <a:latin typeface="Times New Roman" panose="02020603050405020304" charset="0"/>
                <a:cs typeface="Times New Roman" panose="02020603050405020304" charset="0"/>
              </a:rPr>
              <a:t>The proposed system follows a </a:t>
            </a:r>
            <a:r>
              <a:rPr lang="en-IN" sz="2400" b="1" dirty="0">
                <a:latin typeface="Times New Roman" panose="02020603050405020304" charset="0"/>
                <a:cs typeface="Times New Roman" panose="02020603050405020304" charset="0"/>
              </a:rPr>
              <a:t>two-stage deep learning approach</a:t>
            </a:r>
            <a:r>
              <a:rPr lang="en-IN" sz="2400" dirty="0">
                <a:latin typeface="Times New Roman" panose="02020603050405020304" charset="0"/>
                <a:cs typeface="Times New Roman" panose="02020603050405020304" charset="0"/>
              </a:rPr>
              <a:t>:</a:t>
            </a:r>
            <a:endParaRPr lang="en-IN" sz="2400" dirty="0">
              <a:latin typeface="Times New Roman" panose="02020603050405020304" charset="0"/>
              <a:cs typeface="Times New Roman" panose="02020603050405020304" charset="0"/>
            </a:endParaRPr>
          </a:p>
          <a:p>
            <a:pPr lvl="1" algn="just"/>
            <a:r>
              <a:rPr lang="en-IN" sz="2400" b="1" dirty="0">
                <a:latin typeface="Times New Roman" panose="02020603050405020304" charset="0"/>
                <a:cs typeface="Times New Roman" panose="02020603050405020304" charset="0"/>
              </a:rPr>
              <a:t>     Segmentation Stage</a:t>
            </a:r>
            <a:r>
              <a:rPr lang="en-IN" sz="2400" dirty="0">
                <a:latin typeface="Times New Roman" panose="02020603050405020304" charset="0"/>
                <a:cs typeface="Times New Roman" panose="02020603050405020304" charset="0"/>
              </a:rPr>
              <a:t> using </a:t>
            </a:r>
            <a:r>
              <a:rPr lang="en-IN" sz="2400" b="1" dirty="0">
                <a:latin typeface="Times New Roman" panose="02020603050405020304" charset="0"/>
                <a:cs typeface="Times New Roman" panose="02020603050405020304" charset="0"/>
              </a:rPr>
              <a:t>U-Net++</a:t>
            </a:r>
            <a:endParaRPr lang="en-IN" sz="2400" dirty="0">
              <a:latin typeface="Times New Roman" panose="02020603050405020304" charset="0"/>
              <a:cs typeface="Times New Roman" panose="02020603050405020304" charset="0"/>
            </a:endParaRPr>
          </a:p>
          <a:p>
            <a:pPr lvl="1" algn="just"/>
            <a:r>
              <a:rPr lang="en-IN" sz="2400" b="1" dirty="0">
                <a:latin typeface="Times New Roman" panose="02020603050405020304" charset="0"/>
                <a:cs typeface="Times New Roman" panose="02020603050405020304" charset="0"/>
              </a:rPr>
              <a:t>     Classification Stage</a:t>
            </a:r>
            <a:r>
              <a:rPr lang="en-IN" sz="2400" dirty="0">
                <a:latin typeface="Times New Roman" panose="02020603050405020304" charset="0"/>
                <a:cs typeface="Times New Roman" panose="02020603050405020304" charset="0"/>
              </a:rPr>
              <a:t> using </a:t>
            </a:r>
            <a:r>
              <a:rPr lang="en-IN" sz="2400" b="1" dirty="0">
                <a:latin typeface="Times New Roman" panose="02020603050405020304" charset="0"/>
                <a:cs typeface="Times New Roman" panose="02020603050405020304" charset="0"/>
              </a:rPr>
              <a:t>CNN</a:t>
            </a:r>
            <a:endParaRPr lang="en-IN" sz="2400"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IN" sz="2400" dirty="0">
                <a:latin typeface="Times New Roman" panose="02020603050405020304" charset="0"/>
                <a:cs typeface="Times New Roman" panose="02020603050405020304" charset="0"/>
              </a:rPr>
              <a:t>Dataset used: </a:t>
            </a:r>
            <a:r>
              <a:rPr lang="en-IN" sz="2400" b="1" dirty="0">
                <a:latin typeface="Times New Roman" panose="02020603050405020304" charset="0"/>
                <a:cs typeface="Times New Roman" panose="02020603050405020304" charset="0"/>
              </a:rPr>
              <a:t>BUSI (Breast Ultrasound Images Dataset)</a:t>
            </a:r>
            <a:endParaRPr lang="en-IN" sz="2400"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IN" sz="2400" dirty="0">
                <a:latin typeface="Times New Roman" panose="02020603050405020304" charset="0"/>
                <a:cs typeface="Times New Roman" panose="02020603050405020304" charset="0"/>
              </a:rPr>
              <a:t>Workflow includes:</a:t>
            </a:r>
            <a:endParaRPr lang="en-IN" sz="2400" dirty="0">
              <a:latin typeface="Times New Roman" panose="02020603050405020304" charset="0"/>
              <a:cs typeface="Times New Roman" panose="02020603050405020304" charset="0"/>
            </a:endParaRPr>
          </a:p>
          <a:p>
            <a:pPr lvl="1" algn="just"/>
            <a:r>
              <a:rPr lang="en-IN" sz="2400" dirty="0">
                <a:latin typeface="Times New Roman" panose="02020603050405020304" charset="0"/>
                <a:cs typeface="Times New Roman" panose="02020603050405020304" charset="0"/>
              </a:rPr>
              <a:t>     Data collection &amp; preprocessing</a:t>
            </a:r>
            <a:endParaRPr lang="en-IN" sz="2400" dirty="0">
              <a:latin typeface="Times New Roman" panose="02020603050405020304" charset="0"/>
              <a:cs typeface="Times New Roman" panose="02020603050405020304" charset="0"/>
            </a:endParaRPr>
          </a:p>
          <a:p>
            <a:pPr lvl="1" algn="just"/>
            <a:r>
              <a:rPr lang="en-IN" sz="2400" dirty="0">
                <a:latin typeface="Times New Roman" panose="02020603050405020304" charset="0"/>
                <a:cs typeface="Times New Roman" panose="02020603050405020304" charset="0"/>
              </a:rPr>
              <a:t>     Segmentation mask generation</a:t>
            </a:r>
            <a:endParaRPr lang="en-IN" sz="2400" dirty="0">
              <a:latin typeface="Times New Roman" panose="02020603050405020304" charset="0"/>
              <a:cs typeface="Times New Roman" panose="02020603050405020304" charset="0"/>
            </a:endParaRPr>
          </a:p>
          <a:p>
            <a:pPr lvl="1" algn="just"/>
            <a:r>
              <a:rPr lang="en-IN" sz="2400" dirty="0">
                <a:latin typeface="Times New Roman" panose="02020603050405020304" charset="0"/>
                <a:cs typeface="Times New Roman" panose="02020603050405020304" charset="0"/>
              </a:rPr>
              <a:t>     Mask-guided classification</a:t>
            </a:r>
            <a:endParaRPr lang="en-IN" sz="2400" dirty="0">
              <a:latin typeface="Times New Roman" panose="02020603050405020304" charset="0"/>
              <a:cs typeface="Times New Roman" panose="02020603050405020304" charset="0"/>
            </a:endParaRPr>
          </a:p>
          <a:p>
            <a:pPr lvl="1" algn="just"/>
            <a:r>
              <a:rPr lang="en-IN" sz="2400" dirty="0">
                <a:latin typeface="Times New Roman" panose="02020603050405020304" charset="0"/>
                <a:cs typeface="Times New Roman" panose="02020603050405020304" charset="0"/>
              </a:rPr>
              <a:t>     Evaluation and post-processing</a:t>
            </a:r>
            <a:endParaRPr lang="en-IN" sz="2400"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IN" sz="2400" dirty="0">
                <a:latin typeface="Times New Roman" panose="02020603050405020304" charset="0"/>
                <a:cs typeface="Times New Roman" panose="02020603050405020304" charset="0"/>
              </a:rPr>
              <a:t> Framework implemented using </a:t>
            </a:r>
            <a:r>
              <a:rPr lang="en-IN" sz="2400" b="1" dirty="0">
                <a:latin typeface="Times New Roman" panose="02020603050405020304" charset="0"/>
                <a:cs typeface="Times New Roman" panose="02020603050405020304" charset="0"/>
              </a:rPr>
              <a:t>Python</a:t>
            </a:r>
            <a:r>
              <a:rPr lang="en-IN" sz="2400" dirty="0">
                <a:latin typeface="Times New Roman" panose="02020603050405020304" charset="0"/>
                <a:cs typeface="Times New Roman" panose="02020603050405020304" charset="0"/>
              </a:rPr>
              <a:t>, </a:t>
            </a:r>
            <a:r>
              <a:rPr lang="en-IN" sz="2400" b="1" dirty="0">
                <a:latin typeface="Times New Roman" panose="02020603050405020304" charset="0"/>
                <a:cs typeface="Times New Roman" panose="02020603050405020304" charset="0"/>
              </a:rPr>
              <a:t>TensorFlow</a:t>
            </a:r>
            <a:r>
              <a:rPr lang="en-IN" sz="2400" dirty="0">
                <a:latin typeface="Times New Roman" panose="02020603050405020304" charset="0"/>
                <a:cs typeface="Times New Roman" panose="02020603050405020304" charset="0"/>
              </a:rPr>
              <a:t>, and </a:t>
            </a:r>
            <a:r>
              <a:rPr lang="en-IN" sz="2400" b="1" dirty="0" err="1">
                <a:latin typeface="Times New Roman" panose="02020603050405020304" charset="0"/>
                <a:cs typeface="Times New Roman" panose="02020603050405020304" charset="0"/>
              </a:rPr>
              <a:t>Keras</a:t>
            </a:r>
            <a:r>
              <a:rPr lang="en-IN" sz="2400" dirty="0">
                <a:latin typeface="Times New Roman" panose="02020603050405020304" charset="0"/>
                <a:cs typeface="Times New Roman" panose="02020603050405020304" charset="0"/>
              </a:rPr>
              <a:t> in Google Colab.</a:t>
            </a:r>
            <a:endParaRPr lang="en-IN" sz="2400" dirty="0">
              <a:latin typeface="Times New Roman" panose="02020603050405020304" charset="0"/>
              <a:cs typeface="Times New Roman" panose="02020603050405020304" charset="0"/>
            </a:endParaRPr>
          </a:p>
          <a:p>
            <a:pPr marL="241300" marR="290195" indent="-229235">
              <a:lnSpc>
                <a:spcPts val="3000"/>
              </a:lnSpc>
              <a:spcBef>
                <a:spcPts val="480"/>
              </a:spcBef>
              <a:buFont typeface="Arial MT"/>
              <a:buChar char="•"/>
              <a:tabLst>
                <a:tab pos="241300" algn="l"/>
              </a:tabLst>
            </a:pPr>
            <a:endParaRPr sz="2750" dirty="0">
              <a:latin typeface="Times New Roman" panose="02020603050405020304"/>
              <a:cs typeface="Times New Roman" panose="020206030504050203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910205">
              <a:lnSpc>
                <a:spcPct val="100000"/>
              </a:lnSpc>
              <a:spcBef>
                <a:spcPts val="130"/>
              </a:spcBef>
            </a:pPr>
            <a:r>
              <a:rPr spc="-10" dirty="0"/>
              <a:t>METHODOLOGY</a:t>
            </a:r>
            <a:endParaRPr spc="-10" dirty="0"/>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ts val="1410"/>
              </a:lnSpc>
            </a:pPr>
            <a:r>
              <a:rPr spc="-10" dirty="0"/>
              <a:t>19-12-</a:t>
            </a:r>
            <a:r>
              <a:rPr spc="-20" dirty="0"/>
              <a:t>2024</a:t>
            </a:r>
            <a:endParaRPr spc="-2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panose="02020603050405020304"/>
                <a:cs typeface="Times New Roman" panose="02020603050405020304"/>
              </a:rPr>
              <a:t>Review</a:t>
            </a:r>
            <a:r>
              <a:rPr sz="1200" spc="-3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No.</a:t>
            </a:r>
            <a:endParaRPr sz="1200">
              <a:latin typeface="Times New Roman" panose="02020603050405020304"/>
              <a:cs typeface="Times New Roman" panose="02020603050405020304"/>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panose="02020603050405020304"/>
                <a:cs typeface="Times New Roman" panose="02020603050405020304"/>
              </a:rPr>
              <a:t>Department</a:t>
            </a:r>
            <a:r>
              <a:rPr sz="1200" spc="-30" dirty="0">
                <a:solidFill>
                  <a:srgbClr val="888888"/>
                </a:solidFill>
                <a:latin typeface="Times New Roman" panose="02020603050405020304"/>
                <a:cs typeface="Times New Roman" panose="02020603050405020304"/>
              </a:rPr>
              <a:t> </a:t>
            </a:r>
            <a:r>
              <a:rPr sz="1200" dirty="0">
                <a:solidFill>
                  <a:srgbClr val="888888"/>
                </a:solidFill>
                <a:latin typeface="Times New Roman" panose="02020603050405020304"/>
                <a:cs typeface="Times New Roman" panose="02020603050405020304"/>
              </a:rPr>
              <a:t>of</a:t>
            </a:r>
            <a:r>
              <a:rPr sz="1200" spc="5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CSE</a:t>
            </a:r>
            <a:endParaRPr sz="1200">
              <a:latin typeface="Times New Roman" panose="02020603050405020304"/>
              <a:cs typeface="Times New Roman" panose="02020603050405020304"/>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fld>
            <a:endParaRPr spc="-25" dirty="0"/>
          </a:p>
        </p:txBody>
      </p:sp>
      <p:sp>
        <p:nvSpPr>
          <p:cNvPr id="3" name="object 3"/>
          <p:cNvSpPr txBox="1"/>
          <p:nvPr/>
        </p:nvSpPr>
        <p:spPr>
          <a:xfrm>
            <a:off x="1248219" y="1466262"/>
            <a:ext cx="9695560" cy="1007968"/>
          </a:xfrm>
          <a:prstGeom prst="rect">
            <a:avLst/>
          </a:prstGeom>
        </p:spPr>
        <p:txBody>
          <a:bodyPr vert="horz" wrap="square" lIns="0" tIns="60960" rIns="0" bIns="0" rtlCol="0">
            <a:spAutoFit/>
          </a:bodyPr>
          <a:lstStyle/>
          <a:p>
            <a:pPr algn="just"/>
            <a:r>
              <a:rPr lang="en-IN" sz="3400" b="1" dirty="0">
                <a:latin typeface="Times New Roman" panose="02020603050405020304" charset="0"/>
                <a:cs typeface="Times New Roman" panose="02020603050405020304" charset="0"/>
              </a:rPr>
              <a:t>Data Preprocessing</a:t>
            </a:r>
            <a:endParaRPr lang="en-IN" sz="3400" b="1"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endParaRPr sz="2750" dirty="0">
              <a:latin typeface="Times New Roman" panose="02020603050405020304"/>
              <a:cs typeface="Times New Roman" panose="02020603050405020304"/>
            </a:endParaRPr>
          </a:p>
        </p:txBody>
      </p:sp>
      <p:sp>
        <p:nvSpPr>
          <p:cNvPr id="10" name="TextBox 9"/>
          <p:cNvSpPr txBox="1"/>
          <p:nvPr/>
        </p:nvSpPr>
        <p:spPr>
          <a:xfrm>
            <a:off x="1187499" y="2344750"/>
            <a:ext cx="10101072" cy="3046988"/>
          </a:xfrm>
          <a:prstGeom prst="rect">
            <a:avLst/>
          </a:prstGeom>
          <a:noFill/>
        </p:spPr>
        <p:txBody>
          <a:bodyPr wrap="square" rtlCol="0">
            <a:spAutoFit/>
          </a:bodyPr>
          <a:lstStyle/>
          <a:p>
            <a:pPr marL="342900" indent="-342900" algn="just">
              <a:buFont typeface="Arial" panose="020B0604020202020204" pitchFamily="34" charset="0"/>
              <a:buChar char="•"/>
            </a:pPr>
            <a:r>
              <a:rPr lang="en-IN" sz="2400" dirty="0">
                <a:latin typeface="Times New Roman" panose="02020603050405020304" charset="0"/>
                <a:cs typeface="Times New Roman" panose="02020603050405020304" charset="0"/>
              </a:rPr>
              <a:t>All ultrasound images resized to </a:t>
            </a:r>
            <a:r>
              <a:rPr lang="en-IN" sz="2400" b="1" dirty="0">
                <a:latin typeface="Times New Roman" panose="02020603050405020304" charset="0"/>
                <a:cs typeface="Times New Roman" panose="02020603050405020304" charset="0"/>
              </a:rPr>
              <a:t>128 × 128 pixels</a:t>
            </a:r>
            <a:r>
              <a:rPr lang="en-IN" sz="2400" dirty="0">
                <a:latin typeface="Times New Roman" panose="02020603050405020304" charset="0"/>
                <a:cs typeface="Times New Roman" panose="02020603050405020304" charset="0"/>
              </a:rPr>
              <a:t> and converted to grayscale.</a:t>
            </a:r>
            <a:endParaRPr lang="en-IN" sz="2400"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IN" sz="2400" dirty="0">
                <a:latin typeface="Times New Roman" panose="02020603050405020304" charset="0"/>
                <a:cs typeface="Times New Roman" panose="02020603050405020304" charset="0"/>
              </a:rPr>
              <a:t>Applied </a:t>
            </a:r>
            <a:r>
              <a:rPr lang="en-IN" sz="2400" b="1" dirty="0">
                <a:latin typeface="Times New Roman" panose="02020603050405020304" charset="0"/>
                <a:cs typeface="Times New Roman" panose="02020603050405020304" charset="0"/>
              </a:rPr>
              <a:t>normalization</a:t>
            </a:r>
            <a:r>
              <a:rPr lang="en-IN" sz="2400" dirty="0">
                <a:latin typeface="Times New Roman" panose="02020603050405020304" charset="0"/>
                <a:cs typeface="Times New Roman" panose="02020603050405020304" charset="0"/>
              </a:rPr>
              <a:t> to scale pixel intensity between 0 and 1.</a:t>
            </a:r>
            <a:endParaRPr lang="en-IN" sz="2400"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IN" sz="2400" dirty="0">
                <a:latin typeface="Times New Roman" panose="02020603050405020304" charset="0"/>
                <a:cs typeface="Times New Roman" panose="02020603050405020304" charset="0"/>
              </a:rPr>
              <a:t>Used </a:t>
            </a:r>
            <a:r>
              <a:rPr lang="en-IN" sz="2400" b="1" dirty="0">
                <a:latin typeface="Times New Roman" panose="02020603050405020304" charset="0"/>
                <a:cs typeface="Times New Roman" panose="02020603050405020304" charset="0"/>
              </a:rPr>
              <a:t>data augmentation</a:t>
            </a:r>
            <a:r>
              <a:rPr lang="en-IN" sz="2400" dirty="0">
                <a:latin typeface="Times New Roman" panose="02020603050405020304" charset="0"/>
                <a:cs typeface="Times New Roman" panose="02020603050405020304" charset="0"/>
              </a:rPr>
              <a:t> (rotation, flip, zoom, shift) to increase dataset variability.</a:t>
            </a:r>
            <a:endParaRPr lang="en-IN" sz="2400"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IN" sz="2400" dirty="0">
                <a:latin typeface="Times New Roman" panose="02020603050405020304" charset="0"/>
                <a:cs typeface="Times New Roman" panose="02020603050405020304" charset="0"/>
              </a:rPr>
              <a:t>Split dataset into </a:t>
            </a:r>
            <a:r>
              <a:rPr lang="en-IN" sz="2400" b="1" dirty="0">
                <a:latin typeface="Times New Roman" panose="02020603050405020304" charset="0"/>
                <a:cs typeface="Times New Roman" panose="02020603050405020304" charset="0"/>
              </a:rPr>
              <a:t>training, validation, and testing sets</a:t>
            </a:r>
            <a:r>
              <a:rPr lang="en-IN" sz="2400" dirty="0">
                <a:latin typeface="Times New Roman" panose="02020603050405020304" charset="0"/>
                <a:cs typeface="Times New Roman" panose="02020603050405020304" charset="0"/>
              </a:rPr>
              <a:t> (70:20:10).</a:t>
            </a:r>
            <a:endParaRPr lang="en-IN" sz="2400"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IN" sz="2400" dirty="0">
                <a:latin typeface="Times New Roman" panose="02020603050405020304" charset="0"/>
                <a:cs typeface="Times New Roman" panose="02020603050405020304" charset="0"/>
              </a:rPr>
              <a:t>Preprocessing ensured better generalization and minimized overfitting.</a:t>
            </a:r>
            <a:endParaRPr lang="en-IN" sz="2400"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br>
              <a:rPr lang="en-IN" sz="2400" dirty="0">
                <a:latin typeface="Times New Roman" panose="02020603050405020304" charset="0"/>
                <a:cs typeface="Times New Roman" panose="02020603050405020304" charset="0"/>
              </a:rPr>
            </a:br>
            <a:endParaRPr lang="en-IN" sz="2400" dirty="0">
              <a:latin typeface="Times New Roman" panose="02020603050405020304" charset="0"/>
              <a:cs typeface="Times New Roman" panose="0202060305040502030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910205">
              <a:lnSpc>
                <a:spcPct val="100000"/>
              </a:lnSpc>
              <a:spcBef>
                <a:spcPts val="130"/>
              </a:spcBef>
            </a:pPr>
            <a:r>
              <a:rPr spc="-10" dirty="0"/>
              <a:t>METHODOLOGY</a:t>
            </a:r>
            <a:endParaRPr spc="-10" dirty="0"/>
          </a:p>
        </p:txBody>
      </p:sp>
      <p:sp>
        <p:nvSpPr>
          <p:cNvPr id="4" name="object 4"/>
          <p:cNvSpPr txBox="1">
            <a:spLocks noGrp="1"/>
          </p:cNvSpPr>
          <p:nvPr>
            <p:ph type="dt" sz="half" idx="6"/>
          </p:nvPr>
        </p:nvSpPr>
        <p:spPr>
          <a:xfrm>
            <a:off x="917575" y="6451049"/>
            <a:ext cx="737235" cy="180340"/>
          </a:xfrm>
          <a:prstGeom prst="rect">
            <a:avLst/>
          </a:prstGeom>
        </p:spPr>
        <p:txBody>
          <a:bodyPr vert="horz" wrap="square" lIns="0" tIns="0" rIns="0" bIns="0" rtlCol="0">
            <a:spAutoFit/>
          </a:bodyPr>
          <a:lstStyle/>
          <a:p>
            <a:pPr marL="12700">
              <a:lnSpc>
                <a:spcPts val="1410"/>
              </a:lnSpc>
            </a:pPr>
            <a:endParaRPr spc="-2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panose="02020603050405020304"/>
                <a:cs typeface="Times New Roman" panose="02020603050405020304"/>
              </a:rPr>
              <a:t>Review</a:t>
            </a:r>
            <a:r>
              <a:rPr sz="1200" spc="-3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No.</a:t>
            </a:r>
            <a:endParaRPr sz="1200">
              <a:latin typeface="Times New Roman" panose="02020603050405020304"/>
              <a:cs typeface="Times New Roman" panose="02020603050405020304"/>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panose="02020603050405020304"/>
                <a:cs typeface="Times New Roman" panose="02020603050405020304"/>
              </a:rPr>
              <a:t>Department</a:t>
            </a:r>
            <a:r>
              <a:rPr sz="1200" spc="-30" dirty="0">
                <a:solidFill>
                  <a:srgbClr val="888888"/>
                </a:solidFill>
                <a:latin typeface="Times New Roman" panose="02020603050405020304"/>
                <a:cs typeface="Times New Roman" panose="02020603050405020304"/>
              </a:rPr>
              <a:t> </a:t>
            </a:r>
            <a:r>
              <a:rPr sz="1200" dirty="0">
                <a:solidFill>
                  <a:srgbClr val="888888"/>
                </a:solidFill>
                <a:latin typeface="Times New Roman" panose="02020603050405020304"/>
                <a:cs typeface="Times New Roman" panose="02020603050405020304"/>
              </a:rPr>
              <a:t>of</a:t>
            </a:r>
            <a:r>
              <a:rPr sz="1200" spc="5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CSE</a:t>
            </a:r>
            <a:endParaRPr sz="1200">
              <a:latin typeface="Times New Roman" panose="02020603050405020304"/>
              <a:cs typeface="Times New Roman" panose="02020603050405020304"/>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fld>
            <a:endParaRPr spc="-25" dirty="0"/>
          </a:p>
        </p:txBody>
      </p:sp>
      <p:sp>
        <p:nvSpPr>
          <p:cNvPr id="3" name="object 3"/>
          <p:cNvSpPr txBox="1"/>
          <p:nvPr/>
        </p:nvSpPr>
        <p:spPr>
          <a:xfrm>
            <a:off x="1248219" y="1466262"/>
            <a:ext cx="9695560" cy="1561966"/>
          </a:xfrm>
          <a:prstGeom prst="rect">
            <a:avLst/>
          </a:prstGeom>
        </p:spPr>
        <p:txBody>
          <a:bodyPr vert="horz" wrap="square" lIns="0" tIns="60960" rIns="0" bIns="0" rtlCol="0">
            <a:spAutoFit/>
          </a:bodyPr>
          <a:lstStyle/>
          <a:p>
            <a:pPr algn="just"/>
            <a:r>
              <a:rPr lang="en-IN" sz="3400" b="1" dirty="0">
                <a:latin typeface="Times New Roman" panose="02020603050405020304" charset="0"/>
                <a:cs typeface="Times New Roman" panose="02020603050405020304" charset="0"/>
              </a:rPr>
              <a:t>Segmentation Phase</a:t>
            </a:r>
            <a:endParaRPr lang="en-IN" sz="3400" b="1" dirty="0">
              <a:latin typeface="Times New Roman" panose="02020603050405020304" charset="0"/>
              <a:cs typeface="Times New Roman" panose="02020603050405020304" charset="0"/>
            </a:endParaRPr>
          </a:p>
          <a:p>
            <a:pPr algn="just"/>
            <a:endParaRPr lang="en-IN" sz="3400" b="1"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endParaRPr sz="2750" dirty="0">
              <a:latin typeface="Times New Roman" panose="02020603050405020304"/>
              <a:cs typeface="Times New Roman" panose="02020603050405020304"/>
            </a:endParaRPr>
          </a:p>
        </p:txBody>
      </p:sp>
      <p:sp>
        <p:nvSpPr>
          <p:cNvPr id="10" name="TextBox 9"/>
          <p:cNvSpPr txBox="1"/>
          <p:nvPr/>
        </p:nvSpPr>
        <p:spPr>
          <a:xfrm>
            <a:off x="1187499" y="2344750"/>
            <a:ext cx="10101072" cy="3877985"/>
          </a:xfrm>
          <a:prstGeom prst="rect">
            <a:avLst/>
          </a:prstGeom>
          <a:noFill/>
        </p:spPr>
        <p:txBody>
          <a:bodyPr wrap="square" rtlCol="0">
            <a:spAutoFit/>
          </a:bodyPr>
          <a:lstStyle/>
          <a:p>
            <a:pPr marL="342900" indent="-342900" algn="just">
              <a:buFont typeface="Arial" panose="020B0604020202020204" pitchFamily="34" charset="0"/>
              <a:buChar char="•"/>
            </a:pPr>
            <a:r>
              <a:rPr lang="en-IN" sz="2400" dirty="0">
                <a:effectLst/>
                <a:latin typeface="Times New Roman" panose="02020603050405020304" charset="0"/>
                <a:cs typeface="Times New Roman" panose="02020603050405020304" charset="0"/>
              </a:rPr>
              <a:t>Used </a:t>
            </a:r>
            <a:r>
              <a:rPr lang="en-IN" sz="2400" b="1" dirty="0">
                <a:latin typeface="Times New Roman" panose="02020603050405020304" charset="0"/>
                <a:cs typeface="Times New Roman" panose="02020603050405020304" charset="0"/>
              </a:rPr>
              <a:t>U-Net++</a:t>
            </a:r>
            <a:r>
              <a:rPr lang="en-IN" sz="2400" dirty="0">
                <a:effectLst/>
                <a:latin typeface="Times New Roman" panose="02020603050405020304" charset="0"/>
                <a:cs typeface="Times New Roman" panose="02020603050405020304" charset="0"/>
              </a:rPr>
              <a:t> architecture for accurate </a:t>
            </a:r>
            <a:r>
              <a:rPr lang="en-IN" sz="2400" dirty="0" err="1">
                <a:effectLst/>
                <a:latin typeface="Times New Roman" panose="02020603050405020304" charset="0"/>
                <a:cs typeface="Times New Roman" panose="02020603050405020304" charset="0"/>
              </a:rPr>
              <a:t>tumor</a:t>
            </a:r>
            <a:r>
              <a:rPr lang="en-IN" sz="2400" dirty="0">
                <a:effectLst/>
                <a:latin typeface="Times New Roman" panose="02020603050405020304" charset="0"/>
                <a:cs typeface="Times New Roman" panose="02020603050405020304" charset="0"/>
              </a:rPr>
              <a:t> </a:t>
            </a:r>
            <a:r>
              <a:rPr lang="en-IN" sz="2400" b="1" dirty="0">
                <a:latin typeface="Times New Roman" panose="02020603050405020304" charset="0"/>
                <a:cs typeface="Times New Roman" panose="02020603050405020304" charset="0"/>
              </a:rPr>
              <a:t>segmentation</a:t>
            </a:r>
            <a:r>
              <a:rPr lang="en-IN" sz="2400" dirty="0">
                <a:effectLst/>
                <a:latin typeface="Times New Roman" panose="02020603050405020304" charset="0"/>
                <a:cs typeface="Times New Roman" panose="02020603050405020304" charset="0"/>
              </a:rPr>
              <a:t>.</a:t>
            </a:r>
            <a:endParaRPr lang="en-IN" sz="2400" dirty="0">
              <a:effectLst/>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IN" sz="2400" dirty="0">
                <a:effectLst/>
                <a:latin typeface="Times New Roman" panose="02020603050405020304" charset="0"/>
                <a:cs typeface="Times New Roman" panose="02020603050405020304" charset="0"/>
              </a:rPr>
              <a:t>Input: </a:t>
            </a:r>
            <a:r>
              <a:rPr lang="en-IN" sz="2400" dirty="0" err="1">
                <a:effectLst/>
                <a:latin typeface="Times New Roman" panose="02020603050405020304" charset="0"/>
                <a:cs typeface="Times New Roman" panose="02020603050405020304" charset="0"/>
              </a:rPr>
              <a:t>preprocessed</a:t>
            </a:r>
            <a:r>
              <a:rPr lang="en-IN" sz="2400" dirty="0">
                <a:effectLst/>
                <a:latin typeface="Times New Roman" panose="02020603050405020304" charset="0"/>
                <a:cs typeface="Times New Roman" panose="02020603050405020304" charset="0"/>
              </a:rPr>
              <a:t> ultrasound image.</a:t>
            </a:r>
            <a:endParaRPr lang="en-IN" sz="2400" dirty="0">
              <a:effectLst/>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IN" sz="2400" dirty="0">
                <a:effectLst/>
                <a:latin typeface="Times New Roman" panose="02020603050405020304" charset="0"/>
                <a:cs typeface="Times New Roman" panose="02020603050405020304" charset="0"/>
              </a:rPr>
              <a:t>Output: </a:t>
            </a:r>
            <a:r>
              <a:rPr lang="en-IN" sz="2400" b="1" dirty="0">
                <a:latin typeface="Times New Roman" panose="02020603050405020304" charset="0"/>
                <a:cs typeface="Times New Roman" panose="02020603050405020304" charset="0"/>
              </a:rPr>
              <a:t>binary segmentation mask</a:t>
            </a:r>
            <a:r>
              <a:rPr lang="en-IN" sz="2400" dirty="0">
                <a:effectLst/>
                <a:latin typeface="Times New Roman" panose="02020603050405020304" charset="0"/>
                <a:cs typeface="Times New Roman" panose="02020603050405020304" charset="0"/>
              </a:rPr>
              <a:t> highlighting the lesion region.</a:t>
            </a:r>
            <a:endParaRPr lang="en-IN" sz="2400" dirty="0">
              <a:effectLst/>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IN" sz="2400" b="1" dirty="0">
                <a:latin typeface="Times New Roman" panose="02020603050405020304" charset="0"/>
                <a:cs typeface="Times New Roman" panose="02020603050405020304" charset="0"/>
              </a:rPr>
              <a:t>Features:</a:t>
            </a:r>
            <a:endParaRPr lang="en-IN" sz="2400" dirty="0">
              <a:effectLst/>
              <a:latin typeface="Times New Roman" panose="02020603050405020304" charset="0"/>
              <a:cs typeface="Times New Roman" panose="02020603050405020304" charset="0"/>
            </a:endParaRPr>
          </a:p>
          <a:p>
            <a:pPr lvl="1" algn="just"/>
            <a:r>
              <a:rPr lang="en-IN" sz="2400" dirty="0">
                <a:effectLst/>
                <a:latin typeface="Times New Roman" panose="02020603050405020304" charset="0"/>
                <a:cs typeface="Times New Roman" panose="02020603050405020304" charset="0"/>
              </a:rPr>
              <a:t>    Encoder–decoder structure with skip connections.</a:t>
            </a:r>
            <a:endParaRPr lang="en-IN" sz="2400" dirty="0">
              <a:effectLst/>
              <a:latin typeface="Times New Roman" panose="02020603050405020304" charset="0"/>
              <a:cs typeface="Times New Roman" panose="02020603050405020304" charset="0"/>
            </a:endParaRPr>
          </a:p>
          <a:p>
            <a:pPr lvl="1" algn="just"/>
            <a:r>
              <a:rPr lang="en-IN" sz="2400" dirty="0">
                <a:effectLst/>
                <a:latin typeface="Times New Roman" panose="02020603050405020304" charset="0"/>
                <a:cs typeface="Times New Roman" panose="02020603050405020304" charset="0"/>
              </a:rPr>
              <a:t>    Nested skip pathways improve boundary precision.</a:t>
            </a:r>
            <a:endParaRPr lang="en-IN" sz="2400" dirty="0">
              <a:effectLst/>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IN" sz="2400" dirty="0">
                <a:effectLst/>
                <a:latin typeface="Times New Roman" panose="02020603050405020304" charset="0"/>
                <a:cs typeface="Times New Roman" panose="02020603050405020304" charset="0"/>
              </a:rPr>
              <a:t>Evaluated using </a:t>
            </a:r>
            <a:r>
              <a:rPr lang="en-IN" sz="2400" b="1" dirty="0">
                <a:latin typeface="Times New Roman" panose="02020603050405020304" charset="0"/>
                <a:cs typeface="Times New Roman" panose="02020603050405020304" charset="0"/>
              </a:rPr>
              <a:t>Dice Coefficient</a:t>
            </a:r>
            <a:r>
              <a:rPr lang="en-IN" sz="2400" dirty="0">
                <a:effectLst/>
                <a:latin typeface="Times New Roman" panose="02020603050405020304" charset="0"/>
                <a:cs typeface="Times New Roman" panose="02020603050405020304" charset="0"/>
              </a:rPr>
              <a:t> and </a:t>
            </a:r>
            <a:r>
              <a:rPr lang="en-IN" sz="2400" b="1" dirty="0" err="1">
                <a:latin typeface="Times New Roman" panose="02020603050405020304" charset="0"/>
                <a:cs typeface="Times New Roman" panose="02020603050405020304" charset="0"/>
              </a:rPr>
              <a:t>IoU</a:t>
            </a:r>
            <a:r>
              <a:rPr lang="en-IN" sz="2400" b="1" dirty="0">
                <a:latin typeface="Times New Roman" panose="02020603050405020304" charset="0"/>
                <a:cs typeface="Times New Roman" panose="02020603050405020304" charset="0"/>
              </a:rPr>
              <a:t> metrics</a:t>
            </a:r>
            <a:r>
              <a:rPr lang="en-IN" sz="2400" dirty="0">
                <a:effectLst/>
                <a:latin typeface="Times New Roman" panose="02020603050405020304" charset="0"/>
                <a:cs typeface="Times New Roman" panose="02020603050405020304" charset="0"/>
              </a:rPr>
              <a:t> for segmentation accuracy.</a:t>
            </a:r>
            <a:endParaRPr lang="ar-AE" sz="2400" dirty="0">
              <a:latin typeface="Times New Roman" panose="02020603050405020304" charset="0"/>
              <a:cs typeface="Times New Roman" panose="02020603050405020304" charset="0"/>
            </a:endParaRPr>
          </a:p>
          <a:p>
            <a:br>
              <a:rPr lang="ar-AE" dirty="0"/>
            </a:br>
            <a:br>
              <a:rPr lang="en-IN" sz="1800" dirty="0">
                <a:latin typeface="Times New Roman" panose="02020603050405020304" charset="0"/>
                <a:cs typeface="Times New Roman" panose="02020603050405020304" charset="0"/>
              </a:rPr>
            </a:br>
            <a:endParaRPr lang="en-IN" sz="1800" dirty="0">
              <a:latin typeface="Times New Roman" panose="02020603050405020304" charset="0"/>
              <a:cs typeface="Times New Roman" panose="0202060305040502030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910205">
              <a:lnSpc>
                <a:spcPct val="100000"/>
              </a:lnSpc>
              <a:spcBef>
                <a:spcPts val="130"/>
              </a:spcBef>
            </a:pPr>
            <a:r>
              <a:rPr spc="-10" dirty="0"/>
              <a:t>METHODOLOGY</a:t>
            </a:r>
            <a:endParaRPr spc="-10" dirty="0"/>
          </a:p>
        </p:txBody>
      </p:sp>
      <p:sp>
        <p:nvSpPr>
          <p:cNvPr id="4" name="object 4"/>
          <p:cNvSpPr txBox="1">
            <a:spLocks noGrp="1"/>
          </p:cNvSpPr>
          <p:nvPr>
            <p:ph type="dt" sz="half" idx="6"/>
          </p:nvPr>
        </p:nvSpPr>
        <p:spPr>
          <a:xfrm>
            <a:off x="917575" y="6451049"/>
            <a:ext cx="737235" cy="180340"/>
          </a:xfrm>
          <a:prstGeom prst="rect">
            <a:avLst/>
          </a:prstGeom>
        </p:spPr>
        <p:txBody>
          <a:bodyPr vert="horz" wrap="square" lIns="0" tIns="0" rIns="0" bIns="0" rtlCol="0">
            <a:spAutoFit/>
          </a:bodyPr>
          <a:lstStyle/>
          <a:p>
            <a:pPr marL="12700">
              <a:lnSpc>
                <a:spcPts val="1410"/>
              </a:lnSpc>
            </a:pPr>
            <a:endParaRPr spc="-2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panose="02020603050405020304"/>
                <a:cs typeface="Times New Roman" panose="02020603050405020304"/>
              </a:rPr>
              <a:t>Review</a:t>
            </a:r>
            <a:r>
              <a:rPr sz="1200" spc="-3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No.</a:t>
            </a:r>
            <a:endParaRPr sz="1200">
              <a:latin typeface="Times New Roman" panose="02020603050405020304"/>
              <a:cs typeface="Times New Roman" panose="02020603050405020304"/>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panose="02020603050405020304"/>
                <a:cs typeface="Times New Roman" panose="02020603050405020304"/>
              </a:rPr>
              <a:t>Department</a:t>
            </a:r>
            <a:r>
              <a:rPr sz="1200" spc="-30" dirty="0">
                <a:solidFill>
                  <a:srgbClr val="888888"/>
                </a:solidFill>
                <a:latin typeface="Times New Roman" panose="02020603050405020304"/>
                <a:cs typeface="Times New Roman" panose="02020603050405020304"/>
              </a:rPr>
              <a:t> </a:t>
            </a:r>
            <a:r>
              <a:rPr sz="1200" dirty="0">
                <a:solidFill>
                  <a:srgbClr val="888888"/>
                </a:solidFill>
                <a:latin typeface="Times New Roman" panose="02020603050405020304"/>
                <a:cs typeface="Times New Roman" panose="02020603050405020304"/>
              </a:rPr>
              <a:t>of</a:t>
            </a:r>
            <a:r>
              <a:rPr sz="1200" spc="5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CSE</a:t>
            </a:r>
            <a:endParaRPr sz="1200">
              <a:latin typeface="Times New Roman" panose="02020603050405020304"/>
              <a:cs typeface="Times New Roman" panose="02020603050405020304"/>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fld>
            <a:endParaRPr spc="-25" dirty="0"/>
          </a:p>
        </p:txBody>
      </p:sp>
      <p:sp>
        <p:nvSpPr>
          <p:cNvPr id="3" name="object 3"/>
          <p:cNvSpPr txBox="1"/>
          <p:nvPr/>
        </p:nvSpPr>
        <p:spPr>
          <a:xfrm>
            <a:off x="1248219" y="1466262"/>
            <a:ext cx="9695560" cy="1531188"/>
          </a:xfrm>
          <a:prstGeom prst="rect">
            <a:avLst/>
          </a:prstGeom>
        </p:spPr>
        <p:txBody>
          <a:bodyPr vert="horz" wrap="square" lIns="0" tIns="60960" rIns="0" bIns="0" rtlCol="0">
            <a:spAutoFit/>
          </a:bodyPr>
          <a:lstStyle/>
          <a:p>
            <a:pPr algn="just"/>
            <a:r>
              <a:rPr lang="en-IN" sz="3400" b="1" dirty="0">
                <a:latin typeface="Times New Roman" panose="02020603050405020304" charset="0"/>
                <a:cs typeface="Times New Roman" panose="02020603050405020304" charset="0"/>
              </a:rPr>
              <a:t>Classification Phase:</a:t>
            </a:r>
            <a:endParaRPr lang="en-IN" sz="3400" b="1" dirty="0">
              <a:latin typeface="Times New Roman" panose="02020603050405020304" charset="0"/>
              <a:cs typeface="Times New Roman" panose="02020603050405020304" charset="0"/>
            </a:endParaRPr>
          </a:p>
          <a:p>
            <a:pPr algn="just"/>
            <a:endParaRPr lang="en-IN" sz="3400" b="1"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endParaRPr sz="2750" dirty="0">
              <a:latin typeface="Times New Roman" panose="02020603050405020304"/>
              <a:cs typeface="Times New Roman" panose="02020603050405020304"/>
            </a:endParaRPr>
          </a:p>
        </p:txBody>
      </p:sp>
      <p:sp>
        <p:nvSpPr>
          <p:cNvPr id="10" name="TextBox 9"/>
          <p:cNvSpPr txBox="1"/>
          <p:nvPr/>
        </p:nvSpPr>
        <p:spPr>
          <a:xfrm>
            <a:off x="1187499" y="2344750"/>
            <a:ext cx="10101072" cy="3139321"/>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latin typeface="Times New Roman" panose="02020603050405020304" charset="0"/>
                <a:cs typeface="Times New Roman" panose="02020603050405020304" charset="0"/>
              </a:rPr>
              <a:t>The </a:t>
            </a:r>
            <a:r>
              <a:rPr lang="en-US" sz="2400" b="1" dirty="0">
                <a:latin typeface="Times New Roman" panose="02020603050405020304" charset="0"/>
                <a:cs typeface="Times New Roman" panose="02020603050405020304" charset="0"/>
              </a:rPr>
              <a:t>CNN classifier</a:t>
            </a:r>
            <a:r>
              <a:rPr lang="en-US" sz="2400" dirty="0">
                <a:latin typeface="Times New Roman" panose="02020603050405020304" charset="0"/>
                <a:cs typeface="Times New Roman" panose="02020603050405020304" charset="0"/>
              </a:rPr>
              <a:t> receives both the original image and its segmentation mask.</a:t>
            </a:r>
            <a:endParaRPr lang="en-US" sz="2400"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US" sz="2400" dirty="0">
                <a:latin typeface="Times New Roman" panose="02020603050405020304" charset="0"/>
                <a:cs typeface="Times New Roman" panose="02020603050405020304" charset="0"/>
              </a:rPr>
              <a:t>Learns region-focused features for </a:t>
            </a:r>
            <a:r>
              <a:rPr lang="en-US" sz="2400" b="1" dirty="0">
                <a:latin typeface="Times New Roman" panose="02020603050405020304" charset="0"/>
                <a:cs typeface="Times New Roman" panose="02020603050405020304" charset="0"/>
              </a:rPr>
              <a:t>benign vs malignant</a:t>
            </a:r>
            <a:r>
              <a:rPr lang="en-US" sz="2400" dirty="0">
                <a:latin typeface="Times New Roman" panose="02020603050405020304" charset="0"/>
                <a:cs typeface="Times New Roman" panose="02020603050405020304" charset="0"/>
              </a:rPr>
              <a:t> tumor classification.</a:t>
            </a:r>
            <a:endParaRPr lang="en-US" sz="2400"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US" sz="2400" dirty="0">
                <a:latin typeface="Times New Roman" panose="02020603050405020304" charset="0"/>
                <a:cs typeface="Times New Roman" panose="02020603050405020304" charset="0"/>
              </a:rPr>
              <a:t>Implemented </a:t>
            </a:r>
            <a:r>
              <a:rPr lang="en-US" sz="2400" b="1" dirty="0">
                <a:latin typeface="Times New Roman" panose="02020603050405020304" charset="0"/>
                <a:cs typeface="Times New Roman" panose="02020603050405020304" charset="0"/>
              </a:rPr>
              <a:t>Adam optimizer</a:t>
            </a:r>
            <a:r>
              <a:rPr lang="en-US" sz="2400" dirty="0">
                <a:latin typeface="Times New Roman" panose="02020603050405020304" charset="0"/>
                <a:cs typeface="Times New Roman" panose="02020603050405020304" charset="0"/>
              </a:rPr>
              <a:t>, </a:t>
            </a:r>
            <a:r>
              <a:rPr lang="en-US" sz="2400" b="1" dirty="0">
                <a:latin typeface="Times New Roman" panose="02020603050405020304" charset="0"/>
                <a:cs typeface="Times New Roman" panose="02020603050405020304" charset="0"/>
              </a:rPr>
              <a:t>Binary Cross-Entropy loss</a:t>
            </a:r>
            <a:r>
              <a:rPr lang="en-US" sz="2400" dirty="0">
                <a:latin typeface="Times New Roman" panose="02020603050405020304" charset="0"/>
                <a:cs typeface="Times New Roman" panose="02020603050405020304" charset="0"/>
              </a:rPr>
              <a:t>, and </a:t>
            </a:r>
            <a:r>
              <a:rPr lang="en-US" sz="2400" b="1" dirty="0" err="1">
                <a:latin typeface="Times New Roman" panose="02020603050405020304" charset="0"/>
                <a:cs typeface="Times New Roman" panose="02020603050405020304" charset="0"/>
              </a:rPr>
              <a:t>EarlyStopping</a:t>
            </a:r>
            <a:r>
              <a:rPr lang="en-US" sz="2400" dirty="0">
                <a:latin typeface="Times New Roman" panose="02020603050405020304" charset="0"/>
                <a:cs typeface="Times New Roman" panose="02020603050405020304" charset="0"/>
              </a:rPr>
              <a:t>.</a:t>
            </a:r>
            <a:endParaRPr lang="en-US" sz="2400"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US" sz="2400" dirty="0">
                <a:latin typeface="Times New Roman" panose="02020603050405020304" charset="0"/>
                <a:cs typeface="Times New Roman" panose="02020603050405020304" charset="0"/>
              </a:rPr>
              <a:t>Performance measured by </a:t>
            </a:r>
            <a:r>
              <a:rPr lang="en-US" sz="2400" b="1" dirty="0">
                <a:latin typeface="Times New Roman" panose="02020603050405020304" charset="0"/>
                <a:cs typeface="Times New Roman" panose="02020603050405020304" charset="0"/>
              </a:rPr>
              <a:t>Accuracy</a:t>
            </a:r>
            <a:r>
              <a:rPr lang="en-US" sz="2400" dirty="0">
                <a:latin typeface="Times New Roman" panose="02020603050405020304" charset="0"/>
                <a:cs typeface="Times New Roman" panose="02020603050405020304" charset="0"/>
              </a:rPr>
              <a:t>, </a:t>
            </a:r>
            <a:r>
              <a:rPr lang="en-US" sz="2400" b="1" dirty="0">
                <a:latin typeface="Times New Roman" panose="02020603050405020304" charset="0"/>
                <a:cs typeface="Times New Roman" panose="02020603050405020304" charset="0"/>
              </a:rPr>
              <a:t>Precision</a:t>
            </a:r>
            <a:r>
              <a:rPr lang="en-US" sz="2400" dirty="0">
                <a:latin typeface="Times New Roman" panose="02020603050405020304" charset="0"/>
                <a:cs typeface="Times New Roman" panose="02020603050405020304" charset="0"/>
              </a:rPr>
              <a:t>, </a:t>
            </a:r>
            <a:r>
              <a:rPr lang="en-US" sz="2400" b="1" dirty="0">
                <a:latin typeface="Times New Roman" panose="02020603050405020304" charset="0"/>
                <a:cs typeface="Times New Roman" panose="02020603050405020304" charset="0"/>
              </a:rPr>
              <a:t>Recall</a:t>
            </a:r>
            <a:r>
              <a:rPr lang="en-US" sz="2400" dirty="0">
                <a:latin typeface="Times New Roman" panose="02020603050405020304" charset="0"/>
                <a:cs typeface="Times New Roman" panose="02020603050405020304" charset="0"/>
              </a:rPr>
              <a:t>, and </a:t>
            </a:r>
            <a:r>
              <a:rPr lang="en-US" sz="2400" b="1" dirty="0">
                <a:latin typeface="Times New Roman" panose="02020603050405020304" charset="0"/>
                <a:cs typeface="Times New Roman" panose="02020603050405020304" charset="0"/>
              </a:rPr>
              <a:t>F1-score</a:t>
            </a:r>
            <a:r>
              <a:rPr lang="en-US" sz="2400" dirty="0">
                <a:latin typeface="Times New Roman" panose="02020603050405020304" charset="0"/>
                <a:cs typeface="Times New Roman" panose="02020603050405020304" charset="0"/>
              </a:rPr>
              <a:t>.</a:t>
            </a:r>
            <a:endParaRPr lang="en-US" sz="2400" dirty="0">
              <a:latin typeface="Times New Roman" panose="02020603050405020304" charset="0"/>
              <a:cs typeface="Times New Roman" panose="02020603050405020304" charset="0"/>
            </a:endParaRPr>
          </a:p>
          <a:p>
            <a:pPr algn="just"/>
            <a:br>
              <a:rPr lang="ar-AE" dirty="0"/>
            </a:br>
            <a:br>
              <a:rPr lang="en-IN" sz="1800" dirty="0">
                <a:latin typeface="Times New Roman" panose="02020603050405020304" charset="0"/>
                <a:cs typeface="Times New Roman" panose="02020603050405020304" charset="0"/>
              </a:rPr>
            </a:br>
            <a:endParaRPr lang="en-IN" sz="1800" dirty="0">
              <a:latin typeface="Times New Roman" panose="02020603050405020304" charset="0"/>
              <a:cs typeface="Times New Roman" panose="0202060305040502030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910205">
              <a:lnSpc>
                <a:spcPct val="100000"/>
              </a:lnSpc>
              <a:spcBef>
                <a:spcPts val="130"/>
              </a:spcBef>
            </a:pPr>
            <a:r>
              <a:rPr spc="-10" dirty="0"/>
              <a:t>METHODOLOGY</a:t>
            </a:r>
            <a:endParaRPr spc="-10" dirty="0"/>
          </a:p>
        </p:txBody>
      </p:sp>
      <p:sp>
        <p:nvSpPr>
          <p:cNvPr id="4" name="object 4"/>
          <p:cNvSpPr txBox="1">
            <a:spLocks noGrp="1"/>
          </p:cNvSpPr>
          <p:nvPr>
            <p:ph type="dt" sz="half" idx="6"/>
          </p:nvPr>
        </p:nvSpPr>
        <p:spPr>
          <a:xfrm>
            <a:off x="917575" y="6451049"/>
            <a:ext cx="737235" cy="180340"/>
          </a:xfrm>
          <a:prstGeom prst="rect">
            <a:avLst/>
          </a:prstGeom>
        </p:spPr>
        <p:txBody>
          <a:bodyPr vert="horz" wrap="square" lIns="0" tIns="0" rIns="0" bIns="0" rtlCol="0">
            <a:spAutoFit/>
          </a:bodyPr>
          <a:lstStyle/>
          <a:p>
            <a:pPr marL="12700">
              <a:lnSpc>
                <a:spcPts val="1410"/>
              </a:lnSpc>
            </a:pPr>
            <a:endParaRPr spc="-2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panose="02020603050405020304"/>
                <a:cs typeface="Times New Roman" panose="02020603050405020304"/>
              </a:rPr>
              <a:t>Review</a:t>
            </a:r>
            <a:r>
              <a:rPr sz="1200" spc="-3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No.</a:t>
            </a:r>
            <a:endParaRPr sz="1200">
              <a:latin typeface="Times New Roman" panose="02020603050405020304"/>
              <a:cs typeface="Times New Roman" panose="02020603050405020304"/>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panose="02020603050405020304"/>
                <a:cs typeface="Times New Roman" panose="02020603050405020304"/>
              </a:rPr>
              <a:t>Department</a:t>
            </a:r>
            <a:r>
              <a:rPr sz="1200" spc="-30" dirty="0">
                <a:solidFill>
                  <a:srgbClr val="888888"/>
                </a:solidFill>
                <a:latin typeface="Times New Roman" panose="02020603050405020304"/>
                <a:cs typeface="Times New Roman" panose="02020603050405020304"/>
              </a:rPr>
              <a:t> </a:t>
            </a:r>
            <a:r>
              <a:rPr sz="1200" dirty="0">
                <a:solidFill>
                  <a:srgbClr val="888888"/>
                </a:solidFill>
                <a:latin typeface="Times New Roman" panose="02020603050405020304"/>
                <a:cs typeface="Times New Roman" panose="02020603050405020304"/>
              </a:rPr>
              <a:t>of</a:t>
            </a:r>
            <a:r>
              <a:rPr sz="1200" spc="5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CSE</a:t>
            </a:r>
            <a:endParaRPr sz="1200">
              <a:latin typeface="Times New Roman" panose="02020603050405020304"/>
              <a:cs typeface="Times New Roman" panose="02020603050405020304"/>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fld>
            <a:endParaRPr spc="-25" dirty="0"/>
          </a:p>
        </p:txBody>
      </p:sp>
      <p:sp>
        <p:nvSpPr>
          <p:cNvPr id="3" name="object 3"/>
          <p:cNvSpPr txBox="1"/>
          <p:nvPr/>
        </p:nvSpPr>
        <p:spPr>
          <a:xfrm>
            <a:off x="1248219" y="1466262"/>
            <a:ext cx="9695560" cy="2054409"/>
          </a:xfrm>
          <a:prstGeom prst="rect">
            <a:avLst/>
          </a:prstGeom>
        </p:spPr>
        <p:txBody>
          <a:bodyPr vert="horz" wrap="square" lIns="0" tIns="60960" rIns="0" bIns="0" rtlCol="0">
            <a:spAutoFit/>
          </a:bodyPr>
          <a:lstStyle/>
          <a:p>
            <a:pPr algn="just"/>
            <a:r>
              <a:rPr lang="en-IN" sz="3400" b="1" dirty="0">
                <a:latin typeface="Times New Roman" panose="02020603050405020304" charset="0"/>
                <a:cs typeface="Times New Roman" panose="02020603050405020304" charset="0"/>
              </a:rPr>
              <a:t>Parameter Settings:</a:t>
            </a:r>
            <a:endParaRPr lang="en-IN" sz="3400" b="1" dirty="0">
              <a:latin typeface="Times New Roman" panose="02020603050405020304" charset="0"/>
              <a:cs typeface="Times New Roman" panose="02020603050405020304" charset="0"/>
            </a:endParaRPr>
          </a:p>
          <a:p>
            <a:pPr algn="just"/>
            <a:endParaRPr lang="en-IN" sz="3400" b="1" dirty="0">
              <a:latin typeface="Times New Roman" panose="02020603050405020304" charset="0"/>
              <a:cs typeface="Times New Roman" panose="02020603050405020304" charset="0"/>
            </a:endParaRPr>
          </a:p>
          <a:p>
            <a:pPr algn="just"/>
            <a:endParaRPr lang="en-IN" sz="3400" b="1"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endParaRPr sz="2750" dirty="0">
              <a:latin typeface="Times New Roman" panose="02020603050405020304"/>
              <a:cs typeface="Times New Roman" panose="02020603050405020304"/>
            </a:endParaRPr>
          </a:p>
        </p:txBody>
      </p:sp>
      <p:sp>
        <p:nvSpPr>
          <p:cNvPr id="10" name="TextBox 9"/>
          <p:cNvSpPr txBox="1"/>
          <p:nvPr/>
        </p:nvSpPr>
        <p:spPr>
          <a:xfrm>
            <a:off x="1187499" y="2344750"/>
            <a:ext cx="10101072" cy="923330"/>
          </a:xfrm>
          <a:prstGeom prst="rect">
            <a:avLst/>
          </a:prstGeom>
          <a:noFill/>
        </p:spPr>
        <p:txBody>
          <a:bodyPr wrap="square" rtlCol="0">
            <a:spAutoFit/>
          </a:bodyPr>
          <a:lstStyle/>
          <a:p>
            <a:pPr algn="just"/>
            <a:br>
              <a:rPr lang="ar-AE" dirty="0"/>
            </a:br>
            <a:br>
              <a:rPr lang="en-IN" sz="1800" dirty="0">
                <a:latin typeface="Times New Roman" panose="02020603050405020304" charset="0"/>
                <a:cs typeface="Times New Roman" panose="02020603050405020304" charset="0"/>
              </a:rPr>
            </a:br>
            <a:endParaRPr lang="en-IN" sz="1800" dirty="0">
              <a:latin typeface="Times New Roman" panose="02020603050405020304" charset="0"/>
              <a:cs typeface="Times New Roman" panose="02020603050405020304" charset="0"/>
            </a:endParaRPr>
          </a:p>
        </p:txBody>
      </p:sp>
      <p:graphicFrame>
        <p:nvGraphicFramePr>
          <p:cNvPr id="9" name="Table 8"/>
          <p:cNvGraphicFramePr>
            <a:graphicFrameLocks noGrp="1"/>
          </p:cNvGraphicFramePr>
          <p:nvPr/>
        </p:nvGraphicFramePr>
        <p:xfrm>
          <a:off x="1657268" y="2316480"/>
          <a:ext cx="8128000" cy="2862580"/>
        </p:xfrm>
        <a:graphic>
          <a:graphicData uri="http://schemas.openxmlformats.org/drawingml/2006/table">
            <a:tbl>
              <a:tblPr firstRow="1" bandRow="1">
                <a:tableStyleId>{5C22544A-7EE6-4342-B048-85BDC9FD1C3A}</a:tableStyleId>
              </a:tblPr>
              <a:tblGrid>
                <a:gridCol w="4064000"/>
                <a:gridCol w="4064000"/>
              </a:tblGrid>
              <a:tr h="439420">
                <a:tc>
                  <a:txBody>
                    <a:bodyPr/>
                    <a:lstStyle/>
                    <a:p>
                      <a:pPr algn="ctr" fontAlgn="b">
                        <a:lnSpc>
                          <a:spcPts val="1200"/>
                        </a:lnSpc>
                        <a:buNone/>
                      </a:pPr>
                      <a:r>
                        <a:rPr lang="en-IN" sz="2400" b="1" dirty="0">
                          <a:solidFill>
                            <a:srgbClr val="FFFFFF"/>
                          </a:solidFill>
                          <a:effectLst/>
                          <a:latin typeface="Times New Roman" panose="02020603050405020304" charset="0"/>
                          <a:cs typeface="Times New Roman" panose="02020603050405020304" charset="0"/>
                        </a:rPr>
                        <a:t>Parameter</a:t>
                      </a:r>
                      <a:endParaRPr lang="en-IN" sz="2400" b="1" dirty="0">
                        <a:solidFill>
                          <a:srgbClr val="FFFFFF"/>
                        </a:solidFill>
                        <a:effectLst/>
                        <a:latin typeface="Times New Roman" panose="02020603050405020304" charset="0"/>
                        <a:cs typeface="Times New Roman" panose="02020603050405020304" charset="0"/>
                      </a:endParaRPr>
                    </a:p>
                  </a:txBody>
                  <a:tcPr anchor="b"/>
                </a:tc>
                <a:tc>
                  <a:txBody>
                    <a:bodyPr/>
                    <a:lstStyle/>
                    <a:p>
                      <a:pPr algn="ctr" fontAlgn="b">
                        <a:lnSpc>
                          <a:spcPts val="1200"/>
                        </a:lnSpc>
                        <a:buNone/>
                      </a:pPr>
                      <a:r>
                        <a:rPr lang="en-IN" sz="2400" b="1" dirty="0">
                          <a:solidFill>
                            <a:srgbClr val="FFFFFF"/>
                          </a:solidFill>
                          <a:effectLst/>
                          <a:latin typeface="Times New Roman" panose="02020603050405020304" charset="0"/>
                          <a:cs typeface="Times New Roman" panose="02020603050405020304" charset="0"/>
                        </a:rPr>
                        <a:t>Value</a:t>
                      </a:r>
                      <a:endParaRPr lang="en-IN" sz="2400" b="1" dirty="0">
                        <a:solidFill>
                          <a:srgbClr val="FFFFFF"/>
                        </a:solidFill>
                        <a:effectLst/>
                        <a:latin typeface="Times New Roman" panose="02020603050405020304" charset="0"/>
                        <a:cs typeface="Times New Roman" panose="02020603050405020304" charset="0"/>
                      </a:endParaRPr>
                    </a:p>
                  </a:txBody>
                  <a:tcPr anchor="b"/>
                </a:tc>
              </a:tr>
              <a:tr h="439420">
                <a:tc>
                  <a:txBody>
                    <a:bodyPr/>
                    <a:lstStyle/>
                    <a:p>
                      <a:pPr algn="ctr" fontAlgn="base">
                        <a:buNone/>
                      </a:pPr>
                      <a:r>
                        <a:rPr lang="en-IN" sz="2400" dirty="0">
                          <a:effectLst/>
                          <a:latin typeface="Times New Roman" panose="02020603050405020304" charset="0"/>
                          <a:cs typeface="Times New Roman" panose="02020603050405020304" charset="0"/>
                        </a:rPr>
                        <a:t>Image Size</a:t>
                      </a:r>
                      <a:endParaRPr lang="en-IN" sz="2400" dirty="0">
                        <a:effectLst/>
                        <a:latin typeface="Times New Roman" panose="02020603050405020304" charset="0"/>
                        <a:cs typeface="Times New Roman" panose="02020603050405020304" charset="0"/>
                      </a:endParaRPr>
                    </a:p>
                  </a:txBody>
                  <a:tcPr anchor="ctr"/>
                </a:tc>
                <a:tc>
                  <a:txBody>
                    <a:bodyPr/>
                    <a:lstStyle/>
                    <a:p>
                      <a:pPr algn="ctr" fontAlgn="base">
                        <a:buNone/>
                      </a:pPr>
                      <a:r>
                        <a:rPr lang="en-IN" sz="2400" dirty="0">
                          <a:effectLst/>
                          <a:latin typeface="Times New Roman" panose="02020603050405020304" charset="0"/>
                          <a:cs typeface="Times New Roman" panose="02020603050405020304" charset="0"/>
                        </a:rPr>
                        <a:t>128 × 128</a:t>
                      </a:r>
                      <a:endParaRPr lang="en-IN" sz="2400" dirty="0">
                        <a:effectLst/>
                        <a:latin typeface="Times New Roman" panose="02020603050405020304" charset="0"/>
                        <a:cs typeface="Times New Roman" panose="02020603050405020304" charset="0"/>
                      </a:endParaRPr>
                    </a:p>
                  </a:txBody>
                  <a:tcPr anchor="ctr"/>
                </a:tc>
              </a:tr>
              <a:tr h="439420">
                <a:tc>
                  <a:txBody>
                    <a:bodyPr/>
                    <a:lstStyle/>
                    <a:p>
                      <a:pPr algn="ctr" fontAlgn="base">
                        <a:buNone/>
                      </a:pPr>
                      <a:r>
                        <a:rPr lang="en-IN" sz="2400" dirty="0">
                          <a:effectLst/>
                          <a:latin typeface="Times New Roman" panose="02020603050405020304" charset="0"/>
                          <a:cs typeface="Times New Roman" panose="02020603050405020304" charset="0"/>
                        </a:rPr>
                        <a:t>Batch Size</a:t>
                      </a:r>
                      <a:endParaRPr lang="en-IN" sz="2400" dirty="0">
                        <a:effectLst/>
                        <a:latin typeface="Times New Roman" panose="02020603050405020304" charset="0"/>
                        <a:cs typeface="Times New Roman" panose="02020603050405020304" charset="0"/>
                      </a:endParaRPr>
                    </a:p>
                  </a:txBody>
                  <a:tcPr anchor="ctr"/>
                </a:tc>
                <a:tc>
                  <a:txBody>
                    <a:bodyPr/>
                    <a:lstStyle/>
                    <a:p>
                      <a:pPr algn="ctr" fontAlgn="base">
                        <a:buNone/>
                      </a:pPr>
                      <a:r>
                        <a:rPr lang="en-US" sz="2400" dirty="0">
                          <a:effectLst/>
                          <a:latin typeface="Times New Roman" panose="02020603050405020304" charset="0"/>
                          <a:cs typeface="Times New Roman" panose="02020603050405020304" charset="0"/>
                        </a:rPr>
                        <a:t>32</a:t>
                      </a:r>
                      <a:endParaRPr lang="en-IN" sz="2400" dirty="0">
                        <a:effectLst/>
                        <a:latin typeface="Times New Roman" panose="02020603050405020304" charset="0"/>
                        <a:cs typeface="Times New Roman" panose="02020603050405020304" charset="0"/>
                      </a:endParaRPr>
                    </a:p>
                  </a:txBody>
                  <a:tcPr anchor="ctr"/>
                </a:tc>
              </a:tr>
              <a:tr h="439420">
                <a:tc>
                  <a:txBody>
                    <a:bodyPr/>
                    <a:lstStyle/>
                    <a:p>
                      <a:pPr algn="ctr"/>
                      <a:r>
                        <a:rPr lang="en-IN" sz="2400" b="0" i="0" dirty="0">
                          <a:solidFill>
                            <a:schemeClr val="dk1"/>
                          </a:solidFill>
                          <a:effectLst/>
                          <a:latin typeface="Times New Roman" panose="02020603050405020304" charset="0"/>
                          <a:ea typeface="+mn-ea"/>
                          <a:cs typeface="Times New Roman" panose="02020603050405020304" charset="0"/>
                        </a:rPr>
                        <a:t>Epochs</a:t>
                      </a:r>
                      <a:endParaRPr lang="en-IN" sz="2400" dirty="0">
                        <a:latin typeface="Times New Roman" panose="02020603050405020304" charset="0"/>
                        <a:cs typeface="Times New Roman" panose="02020603050405020304" charset="0"/>
                      </a:endParaRPr>
                    </a:p>
                  </a:txBody>
                  <a:tcPr/>
                </a:tc>
                <a:tc>
                  <a:txBody>
                    <a:bodyPr/>
                    <a:lstStyle/>
                    <a:p>
                      <a:pPr algn="ctr"/>
                      <a:r>
                        <a:rPr lang="en-US" sz="2400" dirty="0">
                          <a:latin typeface="Times New Roman" panose="02020603050405020304" charset="0"/>
                          <a:cs typeface="Times New Roman" panose="02020603050405020304" charset="0"/>
                        </a:rPr>
                        <a:t>50</a:t>
                      </a:r>
                      <a:endParaRPr lang="en-IN" sz="2400" dirty="0">
                        <a:latin typeface="Times New Roman" panose="02020603050405020304" charset="0"/>
                        <a:cs typeface="Times New Roman" panose="02020603050405020304" charset="0"/>
                      </a:endParaRPr>
                    </a:p>
                  </a:txBody>
                  <a:tcPr/>
                </a:tc>
              </a:tr>
              <a:tr h="439420">
                <a:tc>
                  <a:txBody>
                    <a:bodyPr/>
                    <a:lstStyle/>
                    <a:p>
                      <a:pPr algn="ctr" fontAlgn="base">
                        <a:buNone/>
                      </a:pPr>
                      <a:r>
                        <a:rPr lang="en-IN" sz="2400" dirty="0">
                          <a:effectLst/>
                          <a:latin typeface="Times New Roman" panose="02020603050405020304" charset="0"/>
                          <a:cs typeface="Times New Roman" panose="02020603050405020304" charset="0"/>
                        </a:rPr>
                        <a:t>Learning Rate</a:t>
                      </a:r>
                      <a:endParaRPr lang="en-IN" sz="2400" dirty="0">
                        <a:effectLst/>
                        <a:latin typeface="Times New Roman" panose="02020603050405020304" charset="0"/>
                        <a:cs typeface="Times New Roman" panose="02020603050405020304" charset="0"/>
                      </a:endParaRPr>
                    </a:p>
                  </a:txBody>
                  <a:tcPr anchor="ctr"/>
                </a:tc>
                <a:tc>
                  <a:txBody>
                    <a:bodyPr/>
                    <a:lstStyle/>
                    <a:p>
                      <a:pPr algn="ctr" fontAlgn="base">
                        <a:buNone/>
                      </a:pPr>
                      <a:r>
                        <a:rPr lang="en-IN" sz="2400" dirty="0">
                          <a:effectLst/>
                          <a:latin typeface="Times New Roman" panose="02020603050405020304" charset="0"/>
                          <a:cs typeface="Times New Roman" panose="02020603050405020304" charset="0"/>
                        </a:rPr>
                        <a:t>0.001</a:t>
                      </a:r>
                      <a:endParaRPr lang="en-IN" sz="2400" dirty="0">
                        <a:effectLst/>
                        <a:latin typeface="Times New Roman" panose="02020603050405020304" charset="0"/>
                        <a:cs typeface="Times New Roman" panose="02020603050405020304" charset="0"/>
                      </a:endParaRPr>
                    </a:p>
                  </a:txBody>
                  <a:tcPr anchor="ctr"/>
                </a:tc>
              </a:tr>
              <a:tr h="439420">
                <a:tc>
                  <a:txBody>
                    <a:bodyPr/>
                    <a:lstStyle/>
                    <a:p>
                      <a:pPr algn="ctr"/>
                      <a:r>
                        <a:rPr lang="en-IN" sz="2400" b="0" i="0" dirty="0">
                          <a:solidFill>
                            <a:schemeClr val="dk1"/>
                          </a:solidFill>
                          <a:effectLst/>
                          <a:latin typeface="Times New Roman" panose="02020603050405020304" charset="0"/>
                          <a:ea typeface="+mn-ea"/>
                          <a:cs typeface="Times New Roman" panose="02020603050405020304" charset="0"/>
                        </a:rPr>
                        <a:t>Metrics</a:t>
                      </a:r>
                      <a:endParaRPr lang="en-IN" sz="2400" dirty="0">
                        <a:latin typeface="Times New Roman" panose="02020603050405020304" charset="0"/>
                        <a:cs typeface="Times New Roman" panose="02020603050405020304" charset="0"/>
                      </a:endParaRPr>
                    </a:p>
                  </a:txBody>
                  <a:tcPr/>
                </a:tc>
                <a:tc>
                  <a:txBody>
                    <a:bodyPr/>
                    <a:lstStyle/>
                    <a:p>
                      <a:pPr algn="ctr" fontAlgn="base">
                        <a:buNone/>
                      </a:pPr>
                      <a:r>
                        <a:rPr lang="en-IN" sz="2400" dirty="0">
                          <a:effectLst/>
                          <a:latin typeface="Times New Roman" panose="02020603050405020304" charset="0"/>
                          <a:cs typeface="Times New Roman" panose="02020603050405020304" charset="0"/>
                        </a:rPr>
                        <a:t>Accuracy, Dice, </a:t>
                      </a:r>
                      <a:r>
                        <a:rPr lang="en-IN" sz="2400" dirty="0" err="1">
                          <a:effectLst/>
                          <a:latin typeface="Times New Roman" panose="02020603050405020304" charset="0"/>
                          <a:cs typeface="Times New Roman" panose="02020603050405020304" charset="0"/>
                        </a:rPr>
                        <a:t>IoU</a:t>
                      </a:r>
                      <a:endParaRPr lang="en-IN" sz="2400" dirty="0">
                        <a:effectLst/>
                        <a:latin typeface="Times New Roman" panose="02020603050405020304" charset="0"/>
                        <a:cs typeface="Times New Roman" panose="02020603050405020304" charset="0"/>
                      </a:endParaRPr>
                    </a:p>
                  </a:txBody>
                  <a:tcPr marB="182880" anchor="ct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595880">
              <a:lnSpc>
                <a:spcPct val="100000"/>
              </a:lnSpc>
              <a:spcBef>
                <a:spcPts val="130"/>
              </a:spcBef>
            </a:pPr>
            <a:r>
              <a:rPr spc="-45" dirty="0"/>
              <a:t>IMPLEMENTATION</a:t>
            </a:r>
            <a:endParaRPr spc="-45" dirty="0"/>
          </a:p>
        </p:txBody>
      </p:sp>
      <p:sp>
        <p:nvSpPr>
          <p:cNvPr id="4" name="object 4"/>
          <p:cNvSpPr txBox="1">
            <a:spLocks noGrp="1"/>
          </p:cNvSpPr>
          <p:nvPr>
            <p:ph type="dt" sz="half" idx="6"/>
          </p:nvPr>
        </p:nvSpPr>
        <p:spPr>
          <a:xfrm>
            <a:off x="917575" y="6451049"/>
            <a:ext cx="737235" cy="180340"/>
          </a:xfrm>
          <a:prstGeom prst="rect">
            <a:avLst/>
          </a:prstGeom>
        </p:spPr>
        <p:txBody>
          <a:bodyPr vert="horz" wrap="square" lIns="0" tIns="0" rIns="0" bIns="0" rtlCol="0">
            <a:spAutoFit/>
          </a:bodyPr>
          <a:lstStyle/>
          <a:p>
            <a:pPr marL="12700">
              <a:lnSpc>
                <a:spcPts val="1410"/>
              </a:lnSpc>
            </a:pPr>
            <a:endParaRPr spc="-2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panose="02020603050405020304"/>
                <a:cs typeface="Times New Roman" panose="02020603050405020304"/>
              </a:rPr>
              <a:t>Review</a:t>
            </a:r>
            <a:r>
              <a:rPr sz="1200" spc="-3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No.</a:t>
            </a:r>
            <a:endParaRPr sz="1200">
              <a:latin typeface="Times New Roman" panose="02020603050405020304"/>
              <a:cs typeface="Times New Roman" panose="02020603050405020304"/>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panose="02020603050405020304"/>
                <a:cs typeface="Times New Roman" panose="02020603050405020304"/>
              </a:rPr>
              <a:t>Department</a:t>
            </a:r>
            <a:r>
              <a:rPr sz="1200" spc="-30" dirty="0">
                <a:solidFill>
                  <a:srgbClr val="888888"/>
                </a:solidFill>
                <a:latin typeface="Times New Roman" panose="02020603050405020304"/>
                <a:cs typeface="Times New Roman" panose="02020603050405020304"/>
              </a:rPr>
              <a:t> </a:t>
            </a:r>
            <a:r>
              <a:rPr sz="1200" dirty="0">
                <a:solidFill>
                  <a:srgbClr val="888888"/>
                </a:solidFill>
                <a:latin typeface="Times New Roman" panose="02020603050405020304"/>
                <a:cs typeface="Times New Roman" panose="02020603050405020304"/>
              </a:rPr>
              <a:t>of</a:t>
            </a:r>
            <a:r>
              <a:rPr sz="1200" spc="5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CSE</a:t>
            </a:r>
            <a:endParaRPr sz="1200">
              <a:latin typeface="Times New Roman" panose="02020603050405020304"/>
              <a:cs typeface="Times New Roman" panose="02020603050405020304"/>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fld>
            <a:endParaRPr spc="-25" dirty="0"/>
          </a:p>
        </p:txBody>
      </p:sp>
      <p:sp>
        <p:nvSpPr>
          <p:cNvPr id="3" name="object 3"/>
          <p:cNvSpPr txBox="1"/>
          <p:nvPr/>
        </p:nvSpPr>
        <p:spPr>
          <a:xfrm>
            <a:off x="917575" y="1813305"/>
            <a:ext cx="9834245" cy="4493538"/>
          </a:xfrm>
          <a:prstGeom prst="rect">
            <a:avLst/>
          </a:prstGeom>
        </p:spPr>
        <p:txBody>
          <a:bodyPr vert="horz" wrap="square" lIns="0" tIns="60960" rIns="0" bIns="0" rtlCol="0">
            <a:spAutoFit/>
          </a:bodyPr>
          <a:lstStyle/>
          <a:p>
            <a:pPr marL="342900" indent="-342900" algn="just">
              <a:buFont typeface="Arial" panose="020B0604020202020204" pitchFamily="34" charset="0"/>
              <a:buChar char="•"/>
            </a:pPr>
            <a:r>
              <a:rPr lang="en-IN" sz="2400" b="1" dirty="0">
                <a:latin typeface="Times New Roman" panose="02020603050405020304" charset="0"/>
                <a:cs typeface="Times New Roman" panose="02020603050405020304" charset="0"/>
              </a:rPr>
              <a:t>Software:</a:t>
            </a:r>
            <a:r>
              <a:rPr lang="en-IN" sz="2400" dirty="0">
                <a:latin typeface="Times New Roman" panose="02020603050405020304" charset="0"/>
                <a:cs typeface="Times New Roman" panose="02020603050405020304" charset="0"/>
              </a:rPr>
              <a:t> Python, TensorFlow, </a:t>
            </a:r>
            <a:r>
              <a:rPr lang="en-IN" sz="2400" dirty="0" err="1">
                <a:latin typeface="Times New Roman" panose="02020603050405020304" charset="0"/>
                <a:cs typeface="Times New Roman" panose="02020603050405020304" charset="0"/>
              </a:rPr>
              <a:t>Keras</a:t>
            </a:r>
            <a:r>
              <a:rPr lang="en-IN" sz="2400" dirty="0">
                <a:latin typeface="Times New Roman" panose="02020603050405020304" charset="0"/>
                <a:cs typeface="Times New Roman" panose="02020603050405020304" charset="0"/>
              </a:rPr>
              <a:t>, OpenCV, NumPy, Google Colab</a:t>
            </a:r>
            <a:endParaRPr lang="en-IN" sz="2400"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IN" sz="2400" b="1" dirty="0">
                <a:latin typeface="Times New Roman" panose="02020603050405020304" charset="0"/>
                <a:cs typeface="Times New Roman" panose="02020603050405020304" charset="0"/>
              </a:rPr>
              <a:t>Hardware:</a:t>
            </a:r>
            <a:r>
              <a:rPr lang="en-IN" sz="2400" dirty="0">
                <a:latin typeface="Times New Roman" panose="02020603050405020304" charset="0"/>
                <a:cs typeface="Times New Roman" panose="02020603050405020304" charset="0"/>
              </a:rPr>
              <a:t> Intel Core i5 CPU, 8 GB RAM, 256 GB SSD (no GPU)</a:t>
            </a:r>
            <a:endParaRPr lang="en-IN" sz="2400"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IN" sz="2400" b="1" dirty="0">
                <a:latin typeface="Times New Roman" panose="02020603050405020304" charset="0"/>
                <a:cs typeface="Times New Roman" panose="02020603050405020304" charset="0"/>
              </a:rPr>
              <a:t>Process:</a:t>
            </a:r>
            <a:r>
              <a:rPr lang="en-IN" sz="2400" dirty="0">
                <a:latin typeface="Times New Roman" panose="02020603050405020304" charset="0"/>
                <a:cs typeface="Times New Roman" panose="02020603050405020304" charset="0"/>
              </a:rPr>
              <a:t> Model trained on BUSI dataset using U-Net++ for segmentation and CNN for classification.</a:t>
            </a:r>
            <a:endParaRPr lang="en-IN" sz="2400"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IN" sz="2400" b="1" dirty="0">
                <a:latin typeface="Times New Roman" panose="02020603050405020304" charset="0"/>
                <a:cs typeface="Times New Roman" panose="02020603050405020304" charset="0"/>
              </a:rPr>
              <a:t>Challenges &amp; Solutions:</a:t>
            </a:r>
            <a:endParaRPr lang="en-IN" sz="2400" dirty="0">
              <a:latin typeface="Times New Roman" panose="02020603050405020304" charset="0"/>
              <a:cs typeface="Times New Roman" panose="02020603050405020304" charset="0"/>
            </a:endParaRPr>
          </a:p>
          <a:p>
            <a:pPr marL="342900" lvl="1" indent="-342900" algn="just">
              <a:buFont typeface="Arial" panose="020B0604020202020204" pitchFamily="34" charset="0"/>
              <a:buChar char="•"/>
            </a:pPr>
            <a:r>
              <a:rPr lang="en-IN" sz="2400" dirty="0">
                <a:latin typeface="Times New Roman" panose="02020603050405020304" charset="0"/>
                <a:cs typeface="Times New Roman" panose="02020603050405020304" charset="0"/>
              </a:rPr>
              <a:t>Limited data → handled by data augmentation</a:t>
            </a:r>
            <a:endParaRPr lang="en-IN" sz="2400" dirty="0">
              <a:latin typeface="Times New Roman" panose="02020603050405020304" charset="0"/>
              <a:cs typeface="Times New Roman" panose="02020603050405020304" charset="0"/>
            </a:endParaRPr>
          </a:p>
          <a:p>
            <a:pPr marL="342900" lvl="1" indent="-342900" algn="just">
              <a:buFont typeface="Arial" panose="020B0604020202020204" pitchFamily="34" charset="0"/>
              <a:buChar char="•"/>
            </a:pPr>
            <a:r>
              <a:rPr lang="en-IN" sz="2400" dirty="0">
                <a:latin typeface="Times New Roman" panose="02020603050405020304" charset="0"/>
                <a:cs typeface="Times New Roman" panose="02020603050405020304" charset="0"/>
              </a:rPr>
              <a:t>Overfitting → controlled with early stopping</a:t>
            </a:r>
            <a:endParaRPr lang="en-IN" sz="2400" dirty="0">
              <a:latin typeface="Times New Roman" panose="02020603050405020304" charset="0"/>
              <a:cs typeface="Times New Roman" panose="02020603050405020304" charset="0"/>
            </a:endParaRPr>
          </a:p>
          <a:p>
            <a:pPr marL="342900" lvl="1" indent="-342900" algn="just">
              <a:buFont typeface="Arial" panose="020B0604020202020204" pitchFamily="34" charset="0"/>
              <a:buChar char="•"/>
            </a:pPr>
            <a:r>
              <a:rPr lang="en-IN" sz="2400" dirty="0">
                <a:latin typeface="Times New Roman" panose="02020603050405020304" charset="0"/>
                <a:cs typeface="Times New Roman" panose="02020603050405020304" charset="0"/>
              </a:rPr>
              <a:t>Low-contrast images → improved by normalization and preprocessing</a:t>
            </a:r>
            <a:endParaRPr lang="en-IN" sz="2400" dirty="0">
              <a:latin typeface="Times New Roman" panose="02020603050405020304" charset="0"/>
              <a:cs typeface="Times New Roman" panose="02020603050405020304" charset="0"/>
            </a:endParaRPr>
          </a:p>
          <a:p>
            <a:pPr marL="342900" lvl="1" indent="-342900" algn="just">
              <a:buFont typeface="Arial" panose="020B0604020202020204" pitchFamily="34" charset="0"/>
              <a:buChar char="•"/>
            </a:pPr>
            <a:r>
              <a:rPr lang="en-IN" sz="2400" dirty="0">
                <a:latin typeface="Times New Roman" panose="02020603050405020304" charset="0"/>
                <a:cs typeface="Times New Roman" panose="02020603050405020304" charset="0"/>
              </a:rPr>
              <a:t>Long training time → reduced using optimized architecture and batch processing</a:t>
            </a:r>
            <a:endParaRPr lang="en-IN" sz="2400" dirty="0">
              <a:latin typeface="Times New Roman" panose="02020603050405020304" charset="0"/>
              <a:cs typeface="Times New Roman" panose="02020603050405020304" charset="0"/>
            </a:endParaRPr>
          </a:p>
          <a:p>
            <a:pPr algn="just"/>
            <a:br>
              <a:rPr lang="en-IN" sz="2400" dirty="0">
                <a:latin typeface="Times New Roman" panose="02020603050405020304" charset="0"/>
                <a:cs typeface="Times New Roman" panose="02020603050405020304" charset="0"/>
              </a:rPr>
            </a:br>
            <a:endParaRPr sz="2400" dirty="0">
              <a:latin typeface="Times New Roman" panose="02020603050405020304" charset="0"/>
              <a:cs typeface="Times New Roman" panose="0202060305040502030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45463" y="283463"/>
            <a:ext cx="10101072" cy="942565"/>
          </a:xfrm>
          <a:prstGeom prst="rect">
            <a:avLst/>
          </a:prstGeom>
        </p:spPr>
        <p:txBody>
          <a:bodyPr vert="horz" wrap="square" lIns="0" tIns="262889" rIns="0" bIns="0" rtlCol="0">
            <a:spAutoFit/>
          </a:bodyPr>
          <a:lstStyle/>
          <a:p>
            <a:pPr marL="2231390">
              <a:lnSpc>
                <a:spcPct val="100000"/>
              </a:lnSpc>
              <a:spcBef>
                <a:spcPts val="130"/>
              </a:spcBef>
            </a:pPr>
            <a:r>
              <a:rPr spc="-10" dirty="0"/>
              <a:t>R</a:t>
            </a:r>
            <a:r>
              <a:rPr spc="75" dirty="0"/>
              <a:t>E</a:t>
            </a:r>
            <a:r>
              <a:rPr spc="-30" dirty="0"/>
              <a:t>S</a:t>
            </a:r>
            <a:r>
              <a:rPr spc="60" dirty="0"/>
              <a:t>U</a:t>
            </a:r>
            <a:r>
              <a:rPr spc="-445" dirty="0"/>
              <a:t>L</a:t>
            </a:r>
            <a:r>
              <a:rPr spc="5" dirty="0"/>
              <a:t>T</a:t>
            </a:r>
            <a:r>
              <a:rPr spc="35" dirty="0"/>
              <a:t>S</a:t>
            </a:r>
            <a:r>
              <a:rPr spc="-215" dirty="0"/>
              <a:t> </a:t>
            </a:r>
            <a:r>
              <a:rPr dirty="0"/>
              <a:t>&amp;</a:t>
            </a:r>
            <a:r>
              <a:rPr spc="-285" dirty="0"/>
              <a:t> </a:t>
            </a:r>
            <a:r>
              <a:rPr spc="-25" dirty="0"/>
              <a:t>ANALYSIS</a:t>
            </a:r>
            <a:endParaRPr spc="-25" dirty="0"/>
          </a:p>
        </p:txBody>
      </p:sp>
      <p:sp>
        <p:nvSpPr>
          <p:cNvPr id="4" name="object 4"/>
          <p:cNvSpPr txBox="1">
            <a:spLocks noGrp="1"/>
          </p:cNvSpPr>
          <p:nvPr>
            <p:ph type="dt" sz="half" idx="6"/>
          </p:nvPr>
        </p:nvSpPr>
        <p:spPr>
          <a:xfrm>
            <a:off x="917575" y="6451049"/>
            <a:ext cx="737235" cy="180340"/>
          </a:xfrm>
          <a:prstGeom prst="rect">
            <a:avLst/>
          </a:prstGeom>
        </p:spPr>
        <p:txBody>
          <a:bodyPr vert="horz" wrap="square" lIns="0" tIns="0" rIns="0" bIns="0" rtlCol="0">
            <a:spAutoFit/>
          </a:bodyPr>
          <a:lstStyle/>
          <a:p>
            <a:pPr marL="12700">
              <a:lnSpc>
                <a:spcPts val="1410"/>
              </a:lnSpc>
            </a:pPr>
            <a:endParaRPr spc="-2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panose="02020603050405020304"/>
                <a:cs typeface="Times New Roman" panose="02020603050405020304"/>
              </a:rPr>
              <a:t>Review</a:t>
            </a:r>
            <a:r>
              <a:rPr sz="1200" spc="-3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No.</a:t>
            </a:r>
            <a:endParaRPr sz="1200">
              <a:latin typeface="Times New Roman" panose="02020603050405020304"/>
              <a:cs typeface="Times New Roman" panose="02020603050405020304"/>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panose="02020603050405020304"/>
                <a:cs typeface="Times New Roman" panose="02020603050405020304"/>
              </a:rPr>
              <a:t>Department</a:t>
            </a:r>
            <a:r>
              <a:rPr sz="1200" spc="-30" dirty="0">
                <a:solidFill>
                  <a:srgbClr val="888888"/>
                </a:solidFill>
                <a:latin typeface="Times New Roman" panose="02020603050405020304"/>
                <a:cs typeface="Times New Roman" panose="02020603050405020304"/>
              </a:rPr>
              <a:t> </a:t>
            </a:r>
            <a:r>
              <a:rPr sz="1200" dirty="0">
                <a:solidFill>
                  <a:srgbClr val="888888"/>
                </a:solidFill>
                <a:latin typeface="Times New Roman" panose="02020603050405020304"/>
                <a:cs typeface="Times New Roman" panose="02020603050405020304"/>
              </a:rPr>
              <a:t>of</a:t>
            </a:r>
            <a:r>
              <a:rPr sz="1200" spc="5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CSE</a:t>
            </a:r>
            <a:endParaRPr sz="1200">
              <a:latin typeface="Times New Roman" panose="02020603050405020304"/>
              <a:cs typeface="Times New Roman" panose="02020603050405020304"/>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fld>
            <a:endParaRPr spc="-25" dirty="0"/>
          </a:p>
        </p:txBody>
      </p:sp>
      <p:sp>
        <p:nvSpPr>
          <p:cNvPr id="9" name="TextBox 8"/>
          <p:cNvSpPr txBox="1"/>
          <p:nvPr/>
        </p:nvSpPr>
        <p:spPr>
          <a:xfrm>
            <a:off x="917575" y="1371600"/>
            <a:ext cx="5483225" cy="615553"/>
          </a:xfrm>
          <a:prstGeom prst="rect">
            <a:avLst/>
          </a:prstGeom>
          <a:noFill/>
        </p:spPr>
        <p:txBody>
          <a:bodyPr wrap="square" rtlCol="0">
            <a:spAutoFit/>
          </a:bodyPr>
          <a:lstStyle/>
          <a:p>
            <a:r>
              <a:rPr lang="en-IN" sz="3400" b="1" dirty="0">
                <a:latin typeface="Times New Roman" panose="02020603050405020304" charset="0"/>
                <a:cs typeface="Times New Roman" panose="02020603050405020304" charset="0"/>
              </a:rPr>
              <a:t>Segmentation Phase</a:t>
            </a:r>
            <a:endParaRPr lang="en-IN" sz="3400" b="1" dirty="0">
              <a:latin typeface="Times New Roman" panose="02020603050405020304" charset="0"/>
              <a:cs typeface="Times New Roman" panose="02020603050405020304" charset="0"/>
            </a:endParaRPr>
          </a:p>
        </p:txBody>
      </p:sp>
      <p:pic>
        <p:nvPicPr>
          <p:cNvPr id="11" name="Picture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934200" y="2057400"/>
            <a:ext cx="5013649" cy="3429000"/>
          </a:xfrm>
          <a:prstGeom prst="rect">
            <a:avLst/>
          </a:prstGeom>
        </p:spPr>
      </p:pic>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5462" y="2742493"/>
            <a:ext cx="5355337" cy="1629002"/>
          </a:xfrm>
          <a:prstGeom prst="rect">
            <a:avLst/>
          </a:prstGeom>
        </p:spPr>
      </p:pic>
      <p:sp>
        <p:nvSpPr>
          <p:cNvPr id="15" name="TextBox 14"/>
          <p:cNvSpPr txBox="1"/>
          <p:nvPr/>
        </p:nvSpPr>
        <p:spPr>
          <a:xfrm>
            <a:off x="1045462" y="5486400"/>
            <a:ext cx="10689338" cy="369332"/>
          </a:xfrm>
          <a:prstGeom prst="rect">
            <a:avLst/>
          </a:prstGeom>
          <a:noFill/>
        </p:spPr>
        <p:txBody>
          <a:bodyPr wrap="square" rtlCol="0">
            <a:spAutoFit/>
          </a:bodyPr>
          <a:lstStyle/>
          <a:p>
            <a:r>
              <a:rPr lang="en-US" i="1" dirty="0">
                <a:latin typeface="Times New Roman" panose="02020603050405020304" charset="0"/>
                <a:cs typeface="Times New Roman" panose="02020603050405020304" charset="0"/>
              </a:rPr>
              <a:t>U-Net++ outperformed U-Net with higher Dice and </a:t>
            </a:r>
            <a:r>
              <a:rPr lang="en-US" i="1" dirty="0" err="1">
                <a:latin typeface="Times New Roman" panose="02020603050405020304" charset="0"/>
                <a:cs typeface="Times New Roman" panose="02020603050405020304" charset="0"/>
              </a:rPr>
              <a:t>IoU</a:t>
            </a:r>
            <a:r>
              <a:rPr lang="en-US" i="1" dirty="0">
                <a:latin typeface="Times New Roman" panose="02020603050405020304" charset="0"/>
                <a:cs typeface="Times New Roman" panose="02020603050405020304" charset="0"/>
              </a:rPr>
              <a:t>, achieving 99.07% segmentation accuracy.</a:t>
            </a:r>
            <a:endParaRPr lang="en-IN" i="1" dirty="0">
              <a:latin typeface="Times New Roman" panose="02020603050405020304" charset="0"/>
              <a:cs typeface="Times New Roman" panose="0202060305040502030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45463" y="283463"/>
            <a:ext cx="10101072" cy="942565"/>
          </a:xfrm>
          <a:prstGeom prst="rect">
            <a:avLst/>
          </a:prstGeom>
        </p:spPr>
        <p:txBody>
          <a:bodyPr vert="horz" wrap="square" lIns="0" tIns="262889" rIns="0" bIns="0" rtlCol="0">
            <a:spAutoFit/>
          </a:bodyPr>
          <a:lstStyle/>
          <a:p>
            <a:pPr marL="2231390">
              <a:lnSpc>
                <a:spcPct val="100000"/>
              </a:lnSpc>
              <a:spcBef>
                <a:spcPts val="130"/>
              </a:spcBef>
            </a:pPr>
            <a:r>
              <a:rPr spc="-10" dirty="0"/>
              <a:t>R</a:t>
            </a:r>
            <a:r>
              <a:rPr spc="75" dirty="0"/>
              <a:t>E</a:t>
            </a:r>
            <a:r>
              <a:rPr spc="-30" dirty="0"/>
              <a:t>S</a:t>
            </a:r>
            <a:r>
              <a:rPr spc="60" dirty="0"/>
              <a:t>U</a:t>
            </a:r>
            <a:r>
              <a:rPr spc="-445" dirty="0"/>
              <a:t>L</a:t>
            </a:r>
            <a:r>
              <a:rPr spc="5" dirty="0"/>
              <a:t>T</a:t>
            </a:r>
            <a:r>
              <a:rPr spc="35" dirty="0"/>
              <a:t>S</a:t>
            </a:r>
            <a:r>
              <a:rPr spc="-215" dirty="0"/>
              <a:t> </a:t>
            </a:r>
            <a:r>
              <a:rPr dirty="0"/>
              <a:t>&amp;</a:t>
            </a:r>
            <a:r>
              <a:rPr spc="-285" dirty="0"/>
              <a:t> </a:t>
            </a:r>
            <a:r>
              <a:rPr spc="-25" dirty="0"/>
              <a:t>ANALYSIS</a:t>
            </a:r>
            <a:endParaRPr spc="-25" dirty="0"/>
          </a:p>
        </p:txBody>
      </p:sp>
      <p:sp>
        <p:nvSpPr>
          <p:cNvPr id="4" name="object 4"/>
          <p:cNvSpPr txBox="1">
            <a:spLocks noGrp="1"/>
          </p:cNvSpPr>
          <p:nvPr>
            <p:ph type="dt" sz="half" idx="6"/>
          </p:nvPr>
        </p:nvSpPr>
        <p:spPr>
          <a:xfrm>
            <a:off x="917575" y="6451049"/>
            <a:ext cx="737235" cy="180340"/>
          </a:xfrm>
          <a:prstGeom prst="rect">
            <a:avLst/>
          </a:prstGeom>
        </p:spPr>
        <p:txBody>
          <a:bodyPr vert="horz" wrap="square" lIns="0" tIns="0" rIns="0" bIns="0" rtlCol="0">
            <a:spAutoFit/>
          </a:bodyPr>
          <a:lstStyle/>
          <a:p>
            <a:pPr marL="12700">
              <a:lnSpc>
                <a:spcPts val="1410"/>
              </a:lnSpc>
            </a:pPr>
            <a:endParaRPr spc="-2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panose="02020603050405020304"/>
                <a:cs typeface="Times New Roman" panose="02020603050405020304"/>
              </a:rPr>
              <a:t>Review</a:t>
            </a:r>
            <a:r>
              <a:rPr sz="1200" spc="-3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No.</a:t>
            </a:r>
            <a:endParaRPr sz="1200">
              <a:latin typeface="Times New Roman" panose="02020603050405020304"/>
              <a:cs typeface="Times New Roman" panose="02020603050405020304"/>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panose="02020603050405020304"/>
                <a:cs typeface="Times New Roman" panose="02020603050405020304"/>
              </a:rPr>
              <a:t>Department</a:t>
            </a:r>
            <a:r>
              <a:rPr sz="1200" spc="-30" dirty="0">
                <a:solidFill>
                  <a:srgbClr val="888888"/>
                </a:solidFill>
                <a:latin typeface="Times New Roman" panose="02020603050405020304"/>
                <a:cs typeface="Times New Roman" panose="02020603050405020304"/>
              </a:rPr>
              <a:t> </a:t>
            </a:r>
            <a:r>
              <a:rPr sz="1200" dirty="0">
                <a:solidFill>
                  <a:srgbClr val="888888"/>
                </a:solidFill>
                <a:latin typeface="Times New Roman" panose="02020603050405020304"/>
                <a:cs typeface="Times New Roman" panose="02020603050405020304"/>
              </a:rPr>
              <a:t>of</a:t>
            </a:r>
            <a:r>
              <a:rPr sz="1200" spc="5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CSE</a:t>
            </a:r>
            <a:endParaRPr sz="1200">
              <a:latin typeface="Times New Roman" panose="02020603050405020304"/>
              <a:cs typeface="Times New Roman" panose="02020603050405020304"/>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fld>
            <a:endParaRPr spc="-25" dirty="0"/>
          </a:p>
        </p:txBody>
      </p:sp>
      <p:sp>
        <p:nvSpPr>
          <p:cNvPr id="9" name="TextBox 8"/>
          <p:cNvSpPr txBox="1"/>
          <p:nvPr/>
        </p:nvSpPr>
        <p:spPr>
          <a:xfrm>
            <a:off x="917575" y="1371600"/>
            <a:ext cx="5483225" cy="615553"/>
          </a:xfrm>
          <a:prstGeom prst="rect">
            <a:avLst/>
          </a:prstGeom>
          <a:noFill/>
        </p:spPr>
        <p:txBody>
          <a:bodyPr wrap="square" rtlCol="0">
            <a:spAutoFit/>
          </a:bodyPr>
          <a:lstStyle/>
          <a:p>
            <a:r>
              <a:rPr lang="en-IN" sz="3400" b="1" dirty="0">
                <a:latin typeface="Times New Roman" panose="02020603050405020304" charset="0"/>
                <a:cs typeface="Times New Roman" panose="02020603050405020304" charset="0"/>
              </a:rPr>
              <a:t>Classification Phase</a:t>
            </a:r>
            <a:endParaRPr lang="en-IN" sz="3400" b="1" dirty="0">
              <a:latin typeface="Times New Roman" panose="02020603050405020304" charset="0"/>
              <a:cs typeface="Times New Roman" panose="02020603050405020304" charset="0"/>
            </a:endParaRPr>
          </a:p>
        </p:txBody>
      </p:sp>
      <p:pic>
        <p:nvPicPr>
          <p:cNvPr id="11" name="Picture 10"/>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a:off x="6248400" y="2132726"/>
            <a:ext cx="5186305" cy="3125074"/>
          </a:xfrm>
          <a:prstGeom prst="rect">
            <a:avLst/>
          </a:prstGeom>
        </p:spPr>
      </p:pic>
      <p:pic>
        <p:nvPicPr>
          <p:cNvPr id="13" name="Picture 1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977452" y="2095062"/>
            <a:ext cx="4432748" cy="3283428"/>
          </a:xfrm>
          <a:prstGeom prst="rect">
            <a:avLst/>
          </a:prstGeom>
        </p:spPr>
      </p:pic>
      <p:sp>
        <p:nvSpPr>
          <p:cNvPr id="15" name="TextBox 14"/>
          <p:cNvSpPr txBox="1"/>
          <p:nvPr/>
        </p:nvSpPr>
        <p:spPr>
          <a:xfrm>
            <a:off x="1045462" y="5486400"/>
            <a:ext cx="10689338" cy="646331"/>
          </a:xfrm>
          <a:prstGeom prst="rect">
            <a:avLst/>
          </a:prstGeom>
          <a:noFill/>
        </p:spPr>
        <p:txBody>
          <a:bodyPr wrap="square" rtlCol="0">
            <a:spAutoFit/>
          </a:bodyPr>
          <a:lstStyle/>
          <a:p>
            <a:r>
              <a:rPr lang="en-US" i="1" dirty="0">
                <a:latin typeface="Times New Roman" panose="02020603050405020304" charset="0"/>
                <a:cs typeface="Times New Roman" panose="02020603050405020304" charset="0"/>
              </a:rPr>
              <a:t>The proposed U-Net++ + CNN framework achieved 96.04% accuracy, offering improved interpretability and lesion-focused learning.</a:t>
            </a:r>
            <a:endParaRPr lang="en-IN" i="1" dirty="0">
              <a:latin typeface="Times New Roman" panose="02020603050405020304" charset="0"/>
              <a:cs typeface="Times New Roman" panose="0202060305040502030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308985" y="426085"/>
            <a:ext cx="7837170" cy="596265"/>
          </a:xfrm>
        </p:spPr>
        <p:txBody>
          <a:bodyPr>
            <a:noAutofit/>
          </a:bodyPr>
          <a:p>
            <a:r>
              <a:rPr spc="-10" dirty="0">
                <a:sym typeface="+mn-ea"/>
              </a:rPr>
              <a:t>R</a:t>
            </a:r>
            <a:r>
              <a:rPr spc="75" dirty="0">
                <a:sym typeface="+mn-ea"/>
              </a:rPr>
              <a:t>E</a:t>
            </a:r>
            <a:r>
              <a:rPr spc="-30" dirty="0">
                <a:sym typeface="+mn-ea"/>
              </a:rPr>
              <a:t>S</a:t>
            </a:r>
            <a:r>
              <a:rPr spc="60" dirty="0">
                <a:sym typeface="+mn-ea"/>
              </a:rPr>
              <a:t>U</a:t>
            </a:r>
            <a:r>
              <a:rPr spc="-445" dirty="0">
                <a:sym typeface="+mn-ea"/>
              </a:rPr>
              <a:t>L</a:t>
            </a:r>
            <a:r>
              <a:rPr spc="5" dirty="0">
                <a:sym typeface="+mn-ea"/>
              </a:rPr>
              <a:t>T</a:t>
            </a:r>
            <a:r>
              <a:rPr spc="35" dirty="0">
                <a:sym typeface="+mn-ea"/>
              </a:rPr>
              <a:t>S</a:t>
            </a:r>
            <a:r>
              <a:rPr spc="-215" dirty="0">
                <a:sym typeface="+mn-ea"/>
              </a:rPr>
              <a:t> </a:t>
            </a:r>
            <a:r>
              <a:rPr dirty="0">
                <a:sym typeface="+mn-ea"/>
              </a:rPr>
              <a:t>&amp;</a:t>
            </a:r>
            <a:r>
              <a:rPr spc="-285" dirty="0">
                <a:sym typeface="+mn-ea"/>
              </a:rPr>
              <a:t> </a:t>
            </a:r>
            <a:r>
              <a:rPr spc="-25" dirty="0">
                <a:sym typeface="+mn-ea"/>
              </a:rPr>
              <a:t>ANALYSIS</a:t>
            </a:r>
            <a:endParaRPr lang="en-US"/>
          </a:p>
        </p:txBody>
      </p:sp>
      <p:pic>
        <p:nvPicPr>
          <p:cNvPr id="4" name="Picture 3" descr="accuracy_line"/>
          <p:cNvPicPr>
            <a:picLocks noChangeAspect="1"/>
          </p:cNvPicPr>
          <p:nvPr/>
        </p:nvPicPr>
        <p:blipFill>
          <a:blip r:embed="rId1"/>
          <a:stretch>
            <a:fillRect/>
          </a:stretch>
        </p:blipFill>
        <p:spPr>
          <a:xfrm>
            <a:off x="546735" y="990600"/>
            <a:ext cx="4500245" cy="2858135"/>
          </a:xfrm>
          <a:prstGeom prst="rect">
            <a:avLst/>
          </a:prstGeom>
        </p:spPr>
      </p:pic>
      <p:pic>
        <p:nvPicPr>
          <p:cNvPr id="5" name="Picture 4" descr="precision_line"/>
          <p:cNvPicPr>
            <a:picLocks noChangeAspect="1"/>
          </p:cNvPicPr>
          <p:nvPr/>
        </p:nvPicPr>
        <p:blipFill>
          <a:blip r:embed="rId2"/>
          <a:stretch>
            <a:fillRect/>
          </a:stretch>
        </p:blipFill>
        <p:spPr>
          <a:xfrm>
            <a:off x="6303645" y="1066800"/>
            <a:ext cx="4565650" cy="2782570"/>
          </a:xfrm>
          <a:prstGeom prst="rect">
            <a:avLst/>
          </a:prstGeom>
        </p:spPr>
      </p:pic>
      <p:pic>
        <p:nvPicPr>
          <p:cNvPr id="6" name="Picture 5" descr="recall_line"/>
          <p:cNvPicPr>
            <a:picLocks noChangeAspect="1"/>
          </p:cNvPicPr>
          <p:nvPr/>
        </p:nvPicPr>
        <p:blipFill>
          <a:blip r:embed="rId3"/>
          <a:stretch>
            <a:fillRect/>
          </a:stretch>
        </p:blipFill>
        <p:spPr>
          <a:xfrm>
            <a:off x="733425" y="3983355"/>
            <a:ext cx="3986530" cy="2676525"/>
          </a:xfrm>
          <a:prstGeom prst="rect">
            <a:avLst/>
          </a:prstGeom>
        </p:spPr>
      </p:pic>
      <p:pic>
        <p:nvPicPr>
          <p:cNvPr id="7" name="Picture 6" descr="f1_line"/>
          <p:cNvPicPr>
            <a:picLocks noChangeAspect="1"/>
          </p:cNvPicPr>
          <p:nvPr/>
        </p:nvPicPr>
        <p:blipFill>
          <a:blip r:embed="rId4"/>
          <a:stretch>
            <a:fillRect/>
          </a:stretch>
        </p:blipFill>
        <p:spPr>
          <a:xfrm>
            <a:off x="6397625" y="3983355"/>
            <a:ext cx="4424680" cy="265366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588010">
              <a:lnSpc>
                <a:spcPct val="100000"/>
              </a:lnSpc>
              <a:spcBef>
                <a:spcPts val="130"/>
              </a:spcBef>
            </a:pPr>
            <a:r>
              <a:rPr dirty="0"/>
              <a:t>CONCLUSION</a:t>
            </a:r>
            <a:r>
              <a:rPr spc="-140" dirty="0"/>
              <a:t> </a:t>
            </a:r>
            <a:r>
              <a:rPr dirty="0"/>
              <a:t>and</a:t>
            </a:r>
            <a:r>
              <a:rPr spc="-85" dirty="0"/>
              <a:t> </a:t>
            </a:r>
            <a:r>
              <a:rPr dirty="0"/>
              <a:t>FUTURE</a:t>
            </a:r>
            <a:r>
              <a:rPr spc="-120" dirty="0"/>
              <a:t> </a:t>
            </a:r>
            <a:r>
              <a:rPr spc="-10" dirty="0"/>
              <a:t>SCOPE</a:t>
            </a:r>
            <a:endParaRPr spc="-10" dirty="0"/>
          </a:p>
        </p:txBody>
      </p:sp>
      <p:sp>
        <p:nvSpPr>
          <p:cNvPr id="4" name="object 4"/>
          <p:cNvSpPr txBox="1">
            <a:spLocks noGrp="1"/>
          </p:cNvSpPr>
          <p:nvPr>
            <p:ph type="dt" sz="half" idx="6"/>
          </p:nvPr>
        </p:nvSpPr>
        <p:spPr>
          <a:xfrm>
            <a:off x="917575" y="6451049"/>
            <a:ext cx="737235" cy="180340"/>
          </a:xfrm>
          <a:prstGeom prst="rect">
            <a:avLst/>
          </a:prstGeom>
        </p:spPr>
        <p:txBody>
          <a:bodyPr vert="horz" wrap="square" lIns="0" tIns="0" rIns="0" bIns="0" rtlCol="0">
            <a:spAutoFit/>
          </a:bodyPr>
          <a:lstStyle/>
          <a:p>
            <a:pPr marL="12700">
              <a:lnSpc>
                <a:spcPts val="1410"/>
              </a:lnSpc>
            </a:pPr>
            <a:endParaRPr spc="-2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panose="02020603050405020304"/>
                <a:cs typeface="Times New Roman" panose="02020603050405020304"/>
              </a:rPr>
              <a:t>Review</a:t>
            </a:r>
            <a:r>
              <a:rPr sz="1200" spc="-3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No.</a:t>
            </a:r>
            <a:endParaRPr sz="1200">
              <a:latin typeface="Times New Roman" panose="02020603050405020304"/>
              <a:cs typeface="Times New Roman" panose="02020603050405020304"/>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panose="02020603050405020304"/>
                <a:cs typeface="Times New Roman" panose="02020603050405020304"/>
              </a:rPr>
              <a:t>Department</a:t>
            </a:r>
            <a:r>
              <a:rPr sz="1200" spc="-30" dirty="0">
                <a:solidFill>
                  <a:srgbClr val="888888"/>
                </a:solidFill>
                <a:latin typeface="Times New Roman" panose="02020603050405020304"/>
                <a:cs typeface="Times New Roman" panose="02020603050405020304"/>
              </a:rPr>
              <a:t> </a:t>
            </a:r>
            <a:r>
              <a:rPr sz="1200" dirty="0">
                <a:solidFill>
                  <a:srgbClr val="888888"/>
                </a:solidFill>
                <a:latin typeface="Times New Roman" panose="02020603050405020304"/>
                <a:cs typeface="Times New Roman" panose="02020603050405020304"/>
              </a:rPr>
              <a:t>of</a:t>
            </a:r>
            <a:r>
              <a:rPr sz="1200" spc="5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CSE</a:t>
            </a:r>
            <a:endParaRPr sz="1200">
              <a:latin typeface="Times New Roman" panose="02020603050405020304"/>
              <a:cs typeface="Times New Roman" panose="02020603050405020304"/>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fld>
            <a:endParaRPr spc="-25" dirty="0"/>
          </a:p>
        </p:txBody>
      </p:sp>
      <p:sp>
        <p:nvSpPr>
          <p:cNvPr id="3" name="object 3"/>
          <p:cNvSpPr txBox="1">
            <a:spLocks noGrp="1"/>
          </p:cNvSpPr>
          <p:nvPr>
            <p:ph type="body" idx="1"/>
          </p:nvPr>
        </p:nvSpPr>
        <p:spPr>
          <a:xfrm>
            <a:off x="917575" y="1483468"/>
            <a:ext cx="10356850" cy="3793346"/>
          </a:xfrm>
          <a:prstGeom prst="rect">
            <a:avLst/>
          </a:prstGeom>
        </p:spPr>
        <p:txBody>
          <a:bodyPr vert="horz" wrap="square" lIns="0" tIns="99060" rIns="0" bIns="0" rtlCol="0">
            <a:spAutoFit/>
          </a:bodyPr>
          <a:lstStyle/>
          <a:p>
            <a:pPr marL="342900" indent="-342900" algn="just">
              <a:buFont typeface="Arial" panose="020B0604020202020204" pitchFamily="34" charset="0"/>
              <a:buChar char="•"/>
            </a:pPr>
            <a:r>
              <a:rPr lang="en-IN" sz="2400" dirty="0">
                <a:latin typeface="Times New Roman" panose="02020603050405020304" charset="0"/>
                <a:cs typeface="Times New Roman" panose="02020603050405020304" charset="0"/>
              </a:rPr>
              <a:t>Proposed a </a:t>
            </a:r>
            <a:r>
              <a:rPr lang="en-IN" sz="2400" b="1" dirty="0">
                <a:latin typeface="Times New Roman" panose="02020603050405020304" charset="0"/>
                <a:cs typeface="Times New Roman" panose="02020603050405020304" charset="0"/>
              </a:rPr>
              <a:t>segmentation-guided deep learning model</a:t>
            </a:r>
            <a:r>
              <a:rPr lang="en-IN" sz="2400" dirty="0">
                <a:latin typeface="Times New Roman" panose="02020603050405020304" charset="0"/>
                <a:cs typeface="Times New Roman" panose="02020603050405020304" charset="0"/>
              </a:rPr>
              <a:t> for breast cancer detection using ultrasound images.</a:t>
            </a:r>
            <a:endParaRPr lang="en-IN" sz="2400"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IN" sz="2400" b="1" dirty="0">
                <a:latin typeface="Times New Roman" panose="02020603050405020304" charset="0"/>
                <a:cs typeface="Times New Roman" panose="02020603050405020304" charset="0"/>
              </a:rPr>
              <a:t>U-Net++ + CNN</a:t>
            </a:r>
            <a:r>
              <a:rPr lang="en-IN" sz="2400" dirty="0">
                <a:latin typeface="Times New Roman" panose="02020603050405020304" charset="0"/>
                <a:cs typeface="Times New Roman" panose="02020603050405020304" charset="0"/>
              </a:rPr>
              <a:t> achieved high accuracy with improved interpretability and lesion focus.</a:t>
            </a:r>
            <a:endParaRPr lang="en-IN" sz="2400"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IN" sz="2400" dirty="0">
                <a:latin typeface="Times New Roman" panose="02020603050405020304" charset="0"/>
                <a:cs typeface="Times New Roman" panose="02020603050405020304" charset="0"/>
              </a:rPr>
              <a:t>Demonstrated potential for </a:t>
            </a:r>
            <a:r>
              <a:rPr lang="en-IN" sz="2400" b="1" dirty="0">
                <a:latin typeface="Times New Roman" panose="02020603050405020304" charset="0"/>
                <a:cs typeface="Times New Roman" panose="02020603050405020304" charset="0"/>
              </a:rPr>
              <a:t>clinical decision support</a:t>
            </a:r>
            <a:r>
              <a:rPr lang="en-IN" sz="2400" dirty="0">
                <a:latin typeface="Times New Roman" panose="02020603050405020304" charset="0"/>
                <a:cs typeface="Times New Roman" panose="02020603050405020304" charset="0"/>
              </a:rPr>
              <a:t> in early cancer diagnosis.</a:t>
            </a:r>
            <a:endParaRPr lang="en-IN" sz="2400"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IN" sz="2400" b="1" dirty="0">
                <a:latin typeface="Times New Roman" panose="02020603050405020304" charset="0"/>
                <a:cs typeface="Times New Roman" panose="02020603050405020304" charset="0"/>
              </a:rPr>
              <a:t>Future Work:</a:t>
            </a:r>
            <a:endParaRPr lang="en-IN" sz="2400" dirty="0">
              <a:latin typeface="Times New Roman" panose="02020603050405020304" charset="0"/>
              <a:cs typeface="Times New Roman" panose="02020603050405020304" charset="0"/>
            </a:endParaRPr>
          </a:p>
          <a:p>
            <a:pPr marL="800100" lvl="1" indent="-342900" algn="just">
              <a:buFont typeface="Arial" panose="020B0604020202020204" pitchFamily="34" charset="0"/>
              <a:buChar char="•"/>
            </a:pPr>
            <a:r>
              <a:rPr lang="en-IN" sz="2400" dirty="0">
                <a:latin typeface="Times New Roman" panose="02020603050405020304" charset="0"/>
                <a:cs typeface="Times New Roman" panose="02020603050405020304" charset="0"/>
              </a:rPr>
              <a:t>Train on larger, diverse datasets.</a:t>
            </a:r>
            <a:endParaRPr lang="en-IN" sz="2400" dirty="0">
              <a:latin typeface="Times New Roman" panose="02020603050405020304" charset="0"/>
              <a:cs typeface="Times New Roman" panose="02020603050405020304" charset="0"/>
            </a:endParaRPr>
          </a:p>
          <a:p>
            <a:pPr marL="800100" lvl="1" indent="-342900" algn="just">
              <a:buFont typeface="Arial" panose="020B0604020202020204" pitchFamily="34" charset="0"/>
              <a:buChar char="•"/>
            </a:pPr>
            <a:r>
              <a:rPr lang="en-IN" sz="2400" dirty="0">
                <a:latin typeface="Times New Roman" panose="02020603050405020304" charset="0"/>
                <a:cs typeface="Times New Roman" panose="02020603050405020304" charset="0"/>
              </a:rPr>
              <a:t>Develop </a:t>
            </a:r>
            <a:r>
              <a:rPr lang="en-IN" sz="2400" b="1" dirty="0">
                <a:latin typeface="Times New Roman" panose="02020603050405020304" charset="0"/>
                <a:cs typeface="Times New Roman" panose="02020603050405020304" charset="0"/>
              </a:rPr>
              <a:t>real-time clinical integration</a:t>
            </a:r>
            <a:r>
              <a:rPr lang="en-IN" sz="2400" dirty="0">
                <a:latin typeface="Times New Roman" panose="02020603050405020304" charset="0"/>
                <a:cs typeface="Times New Roman" panose="02020603050405020304" charset="0"/>
              </a:rPr>
              <a:t>.</a:t>
            </a:r>
            <a:endParaRPr lang="en-IN" sz="2400" dirty="0">
              <a:latin typeface="Times New Roman" panose="02020603050405020304" charset="0"/>
              <a:cs typeface="Times New Roman" panose="02020603050405020304" charset="0"/>
            </a:endParaRPr>
          </a:p>
          <a:p>
            <a:pPr marL="800100" lvl="1" indent="-342900" algn="just">
              <a:buFont typeface="Arial" panose="020B0604020202020204" pitchFamily="34" charset="0"/>
              <a:buChar char="•"/>
            </a:pPr>
            <a:r>
              <a:rPr lang="en-IN" sz="2400" dirty="0">
                <a:latin typeface="Times New Roman" panose="02020603050405020304" charset="0"/>
                <a:cs typeface="Times New Roman" panose="02020603050405020304" charset="0"/>
              </a:rPr>
              <a:t>Enhance precision using </a:t>
            </a:r>
            <a:r>
              <a:rPr lang="en-IN" sz="2400" b="1" dirty="0">
                <a:latin typeface="Times New Roman" panose="02020603050405020304" charset="0"/>
                <a:cs typeface="Times New Roman" panose="02020603050405020304" charset="0"/>
              </a:rPr>
              <a:t>attention or hybrid models</a:t>
            </a:r>
            <a:r>
              <a:rPr lang="en-IN" sz="2400" dirty="0">
                <a:latin typeface="Times New Roman" panose="02020603050405020304" charset="0"/>
                <a:cs typeface="Times New Roman" panose="02020603050405020304" charset="0"/>
              </a:rPr>
              <a:t>.</a:t>
            </a:r>
            <a:endParaRPr lang="en-IN" sz="2400" dirty="0">
              <a:latin typeface="Times New Roman" panose="02020603050405020304" charset="0"/>
              <a:cs typeface="Times New Roman" panose="02020603050405020304" charset="0"/>
            </a:endParaRPr>
          </a:p>
          <a:p>
            <a:pPr marL="800100" lvl="1" indent="-342900" algn="just">
              <a:buFont typeface="Arial" panose="020B0604020202020204" pitchFamily="34" charset="0"/>
              <a:buChar char="•"/>
            </a:pPr>
            <a:r>
              <a:rPr lang="en-IN" sz="2400" dirty="0">
                <a:latin typeface="Times New Roman" panose="02020603050405020304" charset="0"/>
                <a:cs typeface="Times New Roman" panose="02020603050405020304" charset="0"/>
              </a:rPr>
              <a:t>Improve robustness against noise and imbalance.</a:t>
            </a:r>
            <a:endParaRPr lang="en-IN" sz="2400" dirty="0">
              <a:latin typeface="Times New Roman" panose="02020603050405020304" charset="0"/>
              <a:cs typeface="Times New Roman" panose="0202060305040502030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3345815">
              <a:lnSpc>
                <a:spcPct val="100000"/>
              </a:lnSpc>
              <a:spcBef>
                <a:spcPts val="130"/>
              </a:spcBef>
            </a:pPr>
            <a:r>
              <a:rPr spc="-10" dirty="0"/>
              <a:t>REFERENCES</a:t>
            </a:r>
            <a:endParaRPr spc="-10" dirty="0"/>
          </a:p>
        </p:txBody>
      </p:sp>
      <p:sp>
        <p:nvSpPr>
          <p:cNvPr id="4" name="object 4"/>
          <p:cNvSpPr txBox="1">
            <a:spLocks noGrp="1"/>
          </p:cNvSpPr>
          <p:nvPr>
            <p:ph type="dt" sz="half" idx="6"/>
          </p:nvPr>
        </p:nvSpPr>
        <p:spPr>
          <a:xfrm>
            <a:off x="917575" y="6451049"/>
            <a:ext cx="737235" cy="180340"/>
          </a:xfrm>
          <a:prstGeom prst="rect">
            <a:avLst/>
          </a:prstGeom>
        </p:spPr>
        <p:txBody>
          <a:bodyPr vert="horz" wrap="square" lIns="0" tIns="0" rIns="0" bIns="0" rtlCol="0">
            <a:spAutoFit/>
          </a:bodyPr>
          <a:lstStyle/>
          <a:p>
            <a:pPr marL="12700">
              <a:lnSpc>
                <a:spcPts val="1410"/>
              </a:lnSpc>
            </a:pPr>
            <a:endParaRPr spc="-2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panose="02020603050405020304"/>
                <a:cs typeface="Times New Roman" panose="02020603050405020304"/>
              </a:rPr>
              <a:t>Review</a:t>
            </a:r>
            <a:r>
              <a:rPr sz="1200" spc="-3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No.</a:t>
            </a:r>
            <a:endParaRPr sz="1200">
              <a:latin typeface="Times New Roman" panose="02020603050405020304"/>
              <a:cs typeface="Times New Roman" panose="02020603050405020304"/>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panose="02020603050405020304"/>
                <a:cs typeface="Times New Roman" panose="02020603050405020304"/>
              </a:rPr>
              <a:t>Department</a:t>
            </a:r>
            <a:r>
              <a:rPr sz="1200" spc="-30" dirty="0">
                <a:solidFill>
                  <a:srgbClr val="888888"/>
                </a:solidFill>
                <a:latin typeface="Times New Roman" panose="02020603050405020304"/>
                <a:cs typeface="Times New Roman" panose="02020603050405020304"/>
              </a:rPr>
              <a:t> </a:t>
            </a:r>
            <a:r>
              <a:rPr sz="1200" dirty="0">
                <a:solidFill>
                  <a:srgbClr val="888888"/>
                </a:solidFill>
                <a:latin typeface="Times New Roman" panose="02020603050405020304"/>
                <a:cs typeface="Times New Roman" panose="02020603050405020304"/>
              </a:rPr>
              <a:t>of</a:t>
            </a:r>
            <a:r>
              <a:rPr sz="1200" spc="5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CSE</a:t>
            </a:r>
            <a:endParaRPr sz="1200">
              <a:latin typeface="Times New Roman" panose="02020603050405020304"/>
              <a:cs typeface="Times New Roman" panose="02020603050405020304"/>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fld>
            <a:endParaRPr spc="-25" dirty="0"/>
          </a:p>
        </p:txBody>
      </p:sp>
      <p:sp>
        <p:nvSpPr>
          <p:cNvPr id="3" name="object 3"/>
          <p:cNvSpPr txBox="1"/>
          <p:nvPr/>
        </p:nvSpPr>
        <p:spPr>
          <a:xfrm>
            <a:off x="917575" y="1813305"/>
            <a:ext cx="10512425" cy="4325543"/>
          </a:xfrm>
          <a:prstGeom prst="rect">
            <a:avLst/>
          </a:prstGeom>
        </p:spPr>
        <p:txBody>
          <a:bodyPr vert="horz" wrap="square" lIns="0" tIns="16510" rIns="0" bIns="0" rtlCol="0">
            <a:spAutoFit/>
          </a:bodyPr>
          <a:lstStyle/>
          <a:p>
            <a:pPr marL="342900" indent="-342900" algn="just">
              <a:buFont typeface="Arial" panose="020B0604020202020204" pitchFamily="34" charset="0"/>
              <a:buChar char="•"/>
            </a:pPr>
            <a:r>
              <a:rPr lang="en-IN" sz="2000" dirty="0">
                <a:latin typeface="Times New Roman" panose="02020603050405020304" charset="0"/>
                <a:cs typeface="Times New Roman" panose="02020603050405020304" charset="0"/>
              </a:rPr>
              <a:t>Y. Zhang, X. Sun, L. Chen, and Y. Zhang, “</a:t>
            </a:r>
            <a:r>
              <a:rPr lang="en-IN" sz="2000" b="1" dirty="0">
                <a:latin typeface="Times New Roman" panose="02020603050405020304" charset="0"/>
                <a:cs typeface="Times New Roman" panose="02020603050405020304" charset="0"/>
              </a:rPr>
              <a:t>Ultrasound Breast Image Classification Through Domain Knowledge Integration into Deep Neural Networks</a:t>
            </a:r>
            <a:r>
              <a:rPr lang="en-IN" sz="2000" dirty="0">
                <a:latin typeface="Times New Roman" panose="02020603050405020304" charset="0"/>
                <a:cs typeface="Times New Roman" panose="02020603050405020304" charset="0"/>
              </a:rPr>
              <a:t>,” </a:t>
            </a:r>
            <a:r>
              <a:rPr lang="en-IN" sz="2000" i="1" dirty="0">
                <a:latin typeface="Times New Roman" panose="02020603050405020304" charset="0"/>
                <a:cs typeface="Times New Roman" panose="02020603050405020304" charset="0"/>
              </a:rPr>
              <a:t>IEEE Trans. Image Process.</a:t>
            </a:r>
            <a:r>
              <a:rPr lang="en-IN" sz="2000" dirty="0">
                <a:latin typeface="Times New Roman" panose="02020603050405020304" charset="0"/>
                <a:cs typeface="Times New Roman" panose="02020603050405020304" charset="0"/>
              </a:rPr>
              <a:t>, vol. 30, pp. 8719–8731, 2021.</a:t>
            </a:r>
            <a:endParaRPr lang="en-IN" sz="2000"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IN" sz="2000" dirty="0">
                <a:latin typeface="Times New Roman" panose="02020603050405020304" charset="0"/>
                <a:cs typeface="Times New Roman" panose="02020603050405020304" charset="0"/>
              </a:rPr>
              <a:t>O. </a:t>
            </a:r>
            <a:r>
              <a:rPr lang="en-IN" sz="2000" dirty="0" err="1">
                <a:latin typeface="Times New Roman" panose="02020603050405020304" charset="0"/>
                <a:cs typeface="Times New Roman" panose="02020603050405020304" charset="0"/>
              </a:rPr>
              <a:t>Ronneberger</a:t>
            </a:r>
            <a:r>
              <a:rPr lang="en-IN" sz="2000" dirty="0">
                <a:latin typeface="Times New Roman" panose="02020603050405020304" charset="0"/>
                <a:cs typeface="Times New Roman" panose="02020603050405020304" charset="0"/>
              </a:rPr>
              <a:t>, P. Fischer, and T. Brox, “</a:t>
            </a:r>
            <a:r>
              <a:rPr lang="en-IN" sz="2000" b="1" dirty="0">
                <a:latin typeface="Times New Roman" panose="02020603050405020304" charset="0"/>
                <a:cs typeface="Times New Roman" panose="02020603050405020304" charset="0"/>
              </a:rPr>
              <a:t>U-Net: Convolutional Networks for Biomedical Image Segmentation</a:t>
            </a:r>
            <a:r>
              <a:rPr lang="en-IN" sz="2000" dirty="0">
                <a:latin typeface="Times New Roman" panose="02020603050405020304" charset="0"/>
                <a:cs typeface="Times New Roman" panose="02020603050405020304" charset="0"/>
              </a:rPr>
              <a:t>,” in </a:t>
            </a:r>
            <a:r>
              <a:rPr lang="en-IN" sz="2000" i="1" dirty="0">
                <a:latin typeface="Times New Roman" panose="02020603050405020304" charset="0"/>
                <a:cs typeface="Times New Roman" panose="02020603050405020304" charset="0"/>
              </a:rPr>
              <a:t>Proc. MICCAI</a:t>
            </a:r>
            <a:r>
              <a:rPr lang="en-IN" sz="2000" dirty="0">
                <a:latin typeface="Times New Roman" panose="02020603050405020304" charset="0"/>
                <a:cs typeface="Times New Roman" panose="02020603050405020304" charset="0"/>
              </a:rPr>
              <a:t>, 2015, pp. 234–241.</a:t>
            </a:r>
            <a:endParaRPr lang="en-IN" sz="2000"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IN" sz="2000" dirty="0">
                <a:latin typeface="Times New Roman" panose="02020603050405020304" charset="0"/>
                <a:cs typeface="Times New Roman" panose="02020603050405020304" charset="0"/>
              </a:rPr>
              <a:t>K. He, X. Zhang, S. Ren, and J. Sun, “</a:t>
            </a:r>
            <a:r>
              <a:rPr lang="en-IN" sz="2000" b="1" dirty="0">
                <a:latin typeface="Times New Roman" panose="02020603050405020304" charset="0"/>
                <a:cs typeface="Times New Roman" panose="02020603050405020304" charset="0"/>
              </a:rPr>
              <a:t>Deep Residual Learning for Image Recognition</a:t>
            </a:r>
            <a:r>
              <a:rPr lang="en-IN" sz="2000" dirty="0">
                <a:latin typeface="Times New Roman" panose="02020603050405020304" charset="0"/>
                <a:cs typeface="Times New Roman" panose="02020603050405020304" charset="0"/>
              </a:rPr>
              <a:t>,” in </a:t>
            </a:r>
            <a:r>
              <a:rPr lang="en-IN" sz="2000" i="1" dirty="0">
                <a:latin typeface="Times New Roman" panose="02020603050405020304" charset="0"/>
                <a:cs typeface="Times New Roman" panose="02020603050405020304" charset="0"/>
              </a:rPr>
              <a:t>Proc. IEEE CVPR</a:t>
            </a:r>
            <a:r>
              <a:rPr lang="en-IN" sz="2000" dirty="0">
                <a:latin typeface="Times New Roman" panose="02020603050405020304" charset="0"/>
                <a:cs typeface="Times New Roman" panose="02020603050405020304" charset="0"/>
              </a:rPr>
              <a:t>, 2016, pp. 770–778.</a:t>
            </a:r>
            <a:endParaRPr lang="en-IN" sz="2000"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IN" sz="2000" dirty="0">
                <a:latin typeface="Times New Roman" panose="02020603050405020304" charset="0"/>
                <a:cs typeface="Times New Roman" panose="02020603050405020304" charset="0"/>
              </a:rPr>
              <a:t>G. </a:t>
            </a:r>
            <a:r>
              <a:rPr lang="en-IN" sz="2000" dirty="0" err="1">
                <a:latin typeface="Times New Roman" panose="02020603050405020304" charset="0"/>
                <a:cs typeface="Times New Roman" panose="02020603050405020304" charset="0"/>
              </a:rPr>
              <a:t>Litjens</a:t>
            </a:r>
            <a:r>
              <a:rPr lang="en-IN" sz="2000" dirty="0">
                <a:latin typeface="Times New Roman" panose="02020603050405020304" charset="0"/>
                <a:cs typeface="Times New Roman" panose="02020603050405020304" charset="0"/>
              </a:rPr>
              <a:t> </a:t>
            </a:r>
            <a:r>
              <a:rPr lang="en-IN" sz="2000" i="1" dirty="0">
                <a:latin typeface="Times New Roman" panose="02020603050405020304" charset="0"/>
                <a:cs typeface="Times New Roman" panose="02020603050405020304" charset="0"/>
              </a:rPr>
              <a:t>et al.</a:t>
            </a:r>
            <a:r>
              <a:rPr lang="en-IN" sz="2000" dirty="0">
                <a:latin typeface="Times New Roman" panose="02020603050405020304" charset="0"/>
                <a:cs typeface="Times New Roman" panose="02020603050405020304" charset="0"/>
              </a:rPr>
              <a:t>, “</a:t>
            </a:r>
            <a:r>
              <a:rPr lang="en-IN" sz="2000" b="1" dirty="0">
                <a:latin typeface="Times New Roman" panose="02020603050405020304" charset="0"/>
                <a:cs typeface="Times New Roman" panose="02020603050405020304" charset="0"/>
              </a:rPr>
              <a:t>A Survey on Deep Learning in Medical Image Analysis</a:t>
            </a:r>
            <a:r>
              <a:rPr lang="en-IN" sz="2000" dirty="0">
                <a:latin typeface="Times New Roman" panose="02020603050405020304" charset="0"/>
                <a:cs typeface="Times New Roman" panose="02020603050405020304" charset="0"/>
              </a:rPr>
              <a:t>,” </a:t>
            </a:r>
            <a:r>
              <a:rPr lang="en-IN" sz="2000" i="1" dirty="0">
                <a:latin typeface="Times New Roman" panose="02020603050405020304" charset="0"/>
                <a:cs typeface="Times New Roman" panose="02020603050405020304" charset="0"/>
              </a:rPr>
              <a:t>Med. Image Anal.</a:t>
            </a:r>
            <a:r>
              <a:rPr lang="en-IN" sz="2000" dirty="0">
                <a:latin typeface="Times New Roman" panose="02020603050405020304" charset="0"/>
                <a:cs typeface="Times New Roman" panose="02020603050405020304" charset="0"/>
              </a:rPr>
              <a:t>, vol. 42, pp. 60–88, 2017.</a:t>
            </a:r>
            <a:endParaRPr lang="en-IN" sz="2000"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IN" sz="2000" dirty="0">
                <a:latin typeface="Times New Roman" panose="02020603050405020304" charset="0"/>
                <a:cs typeface="Times New Roman" panose="02020603050405020304" charset="0"/>
              </a:rPr>
              <a:t>J. Long, E. Shelhamer, and T. Darrell, “</a:t>
            </a:r>
            <a:r>
              <a:rPr lang="en-IN" sz="2000" b="1" dirty="0">
                <a:latin typeface="Times New Roman" panose="02020603050405020304" charset="0"/>
                <a:cs typeface="Times New Roman" panose="02020603050405020304" charset="0"/>
              </a:rPr>
              <a:t>Fully Convolutional Networks for Semantic Segmentation</a:t>
            </a:r>
            <a:r>
              <a:rPr lang="en-IN" sz="2000" dirty="0">
                <a:latin typeface="Times New Roman" panose="02020603050405020304" charset="0"/>
                <a:cs typeface="Times New Roman" panose="02020603050405020304" charset="0"/>
              </a:rPr>
              <a:t>,” in </a:t>
            </a:r>
            <a:r>
              <a:rPr lang="en-IN" sz="2000" i="1" dirty="0">
                <a:latin typeface="Times New Roman" panose="02020603050405020304" charset="0"/>
                <a:cs typeface="Times New Roman" panose="02020603050405020304" charset="0"/>
              </a:rPr>
              <a:t>Proc. IEEE CVPR</a:t>
            </a:r>
            <a:r>
              <a:rPr lang="en-IN" sz="2000" dirty="0">
                <a:latin typeface="Times New Roman" panose="02020603050405020304" charset="0"/>
                <a:cs typeface="Times New Roman" panose="02020603050405020304" charset="0"/>
              </a:rPr>
              <a:t>, 2015, pp. 3431–3440.</a:t>
            </a:r>
            <a:endParaRPr lang="en-IN" sz="2000"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IN" sz="2000" dirty="0">
                <a:latin typeface="Times New Roman" panose="02020603050405020304" charset="0"/>
                <a:cs typeface="Times New Roman" panose="02020603050405020304" charset="0"/>
              </a:rPr>
              <a:t>A. </a:t>
            </a:r>
            <a:r>
              <a:rPr lang="en-IN" sz="2000" dirty="0" err="1">
                <a:latin typeface="Times New Roman" panose="02020603050405020304" charset="0"/>
                <a:cs typeface="Times New Roman" panose="02020603050405020304" charset="0"/>
              </a:rPr>
              <a:t>Krizhevsky</a:t>
            </a:r>
            <a:r>
              <a:rPr lang="en-IN" sz="2000" dirty="0">
                <a:latin typeface="Times New Roman" panose="02020603050405020304" charset="0"/>
                <a:cs typeface="Times New Roman" panose="02020603050405020304" charset="0"/>
              </a:rPr>
              <a:t>, I. </a:t>
            </a:r>
            <a:r>
              <a:rPr lang="en-IN" sz="2000" dirty="0" err="1">
                <a:latin typeface="Times New Roman" panose="02020603050405020304" charset="0"/>
                <a:cs typeface="Times New Roman" panose="02020603050405020304" charset="0"/>
              </a:rPr>
              <a:t>Sutskever</a:t>
            </a:r>
            <a:r>
              <a:rPr lang="en-IN" sz="2000" dirty="0">
                <a:latin typeface="Times New Roman" panose="02020603050405020304" charset="0"/>
                <a:cs typeface="Times New Roman" panose="02020603050405020304" charset="0"/>
              </a:rPr>
              <a:t>, and G. Hinton, “</a:t>
            </a:r>
            <a:r>
              <a:rPr lang="en-IN" sz="2000" b="1" dirty="0">
                <a:latin typeface="Times New Roman" panose="02020603050405020304" charset="0"/>
                <a:cs typeface="Times New Roman" panose="02020603050405020304" charset="0"/>
              </a:rPr>
              <a:t>ImageNet Classification with Deep Convolutional Neural Networks</a:t>
            </a:r>
            <a:r>
              <a:rPr lang="en-IN" sz="2000" dirty="0">
                <a:latin typeface="Times New Roman" panose="02020603050405020304" charset="0"/>
                <a:cs typeface="Times New Roman" panose="02020603050405020304" charset="0"/>
              </a:rPr>
              <a:t>,” </a:t>
            </a:r>
            <a:r>
              <a:rPr lang="en-IN" sz="2000" i="1" dirty="0">
                <a:latin typeface="Times New Roman" panose="02020603050405020304" charset="0"/>
                <a:cs typeface="Times New Roman" panose="02020603050405020304" charset="0"/>
              </a:rPr>
              <a:t>Commun. ACM</a:t>
            </a:r>
            <a:r>
              <a:rPr lang="en-IN" sz="2000" dirty="0">
                <a:latin typeface="Times New Roman" panose="02020603050405020304" charset="0"/>
                <a:cs typeface="Times New Roman" panose="02020603050405020304" charset="0"/>
              </a:rPr>
              <a:t>, vol. 60, no. 6, pp. 84–90, 2017.</a:t>
            </a:r>
            <a:endParaRPr lang="en-IN" sz="2000"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IN" sz="2000" dirty="0">
                <a:latin typeface="Times New Roman" panose="02020603050405020304" charset="0"/>
                <a:cs typeface="Times New Roman" panose="02020603050405020304" charset="0"/>
              </a:rPr>
              <a:t>D. P. Kingma and J. Ba, “</a:t>
            </a:r>
            <a:r>
              <a:rPr lang="en-IN" sz="2000" b="1" dirty="0">
                <a:latin typeface="Times New Roman" panose="02020603050405020304" charset="0"/>
                <a:cs typeface="Times New Roman" panose="02020603050405020304" charset="0"/>
              </a:rPr>
              <a:t>Adam: A Method for Stochastic Optimization</a:t>
            </a:r>
            <a:r>
              <a:rPr lang="en-IN" sz="2000" dirty="0">
                <a:latin typeface="Times New Roman" panose="02020603050405020304" charset="0"/>
                <a:cs typeface="Times New Roman" panose="02020603050405020304" charset="0"/>
              </a:rPr>
              <a:t>,” in </a:t>
            </a:r>
            <a:r>
              <a:rPr lang="en-IN" sz="2000" i="1" dirty="0">
                <a:latin typeface="Times New Roman" panose="02020603050405020304" charset="0"/>
                <a:cs typeface="Times New Roman" panose="02020603050405020304" charset="0"/>
              </a:rPr>
              <a:t>Proc. ICLR</a:t>
            </a:r>
            <a:r>
              <a:rPr lang="en-IN" sz="2000" dirty="0">
                <a:latin typeface="Times New Roman" panose="02020603050405020304" charset="0"/>
                <a:cs typeface="Times New Roman" panose="02020603050405020304" charset="0"/>
              </a:rPr>
              <a:t>, 2015.</a:t>
            </a:r>
            <a:endParaRPr lang="en-IN" sz="2000" dirty="0">
              <a:latin typeface="Times New Roman" panose="02020603050405020304" charset="0"/>
              <a:cs typeface="Times New Roman" panose="0202060305040502030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3345815">
              <a:lnSpc>
                <a:spcPct val="100000"/>
              </a:lnSpc>
              <a:spcBef>
                <a:spcPts val="130"/>
              </a:spcBef>
            </a:pPr>
            <a:r>
              <a:rPr spc="-10" dirty="0"/>
              <a:t>REFERENCES</a:t>
            </a:r>
            <a:endParaRPr spc="-10" dirty="0"/>
          </a:p>
        </p:txBody>
      </p:sp>
      <p:sp>
        <p:nvSpPr>
          <p:cNvPr id="4" name="object 4"/>
          <p:cNvSpPr txBox="1">
            <a:spLocks noGrp="1"/>
          </p:cNvSpPr>
          <p:nvPr>
            <p:ph type="dt" sz="half" idx="6"/>
          </p:nvPr>
        </p:nvSpPr>
        <p:spPr>
          <a:xfrm>
            <a:off x="917575" y="6451049"/>
            <a:ext cx="737235" cy="180340"/>
          </a:xfrm>
          <a:prstGeom prst="rect">
            <a:avLst/>
          </a:prstGeom>
        </p:spPr>
        <p:txBody>
          <a:bodyPr vert="horz" wrap="square" lIns="0" tIns="0" rIns="0" bIns="0" rtlCol="0">
            <a:spAutoFit/>
          </a:bodyPr>
          <a:lstStyle/>
          <a:p>
            <a:pPr marL="12700">
              <a:lnSpc>
                <a:spcPts val="1410"/>
              </a:lnSpc>
            </a:pPr>
            <a:endParaRPr spc="-2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panose="02020603050405020304"/>
                <a:cs typeface="Times New Roman" panose="02020603050405020304"/>
              </a:rPr>
              <a:t>Review</a:t>
            </a:r>
            <a:r>
              <a:rPr sz="1200" spc="-3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No.</a:t>
            </a:r>
            <a:endParaRPr sz="1200">
              <a:latin typeface="Times New Roman" panose="02020603050405020304"/>
              <a:cs typeface="Times New Roman" panose="02020603050405020304"/>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panose="02020603050405020304"/>
                <a:cs typeface="Times New Roman" panose="02020603050405020304"/>
              </a:rPr>
              <a:t>Department</a:t>
            </a:r>
            <a:r>
              <a:rPr sz="1200" spc="-30" dirty="0">
                <a:solidFill>
                  <a:srgbClr val="888888"/>
                </a:solidFill>
                <a:latin typeface="Times New Roman" panose="02020603050405020304"/>
                <a:cs typeface="Times New Roman" panose="02020603050405020304"/>
              </a:rPr>
              <a:t> </a:t>
            </a:r>
            <a:r>
              <a:rPr sz="1200" dirty="0">
                <a:solidFill>
                  <a:srgbClr val="888888"/>
                </a:solidFill>
                <a:latin typeface="Times New Roman" panose="02020603050405020304"/>
                <a:cs typeface="Times New Roman" panose="02020603050405020304"/>
              </a:rPr>
              <a:t>of</a:t>
            </a:r>
            <a:r>
              <a:rPr sz="1200" spc="5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CSE</a:t>
            </a:r>
            <a:endParaRPr sz="1200">
              <a:latin typeface="Times New Roman" panose="02020603050405020304"/>
              <a:cs typeface="Times New Roman" panose="02020603050405020304"/>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fld>
            <a:endParaRPr spc="-25" dirty="0"/>
          </a:p>
        </p:txBody>
      </p:sp>
      <p:sp>
        <p:nvSpPr>
          <p:cNvPr id="3" name="object 3"/>
          <p:cNvSpPr txBox="1"/>
          <p:nvPr/>
        </p:nvSpPr>
        <p:spPr>
          <a:xfrm>
            <a:off x="917575" y="1813305"/>
            <a:ext cx="10512425" cy="4633320"/>
          </a:xfrm>
          <a:prstGeom prst="rect">
            <a:avLst/>
          </a:prstGeom>
        </p:spPr>
        <p:txBody>
          <a:bodyPr vert="horz" wrap="square" lIns="0" tIns="16510" rIns="0" bIns="0" rtlCol="0">
            <a:spAutoFit/>
          </a:bodyPr>
          <a:lstStyle/>
          <a:p>
            <a:pPr marL="342900" indent="-342900" algn="just">
              <a:buFont typeface="Arial" panose="020B0604020202020204" pitchFamily="34" charset="0"/>
              <a:buChar char="•"/>
            </a:pPr>
            <a:r>
              <a:rPr lang="en-US" sz="2000" dirty="0">
                <a:latin typeface="Times New Roman" panose="02020603050405020304" charset="0"/>
                <a:cs typeface="Times New Roman" panose="02020603050405020304" charset="0"/>
              </a:rPr>
              <a:t>S. Ioffe and C. Szegedy, “</a:t>
            </a:r>
            <a:r>
              <a:rPr lang="en-US" sz="2000" b="1" dirty="0">
                <a:latin typeface="Times New Roman" panose="02020603050405020304" charset="0"/>
                <a:cs typeface="Times New Roman" panose="02020603050405020304" charset="0"/>
              </a:rPr>
              <a:t>Batch Normalization: Accelerating Deep Network Training by Reducing Internal Covariate Shift</a:t>
            </a:r>
            <a:r>
              <a:rPr lang="en-US" sz="2000" dirty="0">
                <a:latin typeface="Times New Roman" panose="02020603050405020304" charset="0"/>
                <a:cs typeface="Times New Roman" panose="02020603050405020304" charset="0"/>
              </a:rPr>
              <a:t>,” in </a:t>
            </a:r>
            <a:r>
              <a:rPr lang="en-US" sz="2000" i="1" dirty="0">
                <a:latin typeface="Times New Roman" panose="02020603050405020304" charset="0"/>
                <a:cs typeface="Times New Roman" panose="02020603050405020304" charset="0"/>
              </a:rPr>
              <a:t>Proc. ICML</a:t>
            </a:r>
            <a:r>
              <a:rPr lang="en-US" sz="2000" dirty="0">
                <a:latin typeface="Times New Roman" panose="02020603050405020304" charset="0"/>
                <a:cs typeface="Times New Roman" panose="02020603050405020304" charset="0"/>
              </a:rPr>
              <a:t>, 2015, pp. 448–456.</a:t>
            </a:r>
            <a:br>
              <a:rPr lang="en-US" sz="2000" dirty="0">
                <a:latin typeface="Times New Roman" panose="02020603050405020304" charset="0"/>
                <a:cs typeface="Times New Roman" panose="02020603050405020304" charset="0"/>
              </a:rPr>
            </a:br>
            <a:r>
              <a:rPr lang="en-IN" sz="2000" dirty="0">
                <a:latin typeface="Times New Roman" panose="02020603050405020304" charset="0"/>
                <a:cs typeface="Times New Roman" panose="02020603050405020304" charset="0"/>
              </a:rPr>
              <a:t>C. Szegedy </a:t>
            </a:r>
            <a:r>
              <a:rPr lang="en-IN" sz="2000" i="1" dirty="0">
                <a:latin typeface="Times New Roman" panose="02020603050405020304" charset="0"/>
                <a:cs typeface="Times New Roman" panose="02020603050405020304" charset="0"/>
              </a:rPr>
              <a:t>et al.</a:t>
            </a:r>
            <a:r>
              <a:rPr lang="en-IN" sz="2000" dirty="0">
                <a:latin typeface="Times New Roman" panose="02020603050405020304" charset="0"/>
                <a:cs typeface="Times New Roman" panose="02020603050405020304" charset="0"/>
              </a:rPr>
              <a:t>, “</a:t>
            </a:r>
            <a:r>
              <a:rPr lang="en-IN" sz="2000" b="1" dirty="0">
                <a:latin typeface="Times New Roman" panose="02020603050405020304" charset="0"/>
                <a:cs typeface="Times New Roman" panose="02020603050405020304" charset="0"/>
              </a:rPr>
              <a:t>Going Deeper with Convolutions</a:t>
            </a:r>
            <a:r>
              <a:rPr lang="en-IN" sz="2000" dirty="0">
                <a:latin typeface="Times New Roman" panose="02020603050405020304" charset="0"/>
                <a:cs typeface="Times New Roman" panose="02020603050405020304" charset="0"/>
              </a:rPr>
              <a:t>,” in </a:t>
            </a:r>
            <a:r>
              <a:rPr lang="en-IN" sz="2000" i="1" dirty="0">
                <a:latin typeface="Times New Roman" panose="02020603050405020304" charset="0"/>
                <a:cs typeface="Times New Roman" panose="02020603050405020304" charset="0"/>
              </a:rPr>
              <a:t>Proc. IEEE CVPR</a:t>
            </a:r>
            <a:r>
              <a:rPr lang="en-IN" sz="2000" dirty="0">
                <a:latin typeface="Times New Roman" panose="02020603050405020304" charset="0"/>
                <a:cs typeface="Times New Roman" panose="02020603050405020304" charset="0"/>
              </a:rPr>
              <a:t>, 2015, pp. 1–9.</a:t>
            </a:r>
            <a:endParaRPr lang="en-IN" sz="2000"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IN" sz="2000" dirty="0">
                <a:latin typeface="Times New Roman" panose="02020603050405020304" charset="0"/>
                <a:cs typeface="Times New Roman" panose="02020603050405020304" charset="0"/>
              </a:rPr>
              <a:t>Q. Huang, Z. Huang, and S. Chen, “</a:t>
            </a:r>
            <a:r>
              <a:rPr lang="en-IN" sz="2000" b="1" dirty="0">
                <a:latin typeface="Times New Roman" panose="02020603050405020304" charset="0"/>
                <a:cs typeface="Times New Roman" panose="02020603050405020304" charset="0"/>
              </a:rPr>
              <a:t>Diagnosis of Breast </a:t>
            </a:r>
            <a:r>
              <a:rPr lang="en-IN" sz="2000" b="1" dirty="0" err="1">
                <a:latin typeface="Times New Roman" panose="02020603050405020304" charset="0"/>
                <a:cs typeface="Times New Roman" panose="02020603050405020304" charset="0"/>
              </a:rPr>
              <a:t>Tumors</a:t>
            </a:r>
            <a:r>
              <a:rPr lang="en-IN" sz="2000" b="1" dirty="0">
                <a:latin typeface="Times New Roman" panose="02020603050405020304" charset="0"/>
                <a:cs typeface="Times New Roman" panose="02020603050405020304" charset="0"/>
              </a:rPr>
              <a:t> with Ultrasound Images Based on Deep Learning</a:t>
            </a:r>
            <a:r>
              <a:rPr lang="en-IN" sz="2000" dirty="0">
                <a:latin typeface="Times New Roman" panose="02020603050405020304" charset="0"/>
                <a:cs typeface="Times New Roman" panose="02020603050405020304" charset="0"/>
              </a:rPr>
              <a:t>,” </a:t>
            </a:r>
            <a:r>
              <a:rPr lang="en-IN" sz="2000" i="1" dirty="0">
                <a:latin typeface="Times New Roman" panose="02020603050405020304" charset="0"/>
                <a:cs typeface="Times New Roman" panose="02020603050405020304" charset="0"/>
              </a:rPr>
              <a:t>J. Healthcare Eng.</a:t>
            </a:r>
            <a:r>
              <a:rPr lang="en-IN" sz="2000" dirty="0">
                <a:latin typeface="Times New Roman" panose="02020603050405020304" charset="0"/>
                <a:cs typeface="Times New Roman" panose="02020603050405020304" charset="0"/>
              </a:rPr>
              <a:t>, 2020.</a:t>
            </a:r>
            <a:endParaRPr lang="en-IN" sz="2000"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IN" sz="2000" dirty="0">
                <a:latin typeface="Times New Roman" panose="02020603050405020304" charset="0"/>
                <a:cs typeface="Times New Roman" panose="02020603050405020304" charset="0"/>
              </a:rPr>
              <a:t>D. Abdelhafiz </a:t>
            </a:r>
            <a:r>
              <a:rPr lang="en-IN" sz="2000" i="1" dirty="0">
                <a:latin typeface="Times New Roman" panose="02020603050405020304" charset="0"/>
                <a:cs typeface="Times New Roman" panose="02020603050405020304" charset="0"/>
              </a:rPr>
              <a:t>et al.</a:t>
            </a:r>
            <a:r>
              <a:rPr lang="en-IN" sz="2000" dirty="0">
                <a:latin typeface="Times New Roman" panose="02020603050405020304" charset="0"/>
                <a:cs typeface="Times New Roman" panose="02020603050405020304" charset="0"/>
              </a:rPr>
              <a:t>, “</a:t>
            </a:r>
            <a:r>
              <a:rPr lang="en-IN" sz="2000" b="1" dirty="0">
                <a:latin typeface="Times New Roman" panose="02020603050405020304" charset="0"/>
                <a:cs typeface="Times New Roman" panose="02020603050405020304" charset="0"/>
              </a:rPr>
              <a:t>Breast Cancer Detection Using Transfer Learning and Adaptive Decision Fusion</a:t>
            </a:r>
            <a:r>
              <a:rPr lang="en-IN" sz="2000" dirty="0">
                <a:latin typeface="Times New Roman" panose="02020603050405020304" charset="0"/>
                <a:cs typeface="Times New Roman" panose="02020603050405020304" charset="0"/>
              </a:rPr>
              <a:t>,” </a:t>
            </a:r>
            <a:r>
              <a:rPr lang="en-IN" sz="2000" i="1" dirty="0">
                <a:latin typeface="Times New Roman" panose="02020603050405020304" charset="0"/>
                <a:cs typeface="Times New Roman" panose="02020603050405020304" charset="0"/>
              </a:rPr>
              <a:t>Sensors</a:t>
            </a:r>
            <a:r>
              <a:rPr lang="en-IN" sz="2000" dirty="0">
                <a:latin typeface="Times New Roman" panose="02020603050405020304" charset="0"/>
                <a:cs typeface="Times New Roman" panose="02020603050405020304" charset="0"/>
              </a:rPr>
              <a:t>, vol. 20, no. 20, p. 5785, 2020.</a:t>
            </a:r>
            <a:endParaRPr lang="en-IN" sz="2000"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IN" sz="2000" dirty="0">
                <a:latin typeface="Times New Roman" panose="02020603050405020304" charset="0"/>
                <a:cs typeface="Times New Roman" panose="02020603050405020304" charset="0"/>
              </a:rPr>
              <a:t>G. Campanini, E. </a:t>
            </a:r>
            <a:r>
              <a:rPr lang="en-IN" sz="2000" dirty="0" err="1">
                <a:latin typeface="Times New Roman" panose="02020603050405020304" charset="0"/>
                <a:cs typeface="Times New Roman" panose="02020603050405020304" charset="0"/>
              </a:rPr>
              <a:t>Dongiovanni</a:t>
            </a:r>
            <a:r>
              <a:rPr lang="en-IN" sz="2000" dirty="0">
                <a:latin typeface="Times New Roman" panose="02020603050405020304" charset="0"/>
                <a:cs typeface="Times New Roman" panose="02020603050405020304" charset="0"/>
              </a:rPr>
              <a:t>, and D. </a:t>
            </a:r>
            <a:r>
              <a:rPr lang="en-IN" sz="2000" dirty="0" err="1">
                <a:latin typeface="Times New Roman" panose="02020603050405020304" charset="0"/>
                <a:cs typeface="Times New Roman" panose="02020603050405020304" charset="0"/>
              </a:rPr>
              <a:t>Iampieri</a:t>
            </a:r>
            <a:r>
              <a:rPr lang="en-IN" sz="2000" dirty="0">
                <a:latin typeface="Times New Roman" panose="02020603050405020304" charset="0"/>
                <a:cs typeface="Times New Roman" panose="02020603050405020304" charset="0"/>
              </a:rPr>
              <a:t>, “</a:t>
            </a:r>
            <a:r>
              <a:rPr lang="en-IN" sz="2000" b="1" dirty="0">
                <a:latin typeface="Times New Roman" panose="02020603050405020304" charset="0"/>
                <a:cs typeface="Times New Roman" panose="02020603050405020304" charset="0"/>
              </a:rPr>
              <a:t>A Novel Featureless Approach to Breast Lesion Characterization Based on Sonographic Texture Analysis</a:t>
            </a:r>
            <a:r>
              <a:rPr lang="en-IN" sz="2000" dirty="0">
                <a:latin typeface="Times New Roman" panose="02020603050405020304" charset="0"/>
                <a:cs typeface="Times New Roman" panose="02020603050405020304" charset="0"/>
              </a:rPr>
              <a:t>,” </a:t>
            </a:r>
            <a:r>
              <a:rPr lang="en-IN" sz="2000" i="1" dirty="0">
                <a:latin typeface="Times New Roman" panose="02020603050405020304" charset="0"/>
                <a:cs typeface="Times New Roman" panose="02020603050405020304" charset="0"/>
              </a:rPr>
              <a:t>Med. Phys.</a:t>
            </a:r>
            <a:r>
              <a:rPr lang="en-IN" sz="2000" dirty="0">
                <a:latin typeface="Times New Roman" panose="02020603050405020304" charset="0"/>
                <a:cs typeface="Times New Roman" panose="02020603050405020304" charset="0"/>
              </a:rPr>
              <a:t>, vol. 41, 2014.</a:t>
            </a:r>
            <a:endParaRPr lang="en-IN" sz="2000"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IN" sz="2000" dirty="0">
                <a:latin typeface="Times New Roman" panose="02020603050405020304" charset="0"/>
                <a:cs typeface="Times New Roman" panose="02020603050405020304" charset="0"/>
              </a:rPr>
              <a:t>J. Cheng </a:t>
            </a:r>
            <a:r>
              <a:rPr lang="en-IN" sz="2000" i="1" dirty="0">
                <a:latin typeface="Times New Roman" panose="02020603050405020304" charset="0"/>
                <a:cs typeface="Times New Roman" panose="02020603050405020304" charset="0"/>
              </a:rPr>
              <a:t>et al.</a:t>
            </a:r>
            <a:r>
              <a:rPr lang="en-IN" sz="2000" dirty="0">
                <a:latin typeface="Times New Roman" panose="02020603050405020304" charset="0"/>
                <a:cs typeface="Times New Roman" panose="02020603050405020304" charset="0"/>
              </a:rPr>
              <a:t>, “</a:t>
            </a:r>
            <a:r>
              <a:rPr lang="en-IN" sz="2000" b="1" dirty="0">
                <a:latin typeface="Times New Roman" panose="02020603050405020304" charset="0"/>
                <a:cs typeface="Times New Roman" panose="02020603050405020304" charset="0"/>
              </a:rPr>
              <a:t>Computer-Aided Diagnosis with Deep Learning Architecture: Applications to Breast Lesions in Ultrasound Images</a:t>
            </a:r>
            <a:r>
              <a:rPr lang="en-IN" sz="2000" dirty="0">
                <a:latin typeface="Times New Roman" panose="02020603050405020304" charset="0"/>
                <a:cs typeface="Times New Roman" panose="02020603050405020304" charset="0"/>
              </a:rPr>
              <a:t>,” </a:t>
            </a:r>
            <a:r>
              <a:rPr lang="en-IN" sz="2000" i="1" dirty="0">
                <a:latin typeface="Times New Roman" panose="02020603050405020304" charset="0"/>
                <a:cs typeface="Times New Roman" panose="02020603050405020304" charset="0"/>
              </a:rPr>
              <a:t>Ultrasound Med. Biol.</a:t>
            </a:r>
            <a:r>
              <a:rPr lang="en-IN" sz="2000" dirty="0">
                <a:latin typeface="Times New Roman" panose="02020603050405020304" charset="0"/>
                <a:cs typeface="Times New Roman" panose="02020603050405020304" charset="0"/>
              </a:rPr>
              <a:t>, vol. 42, no. 4, pp. 990–1004, 2016.</a:t>
            </a:r>
            <a:endParaRPr lang="en-IN" sz="2000" dirty="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IN" sz="2000" dirty="0"/>
              <a:t>T.-Y. Lin </a:t>
            </a:r>
            <a:r>
              <a:rPr lang="en-IN" sz="2000" i="1" dirty="0"/>
              <a:t>et al.</a:t>
            </a:r>
            <a:r>
              <a:rPr lang="en-IN" sz="2000" dirty="0"/>
              <a:t>, “</a:t>
            </a:r>
            <a:r>
              <a:rPr lang="en-IN" sz="2000" b="1" dirty="0"/>
              <a:t>Focal Loss for Dense Object Detection</a:t>
            </a:r>
            <a:r>
              <a:rPr lang="en-IN" sz="2000" dirty="0"/>
              <a:t>,” in </a:t>
            </a:r>
            <a:r>
              <a:rPr lang="en-IN" sz="2000" i="1" dirty="0"/>
              <a:t>Proc. IEEE ICCV</a:t>
            </a:r>
            <a:r>
              <a:rPr lang="en-IN" sz="2000" dirty="0"/>
              <a:t>, 2017, pp. 2980–2988.</a:t>
            </a:r>
            <a:endParaRPr lang="en-IN" sz="2000" dirty="0">
              <a:latin typeface="Times New Roman" panose="02020603050405020304" charset="0"/>
              <a:cs typeface="Times New Roman" panose="02020603050405020304" charset="0"/>
            </a:endParaRPr>
          </a:p>
          <a:p>
            <a:endParaRPr lang="en-IN" sz="2000" dirty="0">
              <a:latin typeface="Times New Roman" panose="02020603050405020304" charset="0"/>
              <a:cs typeface="Times New Roman" panose="0202060305040502030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1635125">
              <a:lnSpc>
                <a:spcPct val="100000"/>
              </a:lnSpc>
              <a:spcBef>
                <a:spcPts val="130"/>
              </a:spcBef>
            </a:pPr>
            <a:r>
              <a:rPr dirty="0"/>
              <a:t>QUESTIONS</a:t>
            </a:r>
            <a:r>
              <a:rPr spc="-150" dirty="0"/>
              <a:t> </a:t>
            </a:r>
            <a:r>
              <a:rPr spc="-20" dirty="0"/>
              <a:t>and</a:t>
            </a:r>
            <a:r>
              <a:rPr spc="-265" dirty="0"/>
              <a:t> </a:t>
            </a:r>
            <a:r>
              <a:rPr spc="-10" dirty="0"/>
              <a:t>ANSWERS</a:t>
            </a:r>
            <a:endParaRPr spc="-10" dirty="0"/>
          </a:p>
        </p:txBody>
      </p:sp>
      <p:sp>
        <p:nvSpPr>
          <p:cNvPr id="4" name="object 4"/>
          <p:cNvSpPr txBox="1">
            <a:spLocks noGrp="1"/>
          </p:cNvSpPr>
          <p:nvPr>
            <p:ph type="dt" sz="half" idx="6"/>
          </p:nvPr>
        </p:nvSpPr>
        <p:spPr>
          <a:xfrm>
            <a:off x="917575" y="6451049"/>
            <a:ext cx="737235" cy="180340"/>
          </a:xfrm>
          <a:prstGeom prst="rect">
            <a:avLst/>
          </a:prstGeom>
        </p:spPr>
        <p:txBody>
          <a:bodyPr vert="horz" wrap="square" lIns="0" tIns="0" rIns="0" bIns="0" rtlCol="0">
            <a:spAutoFit/>
          </a:bodyPr>
          <a:lstStyle/>
          <a:p>
            <a:pPr marL="12700">
              <a:lnSpc>
                <a:spcPts val="1410"/>
              </a:lnSpc>
            </a:pPr>
            <a:endParaRPr spc="-2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panose="02020603050405020304"/>
                <a:cs typeface="Times New Roman" panose="02020603050405020304"/>
              </a:rPr>
              <a:t>Review</a:t>
            </a:r>
            <a:r>
              <a:rPr sz="1200" spc="-3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No.</a:t>
            </a:r>
            <a:endParaRPr sz="1200">
              <a:latin typeface="Times New Roman" panose="02020603050405020304"/>
              <a:cs typeface="Times New Roman" panose="02020603050405020304"/>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panose="02020603050405020304"/>
                <a:cs typeface="Times New Roman" panose="02020603050405020304"/>
              </a:rPr>
              <a:t>Department</a:t>
            </a:r>
            <a:r>
              <a:rPr sz="1200" spc="-30" dirty="0">
                <a:solidFill>
                  <a:srgbClr val="888888"/>
                </a:solidFill>
                <a:latin typeface="Times New Roman" panose="02020603050405020304"/>
                <a:cs typeface="Times New Roman" panose="02020603050405020304"/>
              </a:rPr>
              <a:t> </a:t>
            </a:r>
            <a:r>
              <a:rPr sz="1200" dirty="0">
                <a:solidFill>
                  <a:srgbClr val="888888"/>
                </a:solidFill>
                <a:latin typeface="Times New Roman" panose="02020603050405020304"/>
                <a:cs typeface="Times New Roman" panose="02020603050405020304"/>
              </a:rPr>
              <a:t>of</a:t>
            </a:r>
            <a:r>
              <a:rPr sz="1200" spc="5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CSE</a:t>
            </a:r>
            <a:endParaRPr sz="1200">
              <a:latin typeface="Times New Roman" panose="02020603050405020304"/>
              <a:cs typeface="Times New Roman" panose="02020603050405020304"/>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fld>
            <a:endParaRPr spc="-25" dirty="0"/>
          </a:p>
        </p:txBody>
      </p:sp>
      <p:sp>
        <p:nvSpPr>
          <p:cNvPr id="3" name="object 3"/>
          <p:cNvSpPr txBox="1"/>
          <p:nvPr/>
        </p:nvSpPr>
        <p:spPr>
          <a:xfrm>
            <a:off x="1144586" y="1905000"/>
            <a:ext cx="9902825" cy="4146007"/>
          </a:xfrm>
          <a:prstGeom prst="rect">
            <a:avLst/>
          </a:prstGeom>
        </p:spPr>
        <p:txBody>
          <a:bodyPr vert="horz" wrap="square" lIns="0" tIns="16510" rIns="0" bIns="0" rtlCol="0">
            <a:spAutoFit/>
          </a:bodyPr>
          <a:lstStyle/>
          <a:p>
            <a:r>
              <a:rPr lang="en-US" sz="2400" b="1" dirty="0">
                <a:latin typeface="Times New Roman" panose="02020603050405020304" charset="0"/>
                <a:cs typeface="Times New Roman" panose="02020603050405020304" charset="0"/>
              </a:rPr>
              <a:t>Q1. What is your project about?</a:t>
            </a:r>
            <a:br>
              <a:rPr lang="en-US" sz="2400" dirty="0">
                <a:latin typeface="Times New Roman" panose="02020603050405020304" charset="0"/>
                <a:cs typeface="Times New Roman" panose="02020603050405020304" charset="0"/>
              </a:rPr>
            </a:br>
            <a:r>
              <a:rPr lang="en-US" sz="2400" dirty="0">
                <a:latin typeface="Times New Roman" panose="02020603050405020304" charset="0"/>
                <a:cs typeface="Times New Roman" panose="02020603050405020304" charset="0"/>
              </a:rPr>
              <a:t>→ Detecting and classifying breast tumors from ultrasound images using a </a:t>
            </a:r>
            <a:r>
              <a:rPr lang="en-US" sz="2400" b="1" dirty="0">
                <a:latin typeface="Times New Roman" panose="02020603050405020304" charset="0"/>
                <a:cs typeface="Times New Roman" panose="02020603050405020304" charset="0"/>
              </a:rPr>
              <a:t>segmentation-guided deep learning model</a:t>
            </a:r>
            <a:r>
              <a:rPr lang="en-US" sz="2400" dirty="0">
                <a:latin typeface="Times New Roman" panose="02020603050405020304" charset="0"/>
                <a:cs typeface="Times New Roman" panose="02020603050405020304" charset="0"/>
              </a:rPr>
              <a:t>.</a:t>
            </a:r>
            <a:endParaRPr lang="en-US" sz="2400" dirty="0">
              <a:latin typeface="Times New Roman" panose="02020603050405020304" charset="0"/>
              <a:cs typeface="Times New Roman" panose="02020603050405020304" charset="0"/>
            </a:endParaRPr>
          </a:p>
          <a:p>
            <a:r>
              <a:rPr lang="en-US" sz="2400" b="1" dirty="0">
                <a:latin typeface="Times New Roman" panose="02020603050405020304" charset="0"/>
                <a:cs typeface="Times New Roman" panose="02020603050405020304" charset="0"/>
              </a:rPr>
              <a:t>Q2. Why did you use U-Net++?</a:t>
            </a:r>
            <a:br>
              <a:rPr lang="en-US" sz="2400" dirty="0">
                <a:latin typeface="Times New Roman" panose="02020603050405020304" charset="0"/>
                <a:cs typeface="Times New Roman" panose="02020603050405020304" charset="0"/>
              </a:rPr>
            </a:br>
            <a:r>
              <a:rPr lang="en-US" sz="2400" dirty="0">
                <a:latin typeface="Times New Roman" panose="02020603050405020304" charset="0"/>
                <a:cs typeface="Times New Roman" panose="02020603050405020304" charset="0"/>
              </a:rPr>
              <a:t>→ It gives </a:t>
            </a:r>
            <a:r>
              <a:rPr lang="en-US" sz="2400" b="1" dirty="0">
                <a:latin typeface="Times New Roman" panose="02020603050405020304" charset="0"/>
                <a:cs typeface="Times New Roman" panose="02020603050405020304" charset="0"/>
              </a:rPr>
              <a:t>more accurate tumor boundary detection</a:t>
            </a:r>
            <a:r>
              <a:rPr lang="en-US" sz="2400" dirty="0">
                <a:latin typeface="Times New Roman" panose="02020603050405020304" charset="0"/>
                <a:cs typeface="Times New Roman" panose="02020603050405020304" charset="0"/>
              </a:rPr>
              <a:t> than basic U-Net.</a:t>
            </a:r>
            <a:endParaRPr lang="en-US" sz="2400" dirty="0">
              <a:latin typeface="Times New Roman" panose="02020603050405020304" charset="0"/>
              <a:cs typeface="Times New Roman" panose="02020603050405020304" charset="0"/>
            </a:endParaRPr>
          </a:p>
          <a:p>
            <a:r>
              <a:rPr lang="en-US" sz="2400" b="1" dirty="0">
                <a:latin typeface="Times New Roman" panose="02020603050405020304" charset="0"/>
                <a:cs typeface="Times New Roman" panose="02020603050405020304" charset="0"/>
              </a:rPr>
              <a:t>Q3. What accuracy did you achieve?</a:t>
            </a:r>
            <a:br>
              <a:rPr lang="en-US" sz="2400" dirty="0">
                <a:latin typeface="Times New Roman" panose="02020603050405020304" charset="0"/>
                <a:cs typeface="Times New Roman" panose="02020603050405020304" charset="0"/>
              </a:rPr>
            </a:br>
            <a:r>
              <a:rPr lang="en-US" sz="2400" dirty="0">
                <a:latin typeface="Times New Roman" panose="02020603050405020304" charset="0"/>
                <a:cs typeface="Times New Roman" panose="02020603050405020304" charset="0"/>
              </a:rPr>
              <a:t>→ </a:t>
            </a:r>
            <a:r>
              <a:rPr lang="en-US" sz="2400" b="1" dirty="0">
                <a:latin typeface="Times New Roman" panose="02020603050405020304" charset="0"/>
                <a:cs typeface="Times New Roman" panose="02020603050405020304" charset="0"/>
              </a:rPr>
              <a:t>99.07%</a:t>
            </a:r>
            <a:r>
              <a:rPr lang="en-US" sz="2400" dirty="0">
                <a:latin typeface="Times New Roman" panose="02020603050405020304" charset="0"/>
                <a:cs typeface="Times New Roman" panose="02020603050405020304" charset="0"/>
              </a:rPr>
              <a:t> for segmentation and </a:t>
            </a:r>
            <a:r>
              <a:rPr lang="en-US" sz="2400" b="1" dirty="0">
                <a:latin typeface="Times New Roman" panose="02020603050405020304" charset="0"/>
                <a:cs typeface="Times New Roman" panose="02020603050405020304" charset="0"/>
              </a:rPr>
              <a:t>96.04%</a:t>
            </a:r>
            <a:r>
              <a:rPr lang="en-US" sz="2400" dirty="0">
                <a:latin typeface="Times New Roman" panose="02020603050405020304" charset="0"/>
                <a:cs typeface="Times New Roman" panose="02020603050405020304" charset="0"/>
              </a:rPr>
              <a:t> for classification.</a:t>
            </a:r>
            <a:endParaRPr lang="en-US" sz="2400" dirty="0">
              <a:latin typeface="Times New Roman" panose="02020603050405020304" charset="0"/>
              <a:cs typeface="Times New Roman" panose="02020603050405020304" charset="0"/>
            </a:endParaRPr>
          </a:p>
          <a:p>
            <a:r>
              <a:rPr lang="en-US" sz="2400" b="1" dirty="0">
                <a:latin typeface="Times New Roman" panose="02020603050405020304" charset="0"/>
                <a:cs typeface="Times New Roman" panose="02020603050405020304" charset="0"/>
              </a:rPr>
              <a:t>Q4. What are your future improvements?</a:t>
            </a:r>
            <a:br>
              <a:rPr lang="en-US" sz="2400" dirty="0">
                <a:latin typeface="Times New Roman" panose="02020603050405020304" charset="0"/>
                <a:cs typeface="Times New Roman" panose="02020603050405020304" charset="0"/>
              </a:rPr>
            </a:br>
            <a:r>
              <a:rPr lang="en-US" sz="2400" dirty="0">
                <a:latin typeface="Times New Roman" panose="02020603050405020304" charset="0"/>
                <a:cs typeface="Times New Roman" panose="02020603050405020304" charset="0"/>
              </a:rPr>
              <a:t>→ Use </a:t>
            </a:r>
            <a:r>
              <a:rPr lang="en-US" sz="2400" b="1" dirty="0">
                <a:latin typeface="Times New Roman" panose="02020603050405020304" charset="0"/>
                <a:cs typeface="Times New Roman" panose="02020603050405020304" charset="0"/>
              </a:rPr>
              <a:t>larger datasets</a:t>
            </a:r>
            <a:r>
              <a:rPr lang="en-US" sz="2400" dirty="0">
                <a:latin typeface="Times New Roman" panose="02020603050405020304" charset="0"/>
                <a:cs typeface="Times New Roman" panose="02020603050405020304" charset="0"/>
              </a:rPr>
              <a:t>, add </a:t>
            </a:r>
            <a:r>
              <a:rPr lang="en-US" sz="2400" b="1" dirty="0">
                <a:latin typeface="Times New Roman" panose="02020603050405020304" charset="0"/>
                <a:cs typeface="Times New Roman" panose="02020603050405020304" charset="0"/>
              </a:rPr>
              <a:t>attention mechanisms</a:t>
            </a:r>
            <a:r>
              <a:rPr lang="en-US" sz="2400" dirty="0">
                <a:latin typeface="Times New Roman" panose="02020603050405020304" charset="0"/>
                <a:cs typeface="Times New Roman" panose="02020603050405020304" charset="0"/>
              </a:rPr>
              <a:t>, and develop </a:t>
            </a:r>
            <a:r>
              <a:rPr lang="en-US" sz="2400" b="1" dirty="0">
                <a:latin typeface="Times New Roman" panose="02020603050405020304" charset="0"/>
                <a:cs typeface="Times New Roman" panose="02020603050405020304" charset="0"/>
              </a:rPr>
              <a:t>real-time clinical integration</a:t>
            </a:r>
            <a:r>
              <a:rPr lang="en-US" sz="2400" dirty="0">
                <a:latin typeface="Times New Roman" panose="02020603050405020304" charset="0"/>
                <a:cs typeface="Times New Roman" panose="02020603050405020304" charset="0"/>
              </a:rPr>
              <a:t>.</a:t>
            </a:r>
            <a:endParaRPr lang="en-US" sz="2400" dirty="0">
              <a:latin typeface="Times New Roman" panose="02020603050405020304" charset="0"/>
              <a:cs typeface="Times New Roman" panose="02020603050405020304" charset="0"/>
            </a:endParaRPr>
          </a:p>
          <a:p>
            <a:pPr marL="12700" algn="just">
              <a:lnSpc>
                <a:spcPct val="100000"/>
              </a:lnSpc>
              <a:spcBef>
                <a:spcPts val="130"/>
              </a:spcBef>
              <a:tabLst>
                <a:tab pos="241300" algn="l"/>
              </a:tabLst>
            </a:pPr>
            <a:endParaRPr sz="2750" dirty="0">
              <a:latin typeface="Times New Roman" panose="02020603050405020304"/>
              <a:cs typeface="Times New Roman" panose="02020603050405020304"/>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133600">
              <a:lnSpc>
                <a:spcPct val="100000"/>
              </a:lnSpc>
              <a:spcBef>
                <a:spcPts val="130"/>
              </a:spcBef>
            </a:pPr>
            <a:r>
              <a:rPr spc="-10" dirty="0"/>
              <a:t>ACKNOWLEGEMENTS</a:t>
            </a:r>
            <a:endParaRPr spc="-10" dirty="0"/>
          </a:p>
        </p:txBody>
      </p:sp>
      <p:sp>
        <p:nvSpPr>
          <p:cNvPr id="4" name="object 4"/>
          <p:cNvSpPr txBox="1">
            <a:spLocks noGrp="1"/>
          </p:cNvSpPr>
          <p:nvPr>
            <p:ph type="dt" sz="half" idx="6"/>
          </p:nvPr>
        </p:nvSpPr>
        <p:spPr>
          <a:xfrm>
            <a:off x="917575" y="6451049"/>
            <a:ext cx="737235" cy="180340"/>
          </a:xfrm>
          <a:prstGeom prst="rect">
            <a:avLst/>
          </a:prstGeom>
        </p:spPr>
        <p:txBody>
          <a:bodyPr vert="horz" wrap="square" lIns="0" tIns="0" rIns="0" bIns="0" rtlCol="0">
            <a:spAutoFit/>
          </a:bodyPr>
          <a:lstStyle/>
          <a:p>
            <a:pPr marL="12700">
              <a:lnSpc>
                <a:spcPts val="1410"/>
              </a:lnSpc>
            </a:pPr>
            <a:endParaRPr spc="-20" dirty="0"/>
          </a:p>
        </p:txBody>
      </p:sp>
      <p:sp>
        <p:nvSpPr>
          <p:cNvPr id="5" name="object 5"/>
          <p:cNvSpPr txBox="1"/>
          <p:nvPr/>
        </p:nvSpPr>
        <p:spPr>
          <a:xfrm>
            <a:off x="4429378" y="6451049"/>
            <a:ext cx="758825" cy="194310"/>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panose="02020603050405020304"/>
                <a:cs typeface="Times New Roman" panose="02020603050405020304"/>
              </a:rPr>
              <a:t>Review</a:t>
            </a:r>
            <a:r>
              <a:rPr sz="1200" spc="-3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No.</a:t>
            </a:r>
            <a:endParaRPr sz="1200">
              <a:latin typeface="Times New Roman" panose="02020603050405020304"/>
              <a:cs typeface="Times New Roman" panose="02020603050405020304"/>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dirty="0"/>
              <a:t>Batch</a:t>
            </a:r>
            <a:r>
              <a:rPr spc="-55" dirty="0"/>
              <a:t> </a:t>
            </a:r>
            <a:r>
              <a:rPr spc="-25" dirty="0"/>
              <a:t>No.</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panose="02020603050405020304"/>
                <a:cs typeface="Times New Roman" panose="02020603050405020304"/>
              </a:rPr>
              <a:t>Department</a:t>
            </a:r>
            <a:r>
              <a:rPr sz="1200" spc="-30" dirty="0">
                <a:solidFill>
                  <a:srgbClr val="888888"/>
                </a:solidFill>
                <a:latin typeface="Times New Roman" panose="02020603050405020304"/>
                <a:cs typeface="Times New Roman" panose="02020603050405020304"/>
              </a:rPr>
              <a:t> </a:t>
            </a:r>
            <a:r>
              <a:rPr sz="1200" dirty="0">
                <a:solidFill>
                  <a:srgbClr val="888888"/>
                </a:solidFill>
                <a:latin typeface="Times New Roman" panose="02020603050405020304"/>
                <a:cs typeface="Times New Roman" panose="02020603050405020304"/>
              </a:rPr>
              <a:t>of</a:t>
            </a:r>
            <a:r>
              <a:rPr sz="1200" spc="50" dirty="0">
                <a:solidFill>
                  <a:srgbClr val="888888"/>
                </a:solidFill>
                <a:latin typeface="Times New Roman" panose="02020603050405020304"/>
                <a:cs typeface="Times New Roman" panose="02020603050405020304"/>
              </a:rPr>
              <a:t> </a:t>
            </a:r>
            <a:r>
              <a:rPr sz="1200" spc="-25" dirty="0">
                <a:solidFill>
                  <a:srgbClr val="888888"/>
                </a:solidFill>
                <a:latin typeface="Times New Roman" panose="02020603050405020304"/>
                <a:cs typeface="Times New Roman" panose="02020603050405020304"/>
              </a:rPr>
              <a:t>CSE</a:t>
            </a:r>
            <a:endParaRPr sz="1200">
              <a:latin typeface="Times New Roman" panose="02020603050405020304"/>
              <a:cs typeface="Times New Roman" panose="02020603050405020304"/>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fld>
            <a:endParaRPr spc="-25" dirty="0"/>
          </a:p>
        </p:txBody>
      </p:sp>
      <p:sp>
        <p:nvSpPr>
          <p:cNvPr id="3" name="object 3"/>
          <p:cNvSpPr txBox="1"/>
          <p:nvPr/>
        </p:nvSpPr>
        <p:spPr>
          <a:xfrm>
            <a:off x="917574" y="1483468"/>
            <a:ext cx="10402951" cy="4839786"/>
          </a:xfrm>
          <a:prstGeom prst="rect">
            <a:avLst/>
          </a:prstGeom>
        </p:spPr>
        <p:txBody>
          <a:bodyPr vert="horz" wrap="square" lIns="0" tIns="99060" rIns="0" bIns="0" rtlCol="0">
            <a:spAutoFit/>
          </a:bodyPr>
          <a:lstStyle/>
          <a:p>
            <a:pPr marL="457200" indent="-457200" algn="just">
              <a:buFont typeface="Arial" panose="020B0604020202020204" pitchFamily="34" charset="0"/>
              <a:buChar char="•"/>
            </a:pPr>
            <a:r>
              <a:rPr lang="en-US" sz="2800" dirty="0">
                <a:latin typeface="Times New Roman" panose="02020603050405020304" charset="0"/>
                <a:cs typeface="Times New Roman" panose="02020603050405020304" charset="0"/>
              </a:rPr>
              <a:t>I sincerely thank my </a:t>
            </a:r>
            <a:r>
              <a:rPr lang="en-US" sz="2800" b="1" dirty="0">
                <a:latin typeface="Times New Roman" panose="02020603050405020304" charset="0"/>
                <a:cs typeface="Times New Roman" panose="02020603050405020304" charset="0"/>
              </a:rPr>
              <a:t>project guide</a:t>
            </a:r>
            <a:r>
              <a:rPr lang="en-US" sz="2800" dirty="0">
                <a:latin typeface="Times New Roman" panose="02020603050405020304" charset="0"/>
                <a:cs typeface="Times New Roman" panose="02020603050405020304" charset="0"/>
              </a:rPr>
              <a:t>, </a:t>
            </a:r>
            <a:r>
              <a:rPr lang="en-US" sz="2800" b="1" dirty="0">
                <a:latin typeface="Times New Roman" panose="02020603050405020304" charset="0"/>
                <a:cs typeface="Times New Roman" panose="02020603050405020304" charset="0"/>
              </a:rPr>
              <a:t>department faculty</a:t>
            </a:r>
            <a:r>
              <a:rPr lang="en-US" sz="2800" dirty="0">
                <a:latin typeface="Times New Roman" panose="02020603050405020304" charset="0"/>
                <a:cs typeface="Times New Roman" panose="02020603050405020304" charset="0"/>
              </a:rPr>
              <a:t>, and </a:t>
            </a:r>
            <a:r>
              <a:rPr lang="en-US" sz="2800" b="1" dirty="0" err="1">
                <a:latin typeface="Times New Roman" panose="02020603050405020304" charset="0"/>
                <a:cs typeface="Times New Roman" panose="02020603050405020304" charset="0"/>
              </a:rPr>
              <a:t>Narasaraopeta</a:t>
            </a:r>
            <a:r>
              <a:rPr lang="en-US" sz="2800" b="1" dirty="0">
                <a:latin typeface="Times New Roman" panose="02020603050405020304" charset="0"/>
                <a:cs typeface="Times New Roman" panose="02020603050405020304" charset="0"/>
              </a:rPr>
              <a:t> Engineering College</a:t>
            </a:r>
            <a:r>
              <a:rPr lang="en-US" sz="2800" dirty="0">
                <a:latin typeface="Times New Roman" panose="02020603050405020304" charset="0"/>
                <a:cs typeface="Times New Roman" panose="02020603050405020304" charset="0"/>
              </a:rPr>
              <a:t> for their constant guidance and support throughout this work.</a:t>
            </a:r>
            <a:endParaRPr lang="en-US" sz="2800" dirty="0">
              <a:latin typeface="Times New Roman" panose="02020603050405020304" charset="0"/>
              <a:cs typeface="Times New Roman" panose="02020603050405020304" charset="0"/>
            </a:endParaRPr>
          </a:p>
          <a:p>
            <a:pPr marL="457200" indent="-457200" algn="just">
              <a:buFont typeface="Arial" panose="020B0604020202020204" pitchFamily="34" charset="0"/>
              <a:buChar char="•"/>
            </a:pPr>
            <a:r>
              <a:rPr lang="en-US" sz="2800" dirty="0">
                <a:latin typeface="Times New Roman" panose="02020603050405020304" charset="0"/>
                <a:cs typeface="Times New Roman" panose="02020603050405020304" charset="0"/>
              </a:rPr>
              <a:t>I am grateful to the </a:t>
            </a:r>
            <a:r>
              <a:rPr lang="en-US" sz="2800" b="1" dirty="0">
                <a:latin typeface="Times New Roman" panose="02020603050405020304" charset="0"/>
                <a:cs typeface="Times New Roman" panose="02020603050405020304" charset="0"/>
              </a:rPr>
              <a:t>review panel</a:t>
            </a:r>
            <a:r>
              <a:rPr lang="en-US" sz="2800" dirty="0">
                <a:latin typeface="Times New Roman" panose="02020603050405020304" charset="0"/>
                <a:cs typeface="Times New Roman" panose="02020603050405020304" charset="0"/>
              </a:rPr>
              <a:t> for giving me the opportunity to present my project and for their valuable feedback.</a:t>
            </a:r>
            <a:endParaRPr lang="en-US" sz="2800" dirty="0">
              <a:latin typeface="Times New Roman" panose="02020603050405020304" charset="0"/>
              <a:cs typeface="Times New Roman" panose="02020603050405020304" charset="0"/>
            </a:endParaRPr>
          </a:p>
          <a:p>
            <a:pPr marL="457200" indent="-457200" algn="just">
              <a:buFont typeface="Arial" panose="020B0604020202020204" pitchFamily="34" charset="0"/>
              <a:buChar char="•"/>
            </a:pPr>
            <a:r>
              <a:rPr lang="en-US" sz="2800" dirty="0">
                <a:latin typeface="Times New Roman" panose="02020603050405020304" charset="0"/>
                <a:cs typeface="Times New Roman" panose="02020603050405020304" charset="0"/>
              </a:rPr>
              <a:t>Special thanks to my </a:t>
            </a:r>
            <a:r>
              <a:rPr lang="en-US" sz="2800" b="1" dirty="0">
                <a:latin typeface="Times New Roman" panose="02020603050405020304" charset="0"/>
                <a:cs typeface="Times New Roman" panose="02020603050405020304" charset="0"/>
              </a:rPr>
              <a:t>teammates and peers</a:t>
            </a:r>
            <a:r>
              <a:rPr lang="en-US" sz="2800" dirty="0">
                <a:latin typeface="Times New Roman" panose="02020603050405020304" charset="0"/>
                <a:cs typeface="Times New Roman" panose="02020603050405020304" charset="0"/>
              </a:rPr>
              <a:t> for their collaboration and encouragement. </a:t>
            </a:r>
            <a:endParaRPr lang="en-US" sz="2800" dirty="0">
              <a:latin typeface="Times New Roman" panose="02020603050405020304" charset="0"/>
              <a:cs typeface="Times New Roman" panose="02020603050405020304" charset="0"/>
            </a:endParaRPr>
          </a:p>
          <a:p>
            <a:pPr marL="457200" indent="-457200" algn="just">
              <a:buFont typeface="Arial" panose="020B0604020202020204" pitchFamily="34" charset="0"/>
              <a:buChar char="•"/>
            </a:pPr>
            <a:r>
              <a:rPr lang="en-US" sz="2800" dirty="0">
                <a:latin typeface="Times New Roman" panose="02020603050405020304" charset="0"/>
                <a:cs typeface="Times New Roman" panose="02020603050405020304" charset="0"/>
              </a:rPr>
              <a:t>For further inquiries or collaboration, please contact:</a:t>
            </a:r>
            <a:br>
              <a:rPr lang="en-US" sz="2800" dirty="0">
                <a:latin typeface="Times New Roman" panose="02020603050405020304" charset="0"/>
                <a:cs typeface="Times New Roman" panose="02020603050405020304" charset="0"/>
              </a:rPr>
            </a:br>
            <a:r>
              <a:rPr lang="en-US" sz="2800" dirty="0">
                <a:latin typeface="Times New Roman" panose="02020603050405020304" charset="0"/>
                <a:cs typeface="Times New Roman" panose="02020603050405020304" charset="0"/>
              </a:rPr>
              <a:t>📧 </a:t>
            </a:r>
            <a:r>
              <a:rPr lang="en-US" sz="2800" b="1" dirty="0">
                <a:latin typeface="Times New Roman" panose="02020603050405020304" charset="0"/>
                <a:cs typeface="Times New Roman" panose="02020603050405020304" charset="0"/>
              </a:rPr>
              <a:t>Email: </a:t>
            </a:r>
            <a:r>
              <a:rPr lang="en-US" sz="2800" dirty="0">
                <a:latin typeface="Times New Roman" panose="02020603050405020304" charset="0"/>
                <a:cs typeface="Times New Roman" panose="02020603050405020304" charset="0"/>
                <a:hlinkClick r:id="rId1"/>
              </a:rPr>
              <a:t>chandanapriyabadina@gail.com</a:t>
            </a:r>
            <a:endParaRPr lang="en-US" sz="2800" dirty="0">
              <a:latin typeface="Times New Roman" panose="02020603050405020304" charset="0"/>
              <a:cs typeface="Times New Roman" panose="02020603050405020304" charset="0"/>
            </a:endParaRPr>
          </a:p>
          <a:p>
            <a:pPr algn="just"/>
            <a:r>
              <a:rPr lang="en-US" sz="2800" dirty="0">
                <a:latin typeface="Times New Roman" panose="02020603050405020304" charset="0"/>
                <a:cs typeface="Times New Roman" panose="02020603050405020304" charset="0"/>
              </a:rPr>
              <a:t> </a:t>
            </a:r>
            <a:endParaRPr lang="en-US" sz="2800" dirty="0">
              <a:latin typeface="Times New Roman" panose="02020603050405020304" charset="0"/>
              <a:cs typeface="Times New Roman" panose="02020603050405020304" charset="0"/>
            </a:endParaRPr>
          </a:p>
          <a:p>
            <a:pPr marL="457200" indent="-457200" algn="just">
              <a:buFont typeface="Arial" panose="020B0604020202020204" pitchFamily="34" charset="0"/>
              <a:buChar char="•"/>
            </a:pPr>
            <a:endParaRPr lang="en-US" sz="2800" dirty="0">
              <a:latin typeface="Times New Roman" panose="02020603050405020304" charset="0"/>
              <a:cs typeface="Times New Roman" panose="02020603050405020304" charset="0"/>
            </a:endParaRPr>
          </a:p>
        </p:txBody>
      </p:sp>
    </p:spTree>
  </p:cSld>
  <p:clrMapOvr>
    <a:masterClrMapping/>
  </p:clrMapOvr>
</p:sld>
</file>

<file path=ppt/tags/tag1.xml><?xml version="1.0" encoding="utf-8"?>
<p:tagLst xmlns:p="http://schemas.openxmlformats.org/presentationml/2006/main">
  <p:tag name="TABLE_ENDDRAG_ORIGIN_RECT" val="852*378"/>
  <p:tag name="TABLE_ENDDRAG_RECT" val="53*92*852*378"/>
</p:tagLst>
</file>

<file path=ppt/tags/tag2.xml><?xml version="1.0" encoding="utf-8"?>
<p:tagLst xmlns:p="http://schemas.openxmlformats.org/presentationml/2006/main">
  <p:tag name="TABLE_ENDDRAG_ORIGIN_RECT" val="852*302"/>
  <p:tag name="TABLE_ENDDRAG_RECT" val="53*125*852*30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17461</Words>
  <Application>WPS Presentation</Application>
  <PresentationFormat>Widescreen</PresentationFormat>
  <Paragraphs>814</Paragraphs>
  <Slides>30</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30</vt:i4>
      </vt:variant>
    </vt:vector>
  </HeadingPairs>
  <TitlesOfParts>
    <vt:vector size="40" baseType="lpstr">
      <vt:lpstr>Arial</vt:lpstr>
      <vt:lpstr>SimSun</vt:lpstr>
      <vt:lpstr>Wingdings</vt:lpstr>
      <vt:lpstr>Times New Roman</vt:lpstr>
      <vt:lpstr>Times New Roman</vt:lpstr>
      <vt:lpstr>Calibri</vt:lpstr>
      <vt:lpstr>Arial MT</vt:lpstr>
      <vt:lpstr>Microsoft YaHei</vt:lpstr>
      <vt:lpstr>Arial Unicode MS</vt:lpstr>
      <vt:lpstr>Office Theme</vt:lpstr>
      <vt:lpstr>Department of Computer Science and Engineering</vt:lpstr>
      <vt:lpstr>OUTLINE</vt:lpstr>
      <vt:lpstr>ABSTRACT</vt:lpstr>
      <vt:lpstr>INTRODUCTION</vt:lpstr>
      <vt:lpstr>MOTIVATION &amp; RELEVANCE </vt:lpstr>
      <vt:lpstr>LITERATURE SURVEY</vt:lpstr>
      <vt:lpstr>LITERATURE SURVEY</vt:lpstr>
      <vt:lpstr>LITERATURE SURVEY</vt:lpstr>
      <vt:lpstr>PowerPoint 演示文稿</vt:lpstr>
      <vt:lpstr>LITERATURE SURVEY</vt:lpstr>
      <vt:lpstr>LITERATURE SURVEY</vt:lpstr>
      <vt:lpstr>RESEARCH GAPS</vt:lpstr>
      <vt:lpstr>PROBLEM STATEMENT</vt:lpstr>
      <vt:lpstr>OBJECTIVES</vt:lpstr>
      <vt:lpstr>DATASET DESCRIPTION</vt:lpstr>
      <vt:lpstr>BLOCK DIAGRAM OR FLOW DIAGRAM</vt:lpstr>
      <vt:lpstr>METHODOLOGY</vt:lpstr>
      <vt:lpstr>METHODOLOGY</vt:lpstr>
      <vt:lpstr>METHODOLOGY</vt:lpstr>
      <vt:lpstr>METHODOLOGY</vt:lpstr>
      <vt:lpstr>METHODOLOGY</vt:lpstr>
      <vt:lpstr>IMPLEMENTATION</vt:lpstr>
      <vt:lpstr>RESULTS &amp; ANALYSIS</vt:lpstr>
      <vt:lpstr>RESULTS &amp; ANALYSIS</vt:lpstr>
      <vt:lpstr>PowerPoint 演示文稿</vt:lpstr>
      <vt:lpstr>CONCLUSION and FUTURE SCOPE</vt:lpstr>
      <vt:lpstr>REFERENCES</vt:lpstr>
      <vt:lpstr>REFERENCES</vt:lpstr>
      <vt:lpstr>QUESTIONS and ANSWERS</vt:lpstr>
      <vt:lpstr>ACKNOWLEGEMENTS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INSTRUCTIONS</dc:title>
  <dc:creator>Chandana Priya</dc:creator>
  <cp:lastModifiedBy>Chandanapriya Badina</cp:lastModifiedBy>
  <cp:revision>8</cp:revision>
  <dcterms:created xsi:type="dcterms:W3CDTF">2025-11-10T15:39:00Z</dcterms:created>
  <dcterms:modified xsi:type="dcterms:W3CDTF">2025-12-07T06:41:28Z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2024-12-19T22:00:00Z</vt:filetime>
  </property>
  <property fmtid="{D5CDD505-2E9C-101B-9397-08002B2CF9AE}" pid="3" name="LastSaved">
    <vt:filetime>2025-11-10T22:00:00Z</vt:filetime>
  </property>
  <property fmtid="{D5CDD505-2E9C-101B-9397-08002B2CF9AE}" pid="4" name="ICV">
    <vt:lpwstr>B4A65755EAE34EEE8DF310D8ECBA6AA5_12</vt:lpwstr>
  </property>
  <property fmtid="{D5CDD505-2E9C-101B-9397-08002B2CF9AE}" pid="5" name="KSOProductBuildVer">
    <vt:lpwstr>1033-12.2.0.23155</vt:lpwstr>
  </property>
</Properties>
</file>