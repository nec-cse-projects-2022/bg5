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53100" cy="3238500"/>
  <p:notesSz cx="6858000" cy="9144000"/>
  <p:embeddedFontLst>
    <p:embeddedFont>
      <p:font typeface="DM Sans" pitchFamily="2" charset="0"/>
      <p:regular r:id="rId11"/>
      <p:bold r:id="rId12"/>
      <p:italic r:id="rId13"/>
      <p:boldItalic r:id="rId14"/>
    </p:embeddedFont>
    <p:embeddedFont>
      <p:font typeface="IBM Plex Sans Condensed" panose="020B050605020300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vpx60kFJchDSxv1XZCtyUwYV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a Priya" userId="7f0a7d2a5f13119f" providerId="LiveId" clId="{27CFCB3E-7017-4546-99C3-B6619ADA6438}"/>
    <pc:docChg chg="modSld">
      <pc:chgData name="Chandana Priya" userId="7f0a7d2a5f13119f" providerId="LiveId" clId="{27CFCB3E-7017-4546-99C3-B6619ADA6438}" dt="2025-11-22T08:12:14.498" v="1" actId="20577"/>
      <pc:docMkLst>
        <pc:docMk/>
      </pc:docMkLst>
      <pc:sldChg chg="modSp mod">
        <pc:chgData name="Chandana Priya" userId="7f0a7d2a5f13119f" providerId="LiveId" clId="{27CFCB3E-7017-4546-99C3-B6619ADA6438}" dt="2025-11-22T08:12:14.498" v="1" actId="20577"/>
        <pc:sldMkLst>
          <pc:docMk/>
          <pc:sldMk cId="0" sldId="256"/>
        </pc:sldMkLst>
        <pc:spChg chg="mod">
          <ac:chgData name="Chandana Priya" userId="7f0a7d2a5f13119f" providerId="LiveId" clId="{27CFCB3E-7017-4546-99C3-B6619ADA6438}" dt="2025-11-22T08:12:14.498" v="1" actId="20577"/>
          <ac:spMkLst>
            <pc:docMk/>
            <pc:sldMk cId="0" sldId="256"/>
            <ac:spMk id="8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53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179719" y="1543050"/>
            <a:ext cx="3524940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Ultrasound-Based Breast Cancer Detection Using a Segmentation-Guided Deep Learning Framework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287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39101" y="2143174"/>
            <a:ext cx="418397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Authors : Karuna Kumar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Valicharla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Badina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Chandana Priya, Bandi Srilakshmi,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Kolisetty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Sri Varsha,</a:t>
            </a:r>
            <a:b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Ashlin Deepa R N, M Aparna, Dr. Sireesha Moturi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323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-810168" y="111832"/>
            <a:ext cx="2599190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287</a:t>
            </a: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293437" y="557441"/>
            <a:ext cx="5158010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ultrasound diagnosis is inconsistent due to low contrast, speckle noise, and irregular </a:t>
            </a: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shapes.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for an accurate, automated, and explainable breast-cancer detection system.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&amp; Goal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 </a:t>
            </a: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segmentation-guided deep-learning model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using </a:t>
            </a: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U-Net++ + CNN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region-aware diagnosis.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Outcomes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~99 % segmentation accuracy and &gt;96 % classification accuracy.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transparency and clinical reliability.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29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-724888" y="111832"/>
            <a:ext cx="2513909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287</a:t>
            </a:r>
            <a:endParaRPr dirty="0"/>
          </a:p>
        </p:txBody>
      </p:sp>
      <p:sp>
        <p:nvSpPr>
          <p:cNvPr id="100" name="Google Shape;100;p3"/>
          <p:cNvSpPr txBox="1"/>
          <p:nvPr/>
        </p:nvSpPr>
        <p:spPr>
          <a:xfrm>
            <a:off x="209550" y="435880"/>
            <a:ext cx="5333704" cy="229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Context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Breast cancer is one of the leading causes of death among women worldwide.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detection plays a vital role in improving survival rates.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the Problem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Ultrasound imaging is safe, affordable, and widely used for screening, but its interpretation is subjective and error-prone.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of Technology Involved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learning, especially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automates tumor detection and classification.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U-Net++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is used for accurate lesion segmentation, guiding the CNN for classification.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Challenges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contrast and speckle noise in ultrasound images.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in identifying irregular tumor boundaries.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explainable and clinically interpretable AI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0"/>
            <a:ext cx="5769532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-786480" y="95250"/>
            <a:ext cx="2575501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287</a:t>
            </a:r>
            <a:endParaRPr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221542" y="322822"/>
            <a:ext cx="5310015" cy="2970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 Review of Similar Research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Zhang et al. (2021): Domain-guided CNN for ultrasound classification.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Ronneberger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 (2015): Introduced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biomedical segmentation.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et al. (2016): </a:t>
            </a:r>
            <a:r>
              <a:rPr lang="en-IN" sz="11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improved deep feature learning.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Abdelhafiz et al. (2020): Transfer learning with adaptive fusion for small datasets.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Approaches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 used for </a:t>
            </a: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detection and classification.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and classification handled separately.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Inaccurate </a:t>
            </a: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boundary detection.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link between segmentation and classification.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clinical interpretability.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 of Proposed Work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Segmentation-guided dual-stage model (U-Net++ + CNN).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Follows radiologists’ process —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locate, then classify.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 </a:t>
            </a: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domain-aware enhancement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explainable diagnosis.</a:t>
            </a:r>
          </a:p>
          <a:p>
            <a:pPr algn="just"/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5761316" cy="323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2198349" y="393728"/>
            <a:ext cx="3392448" cy="263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Explanation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 dataset provides ultrasound inputs.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 are resized, normalized, and augmented.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Segmentation: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 / U-Net++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generate </a:t>
            </a: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masks.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uses image + mask to predict benign or malignant.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Post-processing: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Combines both results for final diagnosis.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Highlights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Dual-stage design improves accuracy and interpretability.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Region-aware segmentation enhances classifier focus.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efficiently even on CPU setups.</a:t>
            </a:r>
          </a:p>
        </p:txBody>
      </p:sp>
      <p:sp>
        <p:nvSpPr>
          <p:cNvPr id="115" name="Google Shape;115;p5"/>
          <p:cNvSpPr txBox="1"/>
          <p:nvPr/>
        </p:nvSpPr>
        <p:spPr>
          <a:xfrm>
            <a:off x="-800692" y="111832"/>
            <a:ext cx="2589714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287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745474-5DF3-ABD4-2562-D5AE4D0A4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3" y="364403"/>
            <a:ext cx="1776684" cy="2505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94E80-9735-4D7F-60F2-B177A6EC71A0}"/>
              </a:ext>
            </a:extLst>
          </p:cNvPr>
          <p:cNvSpPr txBox="1"/>
          <p:nvPr/>
        </p:nvSpPr>
        <p:spPr>
          <a:xfrm>
            <a:off x="162303" y="2783502"/>
            <a:ext cx="177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Fig: Segmentation-guided framework for breast-cancer detection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-9017"/>
            <a:ext cx="5785594" cy="324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6"/>
          <p:cNvGrpSpPr/>
          <p:nvPr/>
        </p:nvGrpSpPr>
        <p:grpSpPr>
          <a:xfrm>
            <a:off x="1894836" y="49385"/>
            <a:ext cx="1989385" cy="274495"/>
            <a:chOff x="0" y="-18316"/>
            <a:chExt cx="2652513" cy="365994"/>
          </a:xfrm>
        </p:grpSpPr>
        <p:sp>
          <p:nvSpPr>
            <p:cNvPr id="122" name="Google Shape;122;p6"/>
            <p:cNvSpPr txBox="1"/>
            <p:nvPr/>
          </p:nvSpPr>
          <p:spPr>
            <a:xfrm>
              <a:off x="175023" y="-18316"/>
              <a:ext cx="2335620" cy="36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4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0" y="-6661"/>
              <a:ext cx="2652513" cy="34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30" b="1" i="0" u="none" strike="noStrike" cap="none">
                <a:solidFill>
                  <a:srgbClr val="65A43D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5" name="Google Shape;125;p6"/>
          <p:cNvSpPr txBox="1"/>
          <p:nvPr/>
        </p:nvSpPr>
        <p:spPr>
          <a:xfrm>
            <a:off x="-871760" y="111832"/>
            <a:ext cx="266078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287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DFD621-DD9D-2F11-B5CE-5F9E44211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475427"/>
              </p:ext>
            </p:extLst>
          </p:nvPr>
        </p:nvGraphicFramePr>
        <p:xfrm>
          <a:off x="151609" y="332621"/>
          <a:ext cx="4709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900">
                  <a:extLst>
                    <a:ext uri="{9D8B030D-6E8A-4147-A177-3AD203B41FA5}">
                      <a16:colId xmlns:a16="http://schemas.microsoft.com/office/drawing/2014/main" val="1205716818"/>
                    </a:ext>
                  </a:extLst>
                </a:gridCol>
                <a:gridCol w="784900">
                  <a:extLst>
                    <a:ext uri="{9D8B030D-6E8A-4147-A177-3AD203B41FA5}">
                      <a16:colId xmlns:a16="http://schemas.microsoft.com/office/drawing/2014/main" val="2227337972"/>
                    </a:ext>
                  </a:extLst>
                </a:gridCol>
                <a:gridCol w="784900">
                  <a:extLst>
                    <a:ext uri="{9D8B030D-6E8A-4147-A177-3AD203B41FA5}">
                      <a16:colId xmlns:a16="http://schemas.microsoft.com/office/drawing/2014/main" val="1705101332"/>
                    </a:ext>
                  </a:extLst>
                </a:gridCol>
                <a:gridCol w="784900">
                  <a:extLst>
                    <a:ext uri="{9D8B030D-6E8A-4147-A177-3AD203B41FA5}">
                      <a16:colId xmlns:a16="http://schemas.microsoft.com/office/drawing/2014/main" val="3999060182"/>
                    </a:ext>
                  </a:extLst>
                </a:gridCol>
                <a:gridCol w="784900">
                  <a:extLst>
                    <a:ext uri="{9D8B030D-6E8A-4147-A177-3AD203B41FA5}">
                      <a16:colId xmlns:a16="http://schemas.microsoft.com/office/drawing/2014/main" val="107013184"/>
                    </a:ext>
                  </a:extLst>
                </a:gridCol>
                <a:gridCol w="784900">
                  <a:extLst>
                    <a:ext uri="{9D8B030D-6E8A-4147-A177-3AD203B41FA5}">
                      <a16:colId xmlns:a16="http://schemas.microsoft.com/office/drawing/2014/main" val="1177182961"/>
                    </a:ext>
                  </a:extLst>
                </a:gridCol>
              </a:tblGrid>
              <a:tr h="207952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Accuracy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Precision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Recall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9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F1-Score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969687486"/>
                  </a:ext>
                </a:extLst>
              </a:tr>
              <a:tr h="207952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U-Net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96.86 %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0.89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0.88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0.89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305629"/>
                  </a:ext>
                </a:extLst>
              </a:tr>
              <a:tr h="207952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U-Net++</a:t>
                      </a:r>
                      <a:endParaRPr lang="en-IN" sz="9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99.07 %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0.97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0.96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0.97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395277"/>
                  </a:ext>
                </a:extLst>
              </a:tr>
              <a:tr h="207952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CNN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91.03 %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0.90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0.91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821561"/>
                  </a:ext>
                </a:extLst>
              </a:tr>
              <a:tr h="332723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U-Net++CNN</a:t>
                      </a:r>
                      <a:endParaRPr lang="en-IN" sz="9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96.04 %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0.88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0.84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0.86</a:t>
                      </a:r>
                      <a:endParaRPr lang="en-IN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7210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309F8C-4D80-AEB6-C975-7DDD70116625}"/>
              </a:ext>
            </a:extLst>
          </p:cNvPr>
          <p:cNvSpPr txBox="1"/>
          <p:nvPr/>
        </p:nvSpPr>
        <p:spPr>
          <a:xfrm>
            <a:off x="705936" y="1582701"/>
            <a:ext cx="3894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Table–Performance metrics of different models</a:t>
            </a:r>
            <a:endParaRPr lang="en-IN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50476-7A69-14BF-465D-562DA8E3D080}"/>
              </a:ext>
            </a:extLst>
          </p:cNvPr>
          <p:cNvSpPr txBox="1"/>
          <p:nvPr/>
        </p:nvSpPr>
        <p:spPr>
          <a:xfrm>
            <a:off x="71066" y="1672581"/>
            <a:ext cx="542954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Results Summary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U-Net++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achieved </a:t>
            </a: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segmentation accuracy (99.07 %)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alone: </a:t>
            </a: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91.03 %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U-Net++ + CNN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reached </a:t>
            </a: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96.04 %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advantage of </a:t>
            </a: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segmentation-guided design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over standalone models.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</a:t>
            </a: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localization and classification accuracy.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convergence with minimal overfitting.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even on standard CPU hardware.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4817"/>
            <a:ext cx="5795928" cy="3253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239602" y="369550"/>
            <a:ext cx="5246798" cy="294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Findings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Segmentation-guided model detects and classifies tumors effectively.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Achieved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99.07% segmentation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96.04% classification accuracy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Region-aware and explainable (Grad-CAM).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accuracy with CPU-efficient performance.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Contributions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Dual-stage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U-Net++ + CNN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design.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Segmentation-guided classification with stable results.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dataset evaluation.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training time.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attention layers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dilated convolutions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on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larger, multi-dataset setups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 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end-to-end system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8746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-924764" y="130783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287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9827"/>
            <a:ext cx="5791200" cy="325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277077" y="624445"/>
            <a:ext cx="5198946" cy="2502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Y. Zhang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al.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“Ultrasound breast image classification through domain knowledge integration into deep neural networks,”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Trans. Image Process.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30, pp. 6745–6757, 2021.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O. </a:t>
            </a: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Ronneberger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al.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“U-Net: Convolutional networks for biomedical image segmentation,”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Proc. MICCAI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2015.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K. He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al.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“Deep residual learning for image recognition,”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Proc. CVPR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pp. 770–778, 2016.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Abdelhafiz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al.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“Breast cancer detection using transfer learning and adaptive decision fusion,”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Sensors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20, no. 3, pp. 1–15, 2020.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L. Alzubaidi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al.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“Review of deep learning: Concepts, CNN architectures, challenges, applications, and future directions,”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J. Big Data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vol. 8, no. 1, pp. 1–74, 2021.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Moturi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al.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“CNN-driven detection of abnormalities in PCG signals using </a:t>
            </a: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Gammatonegram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analysis,” </a:t>
            </a:r>
            <a:r>
              <a:rPr lang="en-IN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</a:t>
            </a:r>
            <a:r>
              <a:rPr lang="en-IN" sz="11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InCoWoCo</a:t>
            </a:r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2024.</a:t>
            </a:r>
          </a:p>
          <a:p>
            <a:pPr marL="237491" marR="0" lvl="1" indent="-1187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dirty="0"/>
          </a:p>
        </p:txBody>
      </p:sp>
      <p:sp>
        <p:nvSpPr>
          <p:cNvPr id="139" name="Google Shape;139;p8"/>
          <p:cNvSpPr txBox="1"/>
          <p:nvPr/>
        </p:nvSpPr>
        <p:spPr>
          <a:xfrm>
            <a:off x="-842856" y="111832"/>
            <a:ext cx="2631878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287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821</Words>
  <Application>Microsoft Office PowerPoint</Application>
  <PresentationFormat>Custom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DM Sans</vt:lpstr>
      <vt:lpstr>Wingdings</vt:lpstr>
      <vt:lpstr>Arial</vt:lpstr>
      <vt:lpstr>IBM Plex Sans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Sarthak</dc:creator>
  <cp:lastModifiedBy>Chandana Priya</cp:lastModifiedBy>
  <cp:revision>1</cp:revision>
  <dcterms:created xsi:type="dcterms:W3CDTF">2006-08-16T00:00:00Z</dcterms:created>
  <dcterms:modified xsi:type="dcterms:W3CDTF">2025-11-22T08:12:20Z</dcterms:modified>
</cp:coreProperties>
</file>